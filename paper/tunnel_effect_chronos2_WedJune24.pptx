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6.xml" ContentType="application/inkml+xml"/>
  <Override PartName="/ppt/ink/ink7.xml" ContentType="application/inkml+xml"/>
  <Override PartName="/ppt/notesSlides/notesSlide8.xml" ContentType="application/vnd.openxmlformats-officedocument.presentationml.notesSlide+xml"/>
  <Override PartName="/ppt/ink/ink8.xml" ContentType="application/inkml+xml"/>
  <Override PartName="/ppt/notesSlides/notesSlide9.xml" ContentType="application/vnd.openxmlformats-officedocument.presentationml.notesSlide+xml"/>
  <Override PartName="/ppt/ink/ink9.xml" ContentType="application/inkml+xml"/>
  <Override PartName="/ppt/ink/ink10.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70" r:id="rId4"/>
    <p:sldId id="258" r:id="rId5"/>
    <p:sldId id="259" r:id="rId6"/>
    <p:sldId id="260" r:id="rId7"/>
    <p:sldId id="267" r:id="rId8"/>
    <p:sldId id="261" r:id="rId9"/>
    <p:sldId id="268" r:id="rId10"/>
    <p:sldId id="269" r:id="rId11"/>
    <p:sldId id="266" r:id="rId12"/>
    <p:sldId id="262" r:id="rId13"/>
    <p:sldId id="263" r:id="rId14"/>
    <p:sldId id="264" r:id="rId15"/>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84"/>
    <p:restoredTop sz="81929"/>
  </p:normalViewPr>
  <p:slideViewPr>
    <p:cSldViewPr snapToGrid="0" snapToObjects="1">
      <p:cViewPr>
        <p:scale>
          <a:sx n="216" d="100"/>
          <a:sy n="216" d="100"/>
        </p:scale>
        <p:origin x="22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4T19:58:18.70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0 415,'66'-12,"1"1,8-2,15 0,8-1,-9 4,6 0,0 0,-2 1,0 0,3 1,-14 2,3 1,-1 1,-4 0,6 0,-4 0,5 1,-5-1,4-1,1 0,-7 2,0 2,-5 1,0-1,1-2,-1-1,0 3,-2 2,-1 3,-1-1,-3-2,0-1,4 1,7 3,6 1,1 0,-3-2,9-1,-2-2,2 1,-15 1,2 0,0 1,-1-1,22-2,-2 0,-3 0,-16-1,-4 1,6 1,5 0,6 1,1 1,-6-2,-1 0,-5-1,6 1,7 3,8 1,1 0,-6-2,0-2,-6-1,8 2,-16 0,6 2,3 0,-1 0,-7-1,-1 0,-5-1,0 0,3 1,-2 1,2 0,2 0,-1 0,-3-1,8 0,-3 0,0-1,3 1,-4-1,3 0,1 0,0-1,-4 0,8 0,-2-1,-1-1,2 1,-10 0,3 1,-1-1,-1 0,-3-1,4 0,-3-1,-2 0,0-1,22 1,-1-1,-5-1,-19-2,-2 0,5-1,11 1,8 0,0-1,-6 1,-4-1,-5 1,5-1,-4 0,6 0,0 0,-3 2,12 1,-2 1,1 0,-18-1,3-1,-2 0,-2 2,5 1,-3 2,4 0,3-2,7-1,-3 1,-12 0,-3 2,0 0,-6 0,8 0,4 0,-1 0,1 1,2-1,0 0,1-1,4 0,1-1,1-1,1 1,-8 0,2 0,1 0,-4 0,-6-1,8 0,-7 0,4-1,7-2,6 0,0-1,-9 1,-13 2,-6 1,5-2,2 0,5-2,0 0,-5 1,3 0,-5 0,-4 1,9 0,0 1,-7 1,4 1,-1-1,15-1,2 0,-14 4,2 0,1-1,-3-4,-1 0,4 0,-5 2,4 1,0 0,-1-1,15-3,-1 0,0 1,2 1,2 1,-1 0,1-3,0 0,-8 1,-7 4,3 0,1-1,14 0,2-1,-7 2,1 3,-5 2,3-1,-9-2,4-1,0 0,0 1,-3 1,1 0,-1 1,-2-2,12 0,-2-2,3 1,-10 0,4 0,-1 0,-4 0,4 0,-5 0,-1 0,-7 0,-1 0,-2 0,22 0,1 0,-18 0,2 0,2 0,13 0,4 0,-5 0,-16 0,-3 0,4 0,23 0,3 0,-14 0,-32 0,-4 0,36-1,-3-1,-10 1,-29-4,20 2,-45 0,-6-2,3 5,-7-2,10-1,-3 3,-5-2,42 2,-37 0,28 0,-39-3,-3 3,-3-2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4T19:58:21.45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68,'56'-10,"-7"4,5-1,0 1,3 0,19 2,6 0,-11-1,4 0,1 1,6 2,3 2,2 0,-13-2,3-1,0 1,1 1,1 2,0 1,0 1,0 0,3-1,2 0,-3 1,-5 1,-6 1,-6 1,9 1,8 0,12 0,4 1,-2-1,-9 0,6 1,-7-1,7 0,-12-1,6 0,3-1,-2 1,-5-1,-2 0,-5 0,-2-1,0 0,16-1,-2 0,4 1,-1 0,4 0,1 1,-2 0,-9 0,-2 0,0-1,0 0,4-1,2 0,-1-1,-3 0,17 1,-2 0,-3-1,-16-1,-3-2,3 1,17 0,4 0,-7 0,5 0,-7 0,-4 0,0 0,13 0,-4 0,-28 0,0 0,-2 0,5 0,-3 0,22 4,-6-1,-23-2,3 0,19 3,10 1,-6 0,-2 0,-2-1,-7-1,3 0,-2 0,13 0,-1 1,4-1,3 1,-26-1,1 0,-1 0,25 1,2 1,-25 3,2 0,2 0,3-4,1-1,1 1,7 4,1 1,-1-1,-3-1,-2-1,-2-1,-10-2,-2 0,-6 0,-1 1,2 0,11-3,8-2,-7 1,1 0,-4 0,15 0,-3 0,-28 0,-6 0,32 0,12 0,-44 0,0 0,31 0,-3 0,-23 0,-2 0,8 0,16 0,-62 2,-14 3,-8 59,3-40,-9 43,-3 1,7-40,-11 57,-2 11,6-13,2-12,2-2,3-2,6 24,2 3,-1-2,0-24,-1 18,1 0,1-14,2-11,-1-4,-2 31,2 4,5-4,0-8,-5-1,2-5,1-5,-5-31,0 0,0-12,0-5,0-6,0-1,0 2,0 8,0-7,0 21,0-18,-4 19,3-24,-2-1,3-9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4T19:58:22.91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1,'55'11,"0"1,19 3,7 1,-8-3,5 0,0-1,-3 0,0 0,-1-3,24 1,-3-2,-6 0,-9-3,4-3,3 4,-59-6,-17-2,5-1,25-5,-12 5,17-6,-35 8,0-2,-9 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4T19:58:25.09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157 1,'15'72,"0"1,-3 0,0 7,-2-2,-3-10,-1-2,0 6,-2 3,1 5,-2 3,0 1,-1 8,-2 2,0 0,0-3,0-13,-1-4,1 2,-1 6,0-3,0 7,0 3,0 1,0-3,0-5,-1 12,0-5,1-2,-1 3,0-10,1 2,-1 0,0-2,-2-2,-2 9,-1-3,-1-3,0-3,1 0,0-5,-1 1,-1 2,0-1,-2 6,1-3,-1 7,0-2,1-10,-1 2,0 1,0 4,-3 13,1-1,2-17,3-17,1-5,-3 37,2-8,3-33,5-34,0-1,0 3,0 2,0 1,0-8,0 12,0-6,0 7,0-8,0-4,0 6,0-5,0 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24T19:58:28.2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9929 606,'-29'-39,"-24"-20,-12 10,9 9,-8 0,-22 0,-9 3,18 11,-4 1,-3 4,-2 3,-3 3,-7 2,14 4,-6 1,-4 1,0 1,4 0,-8 0,3 2,0 0,-5-1,2 1,-4 0,-2 0,3 0,7 0,10 1,5 1,2 0,-3-1,-15 1,-4-1,1 1,5 0,-1 2,5 0,-5 0,5-1,-5-1,1 0,4 0,-3 2,4 0,2-2,3-2,1-1,-6 0,-1 0,-7 1,-1-1,6 0,-5-2,4 1,-5-1,17 3,-5 0,-2 0,1 0,4 1,-4 0,3 1,2 0,4 1,-4 0,4 2,-4-1,-20 0,-5 0,10 0,8-1,5 2,-18 1,1 3,10 4,1 3,2 3,-2 3,21-4,-2 2,0-1,-2 1,0 1,-3 0,-13 4,-2 1,0-1,4-2,1-2,-2 3,-9 4,-3 1,4 0,15-7,2-1,0 0,0 1,0-1,1-1,6-1,0-2,1 0,0-3,-1 0,5 0,-8 2,6 0,9-4,3 1,-23 4,44-8,-29-2,-2 0,18 2,-34-3,-2 1,24 6,3-3,1-1,3 2,8-1,7-1,24-2,0 2,-11 0,15 0,-14-3,4 3,10-2,-11 8,13 4,0 6,1 41,1 16,3-12,0 6,-1 15,0 11,0-3,1-20,2-3,-1 6,0 12,-1 8,1 1,1-7,0-6,1-7,0 5,-1-4,1 5,0-2,-1-7,2 23,1-9,1-7,0 1,-1-14,-1 2,0-4,0 9,1 2,0-2,1 6,0-6,-1 0,1-1,0 3,1 6,0-5,0 9,2-1,-1-14,2 3,-2-7,0 0,0-4,3 14,1-1,-5-15,1 3,1 3,3 6,-1-1,1-7,0 0,1 1,1 10,0 2,2-4,7 19,1-3,-5 2,1-2,3-7,1 0,-8-20,-1 0,2 1,11 29,1 0,-8-28,0 2,-1-4,6 10,0-1,7 20,-2-3,-9-27,-1-3,1 4,-1 2,1 19,-3-7,-4-18,4 33,-11-68,-6 14,-3 11,-5 27,-10 3,7-25,0 1,-2-3,-1 0,-3 15,1-2,-6 21,1-2,10-32,6-7,1 17,3-7,-5 11,4-21,-5 15,6-26,0 13,0-22,0-4,0-15,0 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4T19:35:03.361"/>
    </inkml:context>
    <inkml:brush xml:id="br0">
      <inkml:brushProperty name="width" value="0.035" units="cm"/>
      <inkml:brushProperty name="height" value="0.035" units="cm"/>
      <inkml:brushProperty name="color" value="#E71224"/>
    </inkml:brush>
  </inkml:definitions>
  <inkml:trace contextRef="#ctx0" brushRef="#br0">2013 186 24575,'-7'-5'0,"-35"-6"0,-18-1 0,6 0 0,-6 0 0,-4-1 0,-5 0 0,5 0 0,-4-1 0,1 2 0,-26-2 0,-3 0 0,19 4 0,-3-1 0,3 2 0,-17 3 0,5 3 0,13 2 0,2 1 0,-3 3 0,8 2 0,3 6 0,12-6 0,-1 0 0,-15 5 0,-20 3 0,10 5 0,31-5 0,15 3 0,19-11 0,2 5 0,3-5 0,0 17 0,6-14 0,-1 23 0,12-1 0,4-1 0,13 9 0,8-20 0,22 6 0,15-9 0,13 0 0,4-9 0,-18-2 0,4 1 0,-5 0 0,1 0 0,3-1 0,2 1 0,1 0 0,-3-3 0,22-9 0,1 3 0,-12-9 0,-36 6 0,31 1 0,-11 7 0,4 0 0,-16 0 0,1 0 0,25 4 0,-2 0 0,4-4 0,4 8 0,5 1 0,-34-5 0,0 0 0,40 3 0,0-1 0,-35-3 0,-6-1 0,23-3 0,-21 0 0,-43-3 0,-13 1 0,-2-3 0,0 0 0,-6-7 0,2 5 0,-8-9 0,6 10 0,-1-4 0,2 5 0,-2 0 0,-54-25 0,28 18 0,-34-20 0,47 25 0,10 2 0,-2 1 0,-23-2 0,-37-5 0,9 2 0,-3 0 0,10 3 0,2 1 0,1-2 0,5 1 0,4 6 0,31-5 0,-16 1 0,18 1 0,-9 0 0,15 3 0,3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4T19:34:45.944"/>
    </inkml:context>
    <inkml:brush xml:id="br0">
      <inkml:brushProperty name="width" value="0.035" units="cm"/>
      <inkml:brushProperty name="height" value="0.035" units="cm"/>
      <inkml:brushProperty name="color" value="#E71224"/>
    </inkml:brush>
  </inkml:definitions>
  <inkml:trace contextRef="#ctx0" brushRef="#br0">1371 95 24575,'-4'-2'0,"-2"-3"0,-19 1 0,-37 1 0,12-1 0,-7-1 0,-24 0 0,-5 0 0,6 1 0,-2 0 0,14 1 0,-3 0 0,3 2 0,-14 0 0,2 2 0,-5-1 0,4 0 0,28-1 0,5 2 0,-27 1 0,33 1 0,3-1 0,10 3 0,15-3 0,11 6 0,3-3 0,3 7 0,4 1 0,6 4 0,56 37 0,-18-23 0,8 0 0,6 1 0,8 1 0,-2-3 0,13 5 0,2-5 0,-10-10 0,4-2 0,-10-4 0,-16-6 0,-4-3 0,14 0 0,-6-2 0,0-3 0,28 0 0,-22 0 0,-8-4 0,-1-1 0,2 1 0,18-8 0,-42 5 0,30 3 0,-19 1 0,32 3 0,-29 0 0,-2 0 0,6 0 0,-3-5 0,-9 1 0,-6-1 0,-30 0 0,2 2 0,-5-4 0,2 1 0,-6-3 0,-39-32 0,-9 6 0,12 5 0,-1 0 0,-29-8 0,19 10 0,18 9 0,-8 3 0,0 1 0,-14 0 0,-8-1 0,1 1 0,-1 0 0,2-1 0,-2 1 0,-24 1 0,10 3 0,28 5 0,-44-1 0,60 7 0,16 0 0,-11 0 0,23 0 0,3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4T19:34:52.543"/>
    </inkml:context>
    <inkml:brush xml:id="br0">
      <inkml:brushProperty name="width" value="0.035" units="cm"/>
      <inkml:brushProperty name="height" value="0.035" units="cm"/>
      <inkml:brushProperty name="color" value="#E71224"/>
    </inkml:brush>
  </inkml:definitions>
  <inkml:trace contextRef="#ctx0" brushRef="#br0">1986 8 24575,'-5'0'0,"-7"0"0,-12 0 0,-20 0 0,-10 0 0,-5 0 0,-34 0 0,-1 0 0,-4 0 0,33 0 0,2 0 0,-7-1 0,-2-1 0,-8 2 0,5-1 0,-19-2 0,27 3 0,-3 0 0,13-1 0,0 2 0,3 2 0,-1 0 0,-4 0 0,1 1 0,-35 7 0,24-2 0,4 0 0,29-2 0,-32 7 0,26-7 0,-9 4 0,10-6 0,22 0 0,3 0 0,9 0 0,10 12 0,0-7 0,3 8 0,4-6 0,3-2 0,4 5 0,3-2 0,-2 1 0,1-5 0,4 4 0,19 3 0,18 0 0,8 0 0,1-1 0,5 0 0,1 0 0,6 1 0,-3-3 0,13 0 0,-7-2 0,-14 2 0,-4-2 0,-10-6 0,-9-2 0,-9 0 0,31-3 0,-39 0 0,16 0 0,-27 0 0,8 0 0,-3 0 0,43 0 0,-9 0 0,1 1 0,4-2 0,35-6 0,-46 6 0,2 0 0,15-2 0,-4-1 0,3 4 0,18-2 0,-59-1 0,-17-2 0,4 0 0,-8 2 0,8-4 0,-3 4 0,4-6 0,0-2 0,0-1 0,-5 1 0,0-1 0,-8 7 0,-2-5 0,-2 2 0,-4 0 0,-3-1 0,-19-19 0,6 11 0,-35-31 0,34 32 0,-13-9 0,24 18 0,6 2 0,-1 2 0,2-2 0,-3 2 0,-11-5 0,-8-3 0,-2 3 0,6-2 0,10 10 0,8-3 0,0 1 0,-3 2 0,1-5 0,-6 5 0,5-5 0,-2 5 0,5-3 0,2 3 0,1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4T19:37:07.820"/>
    </inkml:context>
    <inkml:brush xml:id="br0">
      <inkml:brushProperty name="width" value="0.035" units="cm"/>
      <inkml:brushProperty name="height" value="0.035" units="cm"/>
      <inkml:brushProperty name="color" value="#E71224"/>
    </inkml:brush>
  </inkml:definitions>
  <inkml:trace contextRef="#ctx0" brushRef="#br0">1 1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4T19:37:08.280"/>
    </inkml:context>
    <inkml:brush xml:id="br0">
      <inkml:brushProperty name="width" value="0.035" units="cm"/>
      <inkml:brushProperty name="height" value="0.035" units="cm"/>
      <inkml:brushProperty name="color" value="#E71224"/>
    </inkml:brush>
  </inkml:definitions>
  <inkml:trace contextRef="#ctx0" brushRef="#br0">1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4712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"Today I'm asking a simple question about Chronos-2, a time-series foundation model: </a:t>
            </a:r>
            <a:r>
              <a:rPr lang="en-CA" b="1" dirty="0"/>
              <a:t>does it have a tunnel effect?</a:t>
            </a:r>
            <a:r>
              <a:rPr lang="en-CA" dirty="0"/>
              <a:t> I'll answer it by probing each layer.”</a:t>
            </a:r>
          </a:p>
          <a:p>
            <a:r>
              <a:rPr lang="zh-CN" altLang="en-US" dirty="0"/>
              <a:t>过渡 → </a:t>
            </a:r>
            <a:r>
              <a:rPr lang="en-US" altLang="zh-CN" dirty="0"/>
              <a:t>"</a:t>
            </a:r>
            <a:r>
              <a:rPr lang="en-CA" dirty="0"/>
              <a:t>Let me start with what 'tunnel effect' means and what exactly I'm testing."</a:t>
            </a:r>
          </a:p>
          <a:p>
            <a:r>
              <a:rPr lang="zh-CN" altLang="en-US" b="1" dirty="0"/>
              <a:t>可能问题</a:t>
            </a:r>
            <a:endParaRPr lang="zh-CN" altLang="en-US" dirty="0"/>
          </a:p>
          <a:p>
            <a:r>
              <a:rPr lang="en-CA" b="1" dirty="0"/>
              <a:t>Q: What's Chronos-2 again?</a:t>
            </a:r>
            <a:r>
              <a:rPr lang="en-CA" dirty="0"/>
              <a:t> → "Amazon's pretrained foundation model for time-series </a:t>
            </a:r>
            <a:r>
              <a:rPr lang="en-CA" i="1" dirty="0"/>
              <a:t>forecasting</a:t>
            </a:r>
            <a:r>
              <a:rPr lang="en-CA" dirty="0"/>
              <a:t> — encoder-only, ~120M params. I'm using it off-label, as a frozen feature extractor."</a:t>
            </a:r>
          </a:p>
          <a:p>
            <a:r>
              <a:rPr lang="en-CA" b="1" dirty="0"/>
              <a:t>Q: Why this topic / who proposed it?</a:t>
            </a:r>
            <a:r>
              <a:rPr lang="en-CA" dirty="0"/>
              <a:t> → "It's the onboarding project Amartya set up — extending the tunnel-effect / Head2Toe line of work to time-series foundation models."</a:t>
            </a:r>
          </a:p>
          <a:p>
            <a:endParaRPr lang="en-US" dirty="0"/>
          </a:p>
          <a:p>
            <a:endParaRPr lang="en-US" dirty="0"/>
          </a:p>
          <a:p>
            <a:r>
              <a:rPr lang="en-US" altLang="zh-CN" b="1" dirty="0"/>
              <a:t>0. </a:t>
            </a:r>
            <a:r>
              <a:rPr lang="zh-CN" altLang="en-US" b="1" dirty="0"/>
              <a:t>数字速查 </a:t>
            </a:r>
            <a:r>
              <a:rPr lang="en-US" altLang="zh-CN" b="1" dirty="0"/>
              <a:t>(</a:t>
            </a:r>
            <a:r>
              <a:rPr lang="en-CA" b="1" dirty="0"/>
              <a:t>BASICS BANK — </a:t>
            </a:r>
            <a:r>
              <a:rPr lang="zh-CN" altLang="en-US" b="1" dirty="0"/>
              <a:t>被问到立刻能答</a:t>
            </a:r>
            <a:r>
              <a:rPr lang="en-US" altLang="zh-CN" b="1" dirty="0"/>
              <a:t>)</a:t>
            </a:r>
          </a:p>
          <a:p>
            <a:r>
              <a:rPr lang="en-CA" b="1" dirty="0"/>
              <a:t>Model</a:t>
            </a:r>
            <a:r>
              <a:rPr lang="en-US" altLang="zh-CN" b="1" dirty="0"/>
              <a:t>·</a:t>
            </a:r>
            <a:endParaRPr lang="en-CA" b="1" dirty="0"/>
          </a:p>
          <a:p>
            <a:r>
              <a:rPr lang="en-CA" b="1" dirty="0"/>
              <a:t>Chronos-2</a:t>
            </a:r>
            <a:r>
              <a:rPr lang="en-CA" dirty="0"/>
              <a:t>, </a:t>
            </a:r>
            <a:r>
              <a:rPr lang="en-CA" sz="1200" kern="1200" dirty="0">
                <a:solidFill>
                  <a:schemeClr val="tx1"/>
                </a:solidFill>
                <a:latin typeface="+mn-lt"/>
                <a:ea typeface="+mn-ea"/>
                <a:cs typeface="+mn-cs"/>
              </a:rPr>
              <a:t>amazon/chronos-2</a:t>
            </a:r>
            <a:r>
              <a:rPr lang="en-CA" dirty="0"/>
              <a:t>. </a:t>
            </a:r>
            <a:r>
              <a:rPr lang="en-CA" b="1" dirty="0"/>
              <a:t>~120M parameters</a:t>
            </a:r>
            <a:r>
              <a:rPr lang="en-CA" dirty="0"/>
              <a:t>, encoder-only, T5-style.</a:t>
            </a:r>
          </a:p>
          <a:p>
            <a:r>
              <a:rPr lang="en-CA" b="1" dirty="0"/>
              <a:t>12 encoder layers</a:t>
            </a:r>
            <a:r>
              <a:rPr lang="en-CA" dirty="0"/>
              <a:t>, </a:t>
            </a:r>
            <a:r>
              <a:rPr lang="en-CA" sz="1200" kern="1200" dirty="0" err="1">
                <a:solidFill>
                  <a:schemeClr val="tx1"/>
                </a:solidFill>
                <a:latin typeface="+mn-lt"/>
                <a:ea typeface="+mn-ea"/>
                <a:cs typeface="+mn-cs"/>
              </a:rPr>
              <a:t>d_model</a:t>
            </a:r>
            <a:r>
              <a:rPr lang="en-CA" sz="1200" kern="1200" dirty="0">
                <a:solidFill>
                  <a:schemeClr val="tx1"/>
                </a:solidFill>
                <a:latin typeface="+mn-lt"/>
                <a:ea typeface="+mn-ea"/>
                <a:cs typeface="+mn-cs"/>
              </a:rPr>
              <a:t> = 768</a:t>
            </a:r>
            <a:r>
              <a:rPr lang="en-CA" dirty="0"/>
              <a:t>, 12 heads, </a:t>
            </a:r>
            <a:r>
              <a:rPr lang="en-CA" sz="1200" kern="1200" dirty="0" err="1">
                <a:solidFill>
                  <a:schemeClr val="tx1"/>
                </a:solidFill>
                <a:latin typeface="+mn-lt"/>
                <a:ea typeface="+mn-ea"/>
                <a:cs typeface="+mn-cs"/>
              </a:rPr>
              <a:t>d_ff</a:t>
            </a:r>
            <a:r>
              <a:rPr lang="en-CA" sz="1200" kern="1200" dirty="0">
                <a:solidFill>
                  <a:schemeClr val="tx1"/>
                </a:solidFill>
                <a:latin typeface="+mn-lt"/>
                <a:ea typeface="+mn-ea"/>
                <a:cs typeface="+mn-cs"/>
              </a:rPr>
              <a:t> = 3072</a:t>
            </a:r>
            <a:r>
              <a:rPr lang="en-CA" dirty="0"/>
              <a:t>, </a:t>
            </a:r>
            <a:r>
              <a:rPr lang="en-CA" b="1" dirty="0"/>
              <a:t>patch size 16</a:t>
            </a:r>
            <a:r>
              <a:rPr lang="en-CA" dirty="0"/>
              <a:t>, context length 8192.</a:t>
            </a:r>
          </a:p>
          <a:p>
            <a:r>
              <a:rPr lang="zh-CN" altLang="en-US" dirty="0"/>
              <a:t>注</a:t>
            </a:r>
            <a:r>
              <a:rPr lang="en-US" altLang="zh-CN" dirty="0"/>
              <a:t>:</a:t>
            </a:r>
            <a:r>
              <a:rPr lang="en-CA" sz="1200" kern="1200" dirty="0">
                <a:solidFill>
                  <a:schemeClr val="tx1"/>
                </a:solidFill>
                <a:latin typeface="+mn-lt"/>
                <a:ea typeface="+mn-ea"/>
                <a:cs typeface="+mn-cs"/>
              </a:rPr>
              <a:t>chronos-2-small</a:t>
            </a:r>
            <a:r>
              <a:rPr lang="en-CA" dirty="0"/>
              <a:t>(~28M)</a:t>
            </a:r>
            <a:r>
              <a:rPr lang="zh-CN" altLang="en-US" dirty="0"/>
              <a:t>在 </a:t>
            </a:r>
            <a:r>
              <a:rPr lang="en-CA" dirty="0"/>
              <a:t>Hub </a:t>
            </a:r>
            <a:r>
              <a:rPr lang="zh-CN" altLang="en-US" dirty="0"/>
              <a:t>上</a:t>
            </a:r>
            <a:r>
              <a:rPr lang="zh-CN" altLang="en-US" b="1" dirty="0"/>
              <a:t>不存在</a:t>
            </a:r>
            <a:r>
              <a:rPr lang="en-US" altLang="zh-CN" dirty="0"/>
              <a:t>,</a:t>
            </a:r>
            <a:r>
              <a:rPr lang="zh-CN" altLang="en-US" dirty="0"/>
              <a:t>所以用了 </a:t>
            </a:r>
            <a:r>
              <a:rPr lang="en-US" altLang="zh-CN" dirty="0"/>
              <a:t>120</a:t>
            </a:r>
            <a:r>
              <a:rPr lang="en-CA" dirty="0"/>
              <a:t>M </a:t>
            </a:r>
            <a:r>
              <a:rPr lang="zh-CN" altLang="en-US" dirty="0"/>
              <a:t>这个。被问 </a:t>
            </a:r>
            <a:r>
              <a:rPr lang="en-US" altLang="zh-CN" dirty="0"/>
              <a:t>"</a:t>
            </a:r>
            <a:r>
              <a:rPr lang="en-CA" dirty="0"/>
              <a:t>why not the small one" → "the small checkpoint isn't public on </a:t>
            </a:r>
            <a:r>
              <a:rPr lang="en-CA" dirty="0" err="1"/>
              <a:t>HuggingFace</a:t>
            </a:r>
            <a:r>
              <a:rPr lang="en-CA" dirty="0"/>
              <a:t>, so I used the 120M base."</a:t>
            </a:r>
          </a:p>
          <a:p>
            <a:r>
              <a:rPr lang="en-CA" b="1" dirty="0"/>
              <a:t>Frozen</a:t>
            </a:r>
            <a:r>
              <a:rPr lang="en-CA" dirty="0"/>
              <a:t> — </a:t>
            </a:r>
            <a:r>
              <a:rPr lang="zh-CN" altLang="en-US" dirty="0"/>
              <a:t>整个实验</a:t>
            </a:r>
            <a:r>
              <a:rPr lang="zh-CN" altLang="en-US" b="1" dirty="0"/>
              <a:t>从不训练</a:t>
            </a:r>
            <a:r>
              <a:rPr lang="en-US" altLang="zh-CN" b="1" dirty="0"/>
              <a:t>/</a:t>
            </a:r>
            <a:r>
              <a:rPr lang="zh-CN" altLang="en-US" b="1" dirty="0"/>
              <a:t>微调</a:t>
            </a:r>
            <a:r>
              <a:rPr lang="zh-CN" altLang="en-US" dirty="0"/>
              <a:t>模型</a:t>
            </a:r>
            <a:r>
              <a:rPr lang="en-US" altLang="zh-CN" dirty="0"/>
              <a:t>,</a:t>
            </a:r>
            <a:r>
              <a:rPr lang="zh-CN" altLang="en-US" dirty="0"/>
              <a:t>只在它固定的表征上训一个小分类器。</a:t>
            </a:r>
          </a:p>
          <a:p>
            <a:r>
              <a:rPr lang="zh-CN" altLang="en-US" dirty="0"/>
              <a:t>全程在 </a:t>
            </a:r>
            <a:r>
              <a:rPr lang="en-CA" b="1" dirty="0"/>
              <a:t>MacBook Pro M5 </a:t>
            </a:r>
            <a:r>
              <a:rPr lang="zh-CN" altLang="en-US" b="1" dirty="0"/>
              <a:t>本地跑</a:t>
            </a:r>
            <a:r>
              <a:rPr lang="en-US" altLang="zh-CN" b="1" dirty="0"/>
              <a:t>,</a:t>
            </a:r>
            <a:r>
              <a:rPr lang="en-CA" b="1" dirty="0"/>
              <a:t>float32,MPS backend</a:t>
            </a:r>
            <a:r>
              <a:rPr lang="en-CA" dirty="0"/>
              <a:t>,</a:t>
            </a:r>
            <a:r>
              <a:rPr lang="zh-CN" altLang="en-US" dirty="0"/>
              <a:t>没用集群。每次实验几分钟到十几分钟。</a:t>
            </a:r>
          </a:p>
          <a:p>
            <a:r>
              <a:rPr lang="en-CA" b="1" dirty="0"/>
              <a:t>Probe (</a:t>
            </a:r>
            <a:r>
              <a:rPr lang="zh-CN" altLang="en-US" b="1" dirty="0"/>
              <a:t>探针</a:t>
            </a:r>
            <a:r>
              <a:rPr lang="en-US" altLang="zh-CN" b="1" dirty="0"/>
              <a:t>)</a:t>
            </a:r>
          </a:p>
          <a:p>
            <a:r>
              <a:rPr lang="en-CA" b="1" dirty="0"/>
              <a:t>Linear logistic regression</a:t>
            </a:r>
            <a:r>
              <a:rPr lang="en-CA" dirty="0"/>
              <a:t>(</a:t>
            </a:r>
            <a:r>
              <a:rPr lang="en-CA" dirty="0" err="1"/>
              <a:t>sklearn</a:t>
            </a:r>
            <a:r>
              <a:rPr lang="en-CA" dirty="0"/>
              <a:t>),</a:t>
            </a:r>
            <a:r>
              <a:rPr lang="zh-CN" altLang="en-US" dirty="0"/>
              <a:t>每层一个。</a:t>
            </a:r>
            <a:r>
              <a:rPr lang="en-CA" sz="1200" kern="1200" dirty="0" err="1">
                <a:solidFill>
                  <a:schemeClr val="tx1"/>
                </a:solidFill>
                <a:latin typeface="+mn-lt"/>
                <a:ea typeface="+mn-ea"/>
                <a:cs typeface="+mn-cs"/>
              </a:rPr>
              <a:t>max_iter</a:t>
            </a:r>
            <a:r>
              <a:rPr lang="en-CA" sz="1200" kern="1200" dirty="0">
                <a:solidFill>
                  <a:schemeClr val="tx1"/>
                </a:solidFill>
                <a:latin typeface="+mn-lt"/>
                <a:ea typeface="+mn-ea"/>
                <a:cs typeface="+mn-cs"/>
              </a:rPr>
              <a:t>=2000</a:t>
            </a:r>
            <a:r>
              <a:rPr lang="en-CA" dirty="0"/>
              <a:t>,</a:t>
            </a:r>
            <a:r>
              <a:rPr lang="zh-CN" altLang="en-US" dirty="0"/>
              <a:t>默认正则</a:t>
            </a:r>
            <a:r>
              <a:rPr lang="en-US" altLang="zh-CN" dirty="0"/>
              <a:t>,</a:t>
            </a:r>
            <a:r>
              <a:rPr lang="zh-CN" altLang="en-US" dirty="0"/>
              <a:t>先做 </a:t>
            </a:r>
            <a:r>
              <a:rPr lang="en-CA" b="1" dirty="0" err="1"/>
              <a:t>StandardScaler</a:t>
            </a:r>
            <a:r>
              <a:rPr lang="en-CA" dirty="0"/>
              <a:t>(</a:t>
            </a:r>
            <a:r>
              <a:rPr lang="zh-CN" altLang="en-US" dirty="0"/>
              <a:t>只在 </a:t>
            </a:r>
            <a:r>
              <a:rPr lang="en-CA" dirty="0"/>
              <a:t>train </a:t>
            </a:r>
            <a:r>
              <a:rPr lang="zh-CN" altLang="en-US" dirty="0"/>
              <a:t>上 </a:t>
            </a:r>
            <a:r>
              <a:rPr lang="en-CA" dirty="0"/>
              <a:t>fit)。</a:t>
            </a:r>
          </a:p>
          <a:p>
            <a:r>
              <a:rPr lang="zh-CN" altLang="en-US" dirty="0"/>
              <a:t>多通道处理</a:t>
            </a:r>
            <a:r>
              <a:rPr lang="en-US" altLang="zh-CN" dirty="0"/>
              <a:t>:</a:t>
            </a:r>
            <a:r>
              <a:rPr lang="zh-CN" altLang="en-US" b="1" dirty="0"/>
              <a:t>每个 </a:t>
            </a:r>
            <a:r>
              <a:rPr lang="en-CA" b="1" dirty="0"/>
              <a:t>channel </a:t>
            </a:r>
            <a:r>
              <a:rPr lang="zh-CN" altLang="en-US" b="1" dirty="0"/>
              <a:t>单独过 </a:t>
            </a:r>
            <a:r>
              <a:rPr lang="en-CA" b="1" dirty="0"/>
              <a:t>encoder → </a:t>
            </a:r>
            <a:r>
              <a:rPr lang="zh-CN" altLang="en-US" b="1" dirty="0"/>
              <a:t>拼接</a:t>
            </a:r>
            <a:r>
              <a:rPr lang="en-US" altLang="zh-CN" dirty="0"/>
              <a:t>(</a:t>
            </a:r>
            <a:r>
              <a:rPr lang="en-CA" dirty="0"/>
              <a:t>c </a:t>
            </a:r>
            <a:r>
              <a:rPr lang="zh-CN" altLang="en-US" dirty="0"/>
              <a:t>个通道 → </a:t>
            </a:r>
            <a:r>
              <a:rPr lang="en-CA" dirty="0"/>
              <a:t>c×768 </a:t>
            </a:r>
            <a:r>
              <a:rPr lang="zh-CN" altLang="en-US" dirty="0"/>
              <a:t>维</a:t>
            </a:r>
            <a:r>
              <a:rPr lang="en-US" altLang="zh-CN" dirty="0"/>
              <a:t>/</a:t>
            </a:r>
            <a:r>
              <a:rPr lang="zh-CN" altLang="en-US" dirty="0"/>
              <a:t>层</a:t>
            </a:r>
            <a:r>
              <a:rPr lang="en-US" altLang="zh-CN" dirty="0"/>
              <a:t>)</a:t>
            </a:r>
            <a:r>
              <a:rPr lang="zh-CN" altLang="en-US" dirty="0"/>
              <a:t>。</a:t>
            </a:r>
          </a:p>
          <a:p>
            <a:r>
              <a:rPr lang="zh-CN" altLang="en-US" dirty="0"/>
              <a:t>池化</a:t>
            </a:r>
            <a:r>
              <a:rPr lang="en-US" altLang="zh-CN" dirty="0"/>
              <a:t>:</a:t>
            </a:r>
            <a:r>
              <a:rPr lang="zh-CN" altLang="en-US" dirty="0"/>
              <a:t>对 </a:t>
            </a:r>
            <a:r>
              <a:rPr lang="en-CA" dirty="0"/>
              <a:t>content patches </a:t>
            </a:r>
            <a:r>
              <a:rPr lang="zh-CN" altLang="en-US" dirty="0"/>
              <a:t>取 </a:t>
            </a:r>
            <a:r>
              <a:rPr lang="en-CA" b="1" dirty="0"/>
              <a:t>mean pooling</a:t>
            </a:r>
            <a:r>
              <a:rPr lang="en-CA" dirty="0"/>
              <a:t>(</a:t>
            </a:r>
            <a:r>
              <a:rPr lang="zh-CN" altLang="en-US" dirty="0"/>
              <a:t>也跑过 </a:t>
            </a:r>
            <a:r>
              <a:rPr lang="en-CA" dirty="0"/>
              <a:t>all-positions </a:t>
            </a:r>
            <a:r>
              <a:rPr lang="zh-CN" altLang="en-US" dirty="0"/>
              <a:t>和 </a:t>
            </a:r>
            <a:r>
              <a:rPr lang="en-CA" dirty="0"/>
              <a:t>REG-token </a:t>
            </a:r>
            <a:r>
              <a:rPr lang="zh-CN" altLang="en-US" dirty="0"/>
              <a:t>两种做对照</a:t>
            </a:r>
            <a:r>
              <a:rPr lang="en-US" altLang="zh-CN" dirty="0"/>
              <a:t>)</a:t>
            </a:r>
            <a:r>
              <a:rPr lang="zh-CN" altLang="en-US" dirty="0"/>
              <a:t>。</a:t>
            </a:r>
          </a:p>
          <a:p>
            <a:r>
              <a:rPr lang="en-CA" b="1" dirty="0"/>
              <a:t>Datasets (UEA classification)</a:t>
            </a:r>
          </a:p>
          <a:p>
            <a:r>
              <a:rPr lang="en-CA" dirty="0"/>
              <a:t>Dataset</a:t>
            </a:r>
            <a:r>
              <a:rPr lang="zh-CN" altLang="en-US" dirty="0"/>
              <a:t>领域</a:t>
            </a:r>
            <a:r>
              <a:rPr lang="en-CA" dirty="0" err="1"/>
              <a:t>n_train</a:t>
            </a:r>
            <a:r>
              <a:rPr lang="en-CA" dirty="0"/>
              <a:t> / </a:t>
            </a:r>
            <a:r>
              <a:rPr lang="en-CA" dirty="0" err="1"/>
              <a:t>n_testclasseschancelate</a:t>
            </a:r>
            <a:r>
              <a:rPr lang="en-CA" dirty="0"/>
              <a:t>-drop (band) 95% CI</a:t>
            </a:r>
            <a:r>
              <a:rPr lang="zh-CN" altLang="en-US" dirty="0"/>
              <a:t>备注</a:t>
            </a:r>
            <a:r>
              <a:rPr lang="en-CA" dirty="0"/>
              <a:t>Handwritinghandwriting150 / 85026.038</a:t>
            </a:r>
            <a:r>
              <a:rPr lang="en-CA" b="1" dirty="0"/>
              <a:t>+.050 [.025,.075]</a:t>
            </a:r>
            <a:r>
              <a:rPr lang="zh-CN" altLang="en-US" dirty="0"/>
              <a:t>主图 </a:t>
            </a:r>
            <a:r>
              <a:rPr lang="en-US" altLang="zh-CN" dirty="0"/>
              <a:t>(</a:t>
            </a:r>
            <a:r>
              <a:rPr lang="en-CA" dirty="0"/>
              <a:t>tunnel shape)SelfRegulationSCP1EEG268 / 2932.50</a:t>
            </a:r>
            <a:r>
              <a:rPr lang="en-CA" b="1" dirty="0"/>
              <a:t>+.063 [.027,.099]</a:t>
            </a:r>
            <a:r>
              <a:rPr lang="en-CA" dirty="0"/>
              <a:t>OOD </a:t>
            </a:r>
            <a:r>
              <a:rPr lang="zh-CN" altLang="en-US" dirty="0"/>
              <a:t>主数据集</a:t>
            </a:r>
            <a:r>
              <a:rPr lang="en-CA" dirty="0" err="1"/>
              <a:t>UWaveGestureLibrary</a:t>
            </a:r>
            <a:r>
              <a:rPr lang="zh-CN" altLang="en-US" dirty="0"/>
              <a:t>手势</a:t>
            </a:r>
            <a:r>
              <a:rPr lang="en-US" altLang="zh-CN" dirty="0"/>
              <a:t>/</a:t>
            </a:r>
            <a:r>
              <a:rPr lang="zh-CN" altLang="en-US" dirty="0"/>
              <a:t>动作</a:t>
            </a:r>
            <a:r>
              <a:rPr lang="en-US" altLang="zh-CN" dirty="0"/>
              <a:t>120 / 3208.125</a:t>
            </a:r>
            <a:r>
              <a:rPr lang="en-US" altLang="zh-CN" b="1" dirty="0"/>
              <a:t>+.085 [.051,.123]</a:t>
            </a:r>
            <a:r>
              <a:rPr lang="zh-CN" altLang="en-US" dirty="0"/>
              <a:t>最强效应</a:t>
            </a:r>
            <a:r>
              <a:rPr lang="en-CA" dirty="0" err="1"/>
              <a:t>EthanolConcentration</a:t>
            </a:r>
            <a:r>
              <a:rPr lang="zh-CN" altLang="en-US" dirty="0"/>
              <a:t>化学光谱</a:t>
            </a:r>
            <a:r>
              <a:rPr lang="en-US" altLang="zh-CN" dirty="0"/>
              <a:t>261 / 2634.25</a:t>
            </a:r>
            <a:r>
              <a:rPr lang="en-US" altLang="zh-CN" b="1" dirty="0"/>
              <a:t>+.070 [.015,.121]</a:t>
            </a:r>
            <a:r>
              <a:rPr lang="en-CA" dirty="0"/>
              <a:t>LSST</a:t>
            </a:r>
            <a:r>
              <a:rPr lang="zh-CN" altLang="en-US" dirty="0"/>
              <a:t>天文光变曲线</a:t>
            </a:r>
            <a:r>
              <a:rPr lang="en-US" altLang="zh-CN" dirty="0"/>
              <a:t>2459 / 246614.07</a:t>
            </a:r>
            <a:r>
              <a:rPr lang="en-US" altLang="zh-CN" b="1" dirty="0"/>
              <a:t>+.015 [.001,.030]</a:t>
            </a:r>
            <a:r>
              <a:rPr lang="zh-CN" altLang="en-US" dirty="0"/>
              <a:t>效应小但显著</a:t>
            </a:r>
            <a:r>
              <a:rPr lang="en-US" altLang="zh-CN" dirty="0"/>
              <a:t>(</a:t>
            </a:r>
            <a:r>
              <a:rPr lang="en-CA" dirty="0"/>
              <a:t>test </a:t>
            </a:r>
            <a:r>
              <a:rPr lang="zh-CN" altLang="en-US" dirty="0"/>
              <a:t>大</a:t>
            </a:r>
            <a:r>
              <a:rPr lang="en-US" altLang="zh-CN" dirty="0"/>
              <a:t>)</a:t>
            </a:r>
            <a:r>
              <a:rPr lang="en-CA" dirty="0"/>
              <a:t>SelfRegulationSCP2EEG200 / 1802.50−.018 [−.090,.057]</a:t>
            </a:r>
            <a:r>
              <a:rPr lang="zh-CN" altLang="en-US" dirty="0"/>
              <a:t>唯一不显著</a:t>
            </a:r>
            <a:r>
              <a:rPr lang="en-US" altLang="zh-CN" dirty="0"/>
              <a:t>(</a:t>
            </a:r>
            <a:r>
              <a:rPr lang="en-CA" dirty="0" err="1"/>
              <a:t>probe≈chance</a:t>
            </a:r>
            <a:r>
              <a:rPr lang="en-CA" dirty="0"/>
              <a:t>)Epilepsy</a:t>
            </a:r>
            <a:r>
              <a:rPr lang="zh-CN" altLang="en-US" dirty="0"/>
              <a:t>加速度计</a:t>
            </a:r>
            <a:r>
              <a:rPr lang="en-US" altLang="zh-CN" dirty="0"/>
              <a:t>/</a:t>
            </a:r>
            <a:r>
              <a:rPr lang="zh-CN" altLang="en-US" dirty="0"/>
              <a:t>动作</a:t>
            </a:r>
            <a:r>
              <a:rPr lang="en-US" altLang="zh-CN" dirty="0"/>
              <a:t>137 / 1384.25(+.046)</a:t>
            </a:r>
            <a:r>
              <a:rPr lang="zh-CN" altLang="en-US" b="1" dirty="0"/>
              <a:t>饱和</a:t>
            </a:r>
            <a:r>
              <a:rPr lang="en-US" altLang="zh-CN" dirty="0"/>
              <a:t>,</a:t>
            </a:r>
            <a:r>
              <a:rPr lang="zh-CN" altLang="en-US" dirty="0"/>
              <a:t>只当反例</a:t>
            </a:r>
            <a:r>
              <a:rPr lang="en-CA" dirty="0"/>
              <a:t>Cricket</a:t>
            </a:r>
            <a:r>
              <a:rPr lang="zh-CN" altLang="en-US" dirty="0"/>
              <a:t>动作</a:t>
            </a:r>
            <a:r>
              <a:rPr lang="en-US" altLang="zh-CN" dirty="0"/>
              <a:t>108 / 7212.08~0</a:t>
            </a:r>
            <a:r>
              <a:rPr lang="zh-CN" altLang="en-US" b="1" dirty="0"/>
              <a:t>饱和</a:t>
            </a:r>
            <a:r>
              <a:rPr lang="en-US" altLang="zh-CN" dirty="0"/>
              <a:t>,</a:t>
            </a:r>
            <a:r>
              <a:rPr lang="zh-CN" altLang="en-US" dirty="0"/>
              <a:t>排除</a:t>
            </a:r>
          </a:p>
          <a:p>
            <a:r>
              <a:rPr lang="zh-CN" altLang="en-US" dirty="0"/>
              <a:t>⚠️ </a:t>
            </a:r>
            <a:r>
              <a:rPr lang="zh-CN" altLang="en-US" b="1" dirty="0"/>
              <a:t>要核对</a:t>
            </a:r>
            <a:r>
              <a:rPr lang="en-US" altLang="zh-CN" dirty="0"/>
              <a:t>:</a:t>
            </a:r>
            <a:r>
              <a:rPr lang="zh-CN" altLang="en-US" dirty="0"/>
              <a:t>上表 </a:t>
            </a:r>
            <a:r>
              <a:rPr lang="en-CA" sz="1200" kern="1200" dirty="0" err="1">
                <a:solidFill>
                  <a:schemeClr val="tx1"/>
                </a:solidFill>
                <a:latin typeface="+mn-lt"/>
                <a:ea typeface="+mn-ea"/>
                <a:cs typeface="+mn-cs"/>
              </a:rPr>
              <a:t>n_train</a:t>
            </a:r>
            <a:r>
              <a:rPr lang="en-CA" sz="1200" kern="1200" dirty="0">
                <a:solidFill>
                  <a:schemeClr val="tx1"/>
                </a:solidFill>
                <a:latin typeface="+mn-lt"/>
                <a:ea typeface="+mn-ea"/>
                <a:cs typeface="+mn-cs"/>
              </a:rPr>
              <a:t>/</a:t>
            </a:r>
            <a:r>
              <a:rPr lang="en-CA" sz="1200" kern="1200" dirty="0" err="1">
                <a:solidFill>
                  <a:schemeClr val="tx1"/>
                </a:solidFill>
                <a:latin typeface="+mn-lt"/>
                <a:ea typeface="+mn-ea"/>
                <a:cs typeface="+mn-cs"/>
              </a:rPr>
              <a:t>n_test</a:t>
            </a:r>
            <a:r>
              <a:rPr lang="en-CA" sz="1200" kern="1200" dirty="0">
                <a:solidFill>
                  <a:schemeClr val="tx1"/>
                </a:solidFill>
                <a:latin typeface="+mn-lt"/>
                <a:ea typeface="+mn-ea"/>
                <a:cs typeface="+mn-cs"/>
              </a:rPr>
              <a:t> / classes / chance</a:t>
            </a:r>
            <a:r>
              <a:rPr lang="en-CA" dirty="0"/>
              <a:t> </a:t>
            </a:r>
            <a:r>
              <a:rPr lang="zh-CN" altLang="en-US" dirty="0"/>
              <a:t>来自你的 </a:t>
            </a:r>
            <a:r>
              <a:rPr lang="en-CA" dirty="0"/>
              <a:t>run log(</a:t>
            </a:r>
            <a:r>
              <a:rPr lang="zh-CN" altLang="en-US" dirty="0"/>
              <a:t>可信</a:t>
            </a:r>
            <a:r>
              <a:rPr lang="en-US" altLang="zh-CN" dirty="0"/>
              <a:t>)</a:t>
            </a:r>
            <a:r>
              <a:rPr lang="zh-CN" altLang="en-US" dirty="0"/>
              <a:t>。</a:t>
            </a:r>
            <a:r>
              <a:rPr lang="en-CA" b="1" dirty="0"/>
              <a:t>channel </a:t>
            </a:r>
            <a:r>
              <a:rPr lang="zh-CN" altLang="en-US" b="1" dirty="0"/>
              <a:t>数和序列长度</a:t>
            </a:r>
            <a:r>
              <a:rPr lang="zh-CN" altLang="en-US" dirty="0"/>
              <a:t>是 </a:t>
            </a:r>
            <a:r>
              <a:rPr lang="en-CA" dirty="0"/>
              <a:t>UEA </a:t>
            </a:r>
            <a:r>
              <a:rPr lang="zh-CN" altLang="en-US" dirty="0"/>
              <a:t>标准值</a:t>
            </a:r>
            <a:r>
              <a:rPr lang="en-US" altLang="zh-CN" dirty="0"/>
              <a:t>,</a:t>
            </a:r>
            <a:r>
              <a:rPr lang="zh-CN" altLang="en-US" dirty="0"/>
              <a:t>建议你在 </a:t>
            </a:r>
            <a:r>
              <a:rPr lang="en-CA" sz="1200" kern="1200" dirty="0" err="1">
                <a:solidFill>
                  <a:schemeClr val="tx1"/>
                </a:solidFill>
                <a:latin typeface="+mn-lt"/>
                <a:ea typeface="+mn-ea"/>
                <a:cs typeface="+mn-cs"/>
              </a:rPr>
              <a:t>load_classification</a:t>
            </a:r>
            <a:r>
              <a:rPr lang="en-CA" dirty="0"/>
              <a:t> </a:t>
            </a:r>
            <a:r>
              <a:rPr lang="zh-CN" altLang="en-US" dirty="0"/>
              <a:t>输出里再确认一次再对外说精确数字。常见值</a:t>
            </a:r>
            <a:r>
              <a:rPr lang="en-US" altLang="zh-CN" dirty="0"/>
              <a:t>:</a:t>
            </a:r>
            <a:r>
              <a:rPr lang="en-CA" dirty="0"/>
              <a:t>SCP1 6ch/len896,SCP2 7ch/len1152,Handwriting 3ch/len152,UWave 3ch/len315,Ethanol 3ch/len1751,LSST 6ch/len36,Epilepsy 3ch/len206。</a:t>
            </a:r>
          </a:p>
          <a:p>
            <a:r>
              <a:rPr lang="zh-CN" altLang="en-US" b="1" dirty="0"/>
              <a:t>关键统计口径</a:t>
            </a:r>
          </a:p>
          <a:p>
            <a:r>
              <a:rPr lang="en-US" altLang="zh-CN" b="1" dirty="0"/>
              <a:t>"</a:t>
            </a:r>
            <a:r>
              <a:rPr lang="en-CA" b="1" dirty="0"/>
              <a:t>middle" band = layers 3–8</a:t>
            </a:r>
            <a:r>
              <a:rPr lang="en-CA" dirty="0"/>
              <a:t>(</a:t>
            </a:r>
            <a:r>
              <a:rPr lang="zh-CN" altLang="en-US" dirty="0"/>
              <a:t>事先定好的</a:t>
            </a:r>
            <a:r>
              <a:rPr lang="en-US" altLang="zh-CN" dirty="0"/>
              <a:t>,</a:t>
            </a:r>
            <a:r>
              <a:rPr lang="en-CA" dirty="0"/>
              <a:t>a priori),</a:t>
            </a:r>
            <a:r>
              <a:rPr lang="en-CA" b="1" dirty="0"/>
              <a:t>"last" = layer 11</a:t>
            </a:r>
            <a:r>
              <a:rPr lang="en-CA" dirty="0"/>
              <a:t>。</a:t>
            </a:r>
          </a:p>
          <a:p>
            <a:r>
              <a:rPr lang="en-CA" b="1" dirty="0" err="1"/>
              <a:t>late_drop_band</a:t>
            </a:r>
            <a:r>
              <a:rPr lang="en-CA" b="1" dirty="0"/>
              <a:t> = mean(acc, L3–L8) − acc(L11)</a:t>
            </a:r>
            <a:r>
              <a:rPr lang="en-CA" dirty="0"/>
              <a:t>,</a:t>
            </a:r>
            <a:r>
              <a:rPr lang="zh-CN" altLang="en-US" dirty="0"/>
              <a:t>配对 </a:t>
            </a:r>
            <a:r>
              <a:rPr lang="en-CA" dirty="0"/>
              <a:t>bootstrap 95% CI(B=2000)。</a:t>
            </a:r>
          </a:p>
          <a:p>
            <a:r>
              <a:rPr lang="en-CA" dirty="0"/>
              <a:t>CI </a:t>
            </a:r>
            <a:r>
              <a:rPr lang="zh-CN" altLang="en-US" dirty="0"/>
              <a:t>都是 </a:t>
            </a:r>
            <a:r>
              <a:rPr lang="zh-CN" altLang="en-US" b="1" dirty="0"/>
              <a:t>对 </a:t>
            </a:r>
            <a:r>
              <a:rPr lang="en-CA" b="1" dirty="0"/>
              <a:t>test set </a:t>
            </a:r>
            <a:r>
              <a:rPr lang="zh-CN" altLang="en-US" b="1" dirty="0"/>
              <a:t>重采样</a:t>
            </a:r>
            <a:r>
              <a:rPr lang="zh-CN" altLang="en-US" dirty="0"/>
              <a:t>得到的</a:t>
            </a:r>
            <a:r>
              <a:rPr lang="en-US" altLang="zh-CN" dirty="0"/>
              <a:t>;</a:t>
            </a:r>
            <a:r>
              <a:rPr lang="zh-CN" altLang="en-US" dirty="0"/>
              <a:t>层间差异用</a:t>
            </a:r>
            <a:r>
              <a:rPr lang="zh-CN" altLang="en-US" b="1" dirty="0"/>
              <a:t>配对</a:t>
            </a:r>
            <a:r>
              <a:rPr lang="zh-CN" altLang="en-US" dirty="0"/>
              <a:t> </a:t>
            </a:r>
            <a:r>
              <a:rPr lang="en-CA" dirty="0"/>
              <a:t>bootstrap(</a:t>
            </a:r>
            <a:r>
              <a:rPr lang="zh-CN" altLang="en-US" dirty="0"/>
              <a:t>同一批样本</a:t>
            </a:r>
            <a:r>
              <a:rPr lang="en-US" altLang="zh-CN" dirty="0"/>
              <a:t>)</a:t>
            </a:r>
            <a:r>
              <a:rPr lang="zh-CN" altLang="en-US" dirty="0"/>
              <a:t>。</a:t>
            </a:r>
            <a:endParaRPr lang="en-CA" altLang="zh-CN" dirty="0"/>
          </a:p>
          <a:p>
            <a:endParaRPr lang="en-CA" altLang="zh-CN" dirty="0"/>
          </a:p>
          <a:p>
            <a:endParaRPr lang="en-CA" altLang="zh-CN" dirty="0"/>
          </a:p>
          <a:p>
            <a:r>
              <a:rPr lang="en-CA" dirty="0"/>
              <a:t>The must-knows you flagged, so they're top-of-mind:</a:t>
            </a:r>
          </a:p>
          <a:p>
            <a:r>
              <a:rPr lang="en-CA" b="1" dirty="0"/>
              <a:t>Model</a:t>
            </a:r>
            <a:r>
              <a:rPr lang="en-CA" dirty="0"/>
              <a:t> — </a:t>
            </a:r>
            <a:r>
              <a:rPr lang="en-CA" sz="1200" kern="1200" dirty="0">
                <a:solidFill>
                  <a:schemeClr val="tx1"/>
                </a:solidFill>
                <a:latin typeface="+mn-lt"/>
                <a:ea typeface="+mn-ea"/>
                <a:cs typeface="+mn-cs"/>
              </a:rPr>
              <a:t>amazon/chronos-2</a:t>
            </a:r>
            <a:r>
              <a:rPr lang="en-CA" dirty="0"/>
              <a:t>, ~120M params, 12 layers, </a:t>
            </a:r>
            <a:r>
              <a:rPr lang="en-CA" dirty="0" err="1"/>
              <a:t>d_model</a:t>
            </a:r>
            <a:r>
              <a:rPr lang="en-CA" dirty="0"/>
              <a:t> 768, patch size 16, frozen, run locally on the M5. If asked why not the small one: the 28M </a:t>
            </a:r>
            <a:r>
              <a:rPr lang="en-CA" sz="1200" kern="1200" dirty="0">
                <a:solidFill>
                  <a:schemeClr val="tx1"/>
                </a:solidFill>
                <a:latin typeface="+mn-lt"/>
                <a:ea typeface="+mn-ea"/>
                <a:cs typeface="+mn-cs"/>
              </a:rPr>
              <a:t>chronos-2-small</a:t>
            </a:r>
            <a:r>
              <a:rPr lang="en-CA" dirty="0"/>
              <a:t> isn't public on </a:t>
            </a:r>
            <a:r>
              <a:rPr lang="en-CA" dirty="0" err="1"/>
              <a:t>HuggingFace</a:t>
            </a:r>
            <a:r>
              <a:rPr lang="en-CA" dirty="0"/>
              <a:t>, so you used the 120M base.</a:t>
            </a:r>
          </a:p>
          <a:p>
            <a:r>
              <a:rPr lang="en-CA" b="1" dirty="0"/>
              <a:t>Probe</a:t>
            </a:r>
            <a:r>
              <a:rPr lang="en-CA" dirty="0"/>
              <a:t> — linear logistic regression per layer, </a:t>
            </a:r>
            <a:r>
              <a:rPr lang="en-CA" dirty="0" err="1"/>
              <a:t>StandardScaler</a:t>
            </a:r>
            <a:r>
              <a:rPr lang="en-CA" dirty="0"/>
              <a:t> on train only, no tuning. Per-channel through the encoder, then concatenate.</a:t>
            </a:r>
          </a:p>
          <a:p>
            <a:r>
              <a:rPr lang="en-CA" b="1" dirty="0"/>
              <a:t>Data</a:t>
            </a:r>
            <a:r>
              <a:rPr lang="en-CA" dirty="0"/>
              <a:t> — the table has </a:t>
            </a:r>
            <a:r>
              <a:rPr lang="en-CA" dirty="0" err="1"/>
              <a:t>n_train</a:t>
            </a:r>
            <a:r>
              <a:rPr lang="en-CA" dirty="0"/>
              <a:t>/</a:t>
            </a:r>
            <a:r>
              <a:rPr lang="en-CA" dirty="0" err="1"/>
              <a:t>n_test</a:t>
            </a:r>
            <a:r>
              <a:rPr lang="en-CA" dirty="0"/>
              <a:t>, classes, chance, and the late-drop CI for all eight datasets. One honesty flag: the train/test/classes/chance numbers came straight from your run logs and are solid, but I reconstructed the </a:t>
            </a:r>
            <a:r>
              <a:rPr lang="en-CA" b="1" dirty="0"/>
              <a:t>channel counts and sequence lengths</a:t>
            </a:r>
            <a:r>
              <a:rPr lang="en-CA" dirty="0"/>
              <a:t> from the UEA spec — verify those against your </a:t>
            </a:r>
            <a:r>
              <a:rPr lang="en-CA" sz="1200" kern="1200" dirty="0" err="1">
                <a:solidFill>
                  <a:schemeClr val="tx1"/>
                </a:solidFill>
                <a:latin typeface="+mn-lt"/>
                <a:ea typeface="+mn-ea"/>
                <a:cs typeface="+mn-cs"/>
              </a:rPr>
              <a:t>load_classification</a:t>
            </a:r>
            <a:r>
              <a:rPr lang="en-CA" dirty="0"/>
              <a:t> output before quoting exact numbers, since those are the easy ones to misstate in front of Irina.</a:t>
            </a:r>
          </a:p>
          <a:p>
            <a:r>
              <a:rPr lang="en-CA" dirty="0"/>
              <a:t>The three questions I'd most rehearse, because they're near-certain from a sharp lab:</a:t>
            </a:r>
          </a:p>
          <a:p>
            <a:r>
              <a:rPr lang="en-CA" i="1" dirty="0"/>
              <a:t>"Why a linear probe and not an MLP?"</a:t>
            </a:r>
            <a:r>
              <a:rPr lang="en-CA" dirty="0"/>
              <a:t> → it measures </a:t>
            </a:r>
            <a:r>
              <a:rPr lang="en-CA" i="1" dirty="0"/>
              <a:t>directly decodable</a:t>
            </a:r>
            <a:r>
              <a:rPr lang="en-CA" dirty="0"/>
              <a:t> information, so layer differences reflect the representation, not the probe's capacity (and it's Head2Toe's setup).</a:t>
            </a:r>
          </a:p>
          <a:p>
            <a:r>
              <a:rPr lang="en-CA" i="1" dirty="0"/>
              <a:t>"Did you cherry-pick the best layer?"</a:t>
            </a:r>
            <a:r>
              <a:rPr lang="en-CA" dirty="0"/>
              <a:t> → middle is a pre-declared band (L3–8), not chosen post-hoc; the argmax version is reported but labeled as selection-biased.</a:t>
            </a:r>
          </a:p>
          <a:p>
            <a:r>
              <a:rPr lang="en-CA" i="1" dirty="0"/>
              <a:t>"Isn't the last-layer drop just because it's a forecasting model?"</a:t>
            </a:r>
            <a:r>
              <a:rPr lang="en-CA" dirty="0"/>
              <a:t> → that </a:t>
            </a:r>
            <a:r>
              <a:rPr lang="en-CA" i="1" dirty="0"/>
              <a:t>is</a:t>
            </a:r>
            <a:r>
              <a:rPr lang="en-CA" dirty="0"/>
              <a:t> the proposed mechanism, not a confound — and separating it from plain domain-mismatch is exactly your next experiment.</a:t>
            </a:r>
          </a:p>
          <a:p>
            <a:r>
              <a:rPr lang="en-CA" dirty="0"/>
              <a:t>One strategic note that's in the sheet but worth saying plainly: with Irina in the room, the honest "I didn't test that, my expectation is X" beats improvising — the whole strength of this work is that you tested where it holds </a:t>
            </a:r>
            <a:r>
              <a:rPr lang="en-CA" i="1" dirty="0"/>
              <a:t>and</a:t>
            </a:r>
            <a:r>
              <a:rPr lang="en-CA" dirty="0"/>
              <a:t> where it doesn't. Don't defend the Part 2 null; own it.</a:t>
            </a:r>
          </a:p>
          <a:p>
            <a:r>
              <a:rPr lang="en-CA" dirty="0"/>
              <a:t>Want me to fold this script into the deck's speaker notes so it's all in the presenter view, or keep it as a separate sheet you glance at?</a:t>
            </a:r>
          </a:p>
          <a:p>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The tunnel-effect idea, from the vision literature, says the </a:t>
            </a:r>
            <a:r>
              <a:rPr lang="en-CA" b="1" dirty="0"/>
              <a:t>middle</a:t>
            </a:r>
            <a:r>
              <a:rPr lang="en-CA" dirty="0"/>
              <a:t> layers carry the most transferable, task-relevant information, and the </a:t>
            </a:r>
            <a:r>
              <a:rPr lang="en-CA" b="1" dirty="0"/>
              <a:t>last</a:t>
            </a:r>
            <a:r>
              <a:rPr lang="en-CA" dirty="0"/>
              <a:t> layers specialize away from it. I split this into two parts.</a:t>
            </a:r>
            <a:br>
              <a:rPr lang="en-CA" dirty="0"/>
            </a:br>
            <a:r>
              <a:rPr lang="en-CA" b="1" dirty="0"/>
              <a:t>Part 1:</a:t>
            </a:r>
            <a:r>
              <a:rPr lang="en-CA" dirty="0"/>
              <a:t> middle layers should beat the last layer at decoding the task.</a:t>
            </a:r>
            <a:br>
              <a:rPr lang="en-CA" dirty="0"/>
            </a:br>
            <a:r>
              <a:rPr lang="en-CA" b="1" dirty="0"/>
              <a:t>Part 2:</a:t>
            </a:r>
            <a:r>
              <a:rPr lang="en-CA" dirty="0"/>
              <a:t> that middle-over-last advantage should </a:t>
            </a:r>
            <a:r>
              <a:rPr lang="en-CA" b="1" dirty="0"/>
              <a:t>grow</a:t>
            </a:r>
            <a:r>
              <a:rPr lang="en-CA" dirty="0"/>
              <a:t> when the data is out-of-distribution.</a:t>
            </a:r>
            <a:br>
              <a:rPr lang="en-CA" dirty="0"/>
            </a:br>
            <a:r>
              <a:rPr lang="en-CA" dirty="0"/>
              <a:t>And why a forecasting model? Chronos-2's final layer is tuned to produce forecasts — so it's exactly where we'd expect it to </a:t>
            </a:r>
            <a:r>
              <a:rPr lang="en-CA" b="1" dirty="0"/>
              <a:t>discard</a:t>
            </a:r>
            <a:r>
              <a:rPr lang="en-CA" dirty="0"/>
              <a:t> general class structure that the middle layers still hold. If a tunnel effect exists anywhere, it should show here.”</a:t>
            </a:r>
          </a:p>
          <a:p>
            <a:endParaRPr lang="en-CA" dirty="0"/>
          </a:p>
          <a:p>
            <a:r>
              <a:rPr lang="zh-CN" altLang="en-US" dirty="0"/>
              <a:t>过渡 → </a:t>
            </a:r>
            <a:r>
              <a:rPr lang="en-US" altLang="zh-CN" dirty="0"/>
              <a:t>"</a:t>
            </a:r>
            <a:r>
              <a:rPr lang="en-CA" dirty="0"/>
              <a:t>So how do I actually measure 'how much task information a layer holds’?”</a:t>
            </a:r>
          </a:p>
          <a:p>
            <a:endParaRPr lang="en-CA" altLang="zh-CN" b="1" dirty="0"/>
          </a:p>
          <a:p>
            <a:r>
              <a:rPr lang="zh-CN" altLang="en-US" b="1" dirty="0"/>
              <a:t>可能问题</a:t>
            </a:r>
            <a:endParaRPr lang="zh-CN" altLang="en-US" dirty="0"/>
          </a:p>
          <a:p>
            <a:r>
              <a:rPr lang="en-CA" b="1" dirty="0"/>
              <a:t>Q: What exactly is the "tunnel effect"?</a:t>
            </a:r>
            <a:r>
              <a:rPr lang="en-CA" dirty="0"/>
              <a:t> → "From </a:t>
            </a:r>
            <a:r>
              <a:rPr lang="en-CA" dirty="0" err="1"/>
              <a:t>Masarczyk</a:t>
            </a:r>
            <a:r>
              <a:rPr lang="en-CA" dirty="0"/>
              <a:t> et al. (</a:t>
            </a:r>
            <a:r>
              <a:rPr lang="en-CA" dirty="0" err="1"/>
              <a:t>NeurIPS</a:t>
            </a:r>
            <a:r>
              <a:rPr lang="en-CA" dirty="0"/>
              <a:t> 2023): a trained deep net </a:t>
            </a:r>
            <a:r>
              <a:rPr lang="en-CA" b="1" dirty="0"/>
              <a:t>splits into two parts</a:t>
            </a:r>
            <a:r>
              <a:rPr lang="en-CA" dirty="0"/>
              <a:t> — the early layers (the </a:t>
            </a:r>
            <a:r>
              <a:rPr lang="en-CA" b="1" dirty="0"/>
              <a:t>extractor</a:t>
            </a:r>
            <a:r>
              <a:rPr lang="en-CA" dirty="0"/>
              <a:t>) build </a:t>
            </a:r>
            <a:r>
              <a:rPr lang="en-CA" b="1" dirty="0"/>
              <a:t>linearly-separable</a:t>
            </a:r>
            <a:r>
              <a:rPr lang="en-CA" dirty="0"/>
              <a:t> representations, and the later layers (the </a:t>
            </a:r>
            <a:r>
              <a:rPr lang="en-CA" b="1" dirty="0"/>
              <a:t>tunnel</a:t>
            </a:r>
            <a:r>
              <a:rPr lang="en-CA" dirty="0"/>
              <a:t>) just </a:t>
            </a:r>
            <a:r>
              <a:rPr lang="en-CA" b="1" dirty="0"/>
              <a:t>compress</a:t>
            </a:r>
            <a:r>
              <a:rPr lang="en-CA" dirty="0"/>
              <a:t> them, with </a:t>
            </a:r>
            <a:r>
              <a:rPr lang="en-CA" b="1" dirty="0"/>
              <a:t>minimal impact</a:t>
            </a:r>
            <a:r>
              <a:rPr lang="en-CA" dirty="0"/>
              <a:t> on in-distribution performance — and the tunnel </a:t>
            </a:r>
            <a:r>
              <a:rPr lang="en-CA" b="1" dirty="0"/>
              <a:t>degrades OOD generalization / transfer</a:t>
            </a:r>
            <a:r>
              <a:rPr lang="en-CA" dirty="0"/>
              <a:t>.”</a:t>
            </a:r>
          </a:p>
          <a:p>
            <a:endParaRPr lang="en-CA" dirty="0"/>
          </a:p>
          <a:p>
            <a:r>
              <a:rPr lang="en-CA" dirty="0"/>
              <a:t>net splits → </a:t>
            </a:r>
            <a:r>
              <a:rPr lang="en-CA" b="1" dirty="0"/>
              <a:t>extractor</a:t>
            </a:r>
            <a:r>
              <a:rPr lang="en-CA" dirty="0"/>
              <a:t> (early, builds linearly-separable </a:t>
            </a:r>
            <a:r>
              <a:rPr lang="en-CA" dirty="0" err="1"/>
              <a:t>repr</a:t>
            </a:r>
            <a:r>
              <a:rPr lang="en-CA" dirty="0"/>
              <a:t>.) + </a:t>
            </a:r>
            <a:r>
              <a:rPr lang="en-CA" b="1" dirty="0"/>
              <a:t>tunnel</a:t>
            </a:r>
            <a:r>
              <a:rPr lang="en-CA" dirty="0"/>
              <a:t> (late, compresses, </a:t>
            </a:r>
            <a:r>
              <a:rPr lang="en-CA" b="1" dirty="0"/>
              <a:t>minimal impact</a:t>
            </a:r>
            <a:r>
              <a:rPr lang="en-CA" dirty="0"/>
              <a:t> on ID, </a:t>
            </a:r>
            <a:r>
              <a:rPr lang="en-CA" b="1" dirty="0"/>
              <a:t>hurts OOD</a:t>
            </a:r>
            <a:r>
              <a:rPr lang="en-CA" dirty="0"/>
              <a:t>).</a:t>
            </a:r>
          </a:p>
          <a:p>
            <a:endParaRPr lang="en-CA" dirty="0">
              <a:effectLst/>
            </a:endParaRPr>
          </a:p>
          <a:p>
            <a:r>
              <a:rPr lang="en-CA" dirty="0">
                <a:effectLst/>
              </a:rPr>
              <a:t>"hurts OOD" </a:t>
            </a:r>
            <a:r>
              <a:rPr lang="zh-CN" altLang="en-US" dirty="0">
                <a:effectLst/>
              </a:rPr>
              <a:t>指的是 </a:t>
            </a:r>
            <a:r>
              <a:rPr lang="en-CA" b="1" dirty="0">
                <a:effectLst/>
              </a:rPr>
              <a:t>the tunnel degrades out-of-distribution generalization</a:t>
            </a:r>
            <a:r>
              <a:rPr lang="en-CA" dirty="0">
                <a:effectLst/>
              </a:rPr>
              <a:t> —— </a:t>
            </a:r>
            <a:r>
              <a:rPr lang="zh-CN" altLang="en-US" b="1" dirty="0">
                <a:effectLst/>
              </a:rPr>
              <a:t>隧道那部分</a:t>
            </a:r>
            <a:r>
              <a:rPr lang="en-US" altLang="zh-CN" b="1" dirty="0">
                <a:effectLst/>
              </a:rPr>
              <a:t>(</a:t>
            </a:r>
            <a:r>
              <a:rPr lang="zh-CN" altLang="en-US" b="1" dirty="0">
                <a:effectLst/>
              </a:rPr>
              <a:t>后段层</a:t>
            </a:r>
            <a:r>
              <a:rPr lang="en-US" altLang="zh-CN" b="1" dirty="0">
                <a:effectLst/>
              </a:rPr>
              <a:t>)</a:t>
            </a:r>
            <a:r>
              <a:rPr lang="zh-CN" altLang="en-US" b="1" dirty="0">
                <a:effectLst/>
              </a:rPr>
              <a:t>会让模型在</a:t>
            </a:r>
            <a:r>
              <a:rPr lang="en-US" altLang="zh-CN" b="1" dirty="0">
                <a:effectLst/>
              </a:rPr>
              <a:t>"</a:t>
            </a:r>
            <a:r>
              <a:rPr lang="zh-CN" altLang="en-US" b="1" dirty="0">
                <a:effectLst/>
              </a:rPr>
              <a:t>分布外数据</a:t>
            </a:r>
            <a:r>
              <a:rPr lang="en-US" altLang="zh-CN" b="1" dirty="0">
                <a:effectLst/>
              </a:rPr>
              <a:t>"</a:t>
            </a:r>
            <a:r>
              <a:rPr lang="zh-CN" altLang="en-US" b="1" dirty="0">
                <a:effectLst/>
              </a:rPr>
              <a:t>上的表现变差。</a:t>
            </a:r>
            <a:endParaRPr lang="zh-CN" altLang="en-US" dirty="0">
              <a:effectLst/>
            </a:endParaRPr>
          </a:p>
          <a:p>
            <a:endParaRPr lang="en-CA" dirty="0"/>
          </a:p>
          <a:p>
            <a:endParaRPr lang="en-CA" dirty="0"/>
          </a:p>
          <a:p>
            <a:r>
              <a:rPr lang="zh-CN" altLang="en-US" dirty="0"/>
              <a:t>被问 </a:t>
            </a:r>
            <a:r>
              <a:rPr lang="en-US" altLang="zh-CN" b="1" dirty="0"/>
              <a:t>"</a:t>
            </a:r>
            <a:r>
              <a:rPr lang="en-CA" b="1" dirty="0"/>
              <a:t>does your result match their definition?"</a:t>
            </a:r>
            <a:r>
              <a:rPr lang="en-CA" dirty="0"/>
              <a:t> → </a:t>
            </a:r>
            <a:r>
              <a:rPr lang="zh-CN" altLang="en-US" dirty="0"/>
              <a:t>别愣</a:t>
            </a:r>
            <a:r>
              <a:rPr lang="en-US" altLang="zh-CN" dirty="0"/>
              <a:t>,</a:t>
            </a:r>
            <a:r>
              <a:rPr lang="zh-CN" altLang="en-US" dirty="0"/>
              <a:t>直接接</a:t>
            </a:r>
            <a:r>
              <a:rPr lang="en-US" altLang="zh-CN" dirty="0"/>
              <a:t>:</a:t>
            </a:r>
          </a:p>
          <a:p>
            <a:r>
              <a:rPr lang="en-US" altLang="zh-CN" dirty="0"/>
              <a:t>"</a:t>
            </a:r>
            <a:r>
              <a:rPr lang="en-CA" dirty="0"/>
              <a:t>Their tunnel is a </a:t>
            </a:r>
            <a:r>
              <a:rPr lang="en-CA" b="1" dirty="0"/>
              <a:t>plateau</a:t>
            </a:r>
            <a:r>
              <a:rPr lang="en-CA" dirty="0"/>
              <a:t> — later layers stop adding separability. Mine is </a:t>
            </a:r>
            <a:r>
              <a:rPr lang="en-CA" b="1" dirty="0"/>
              <a:t>stronger</a:t>
            </a:r>
            <a:r>
              <a:rPr lang="en-CA" dirty="0"/>
              <a:t>: an actual </a:t>
            </a:r>
            <a:r>
              <a:rPr lang="en-CA" b="1" dirty="0"/>
              <a:t>drop</a:t>
            </a:r>
            <a:r>
              <a:rPr lang="en-CA" dirty="0"/>
              <a:t> at the last layer, because Chronos-2's final layer is repurposed for forecasting, not idle."</a:t>
            </a:r>
          </a:p>
          <a:p>
            <a:endParaRPr lang="en-CA" dirty="0"/>
          </a:p>
          <a:p>
            <a:endParaRPr lang="en-CA" b="1" dirty="0"/>
          </a:p>
          <a:p>
            <a:endParaRPr lang="en-CA" b="1" dirty="0"/>
          </a:p>
          <a:p>
            <a:r>
              <a:rPr lang="en-CA" b="1" dirty="0"/>
              <a:t>Q: What's Head2Toe?</a:t>
            </a:r>
            <a:r>
              <a:rPr lang="en-CA" dirty="0"/>
              <a:t> → "</a:t>
            </a:r>
            <a:r>
              <a:rPr lang="en-CA" dirty="0" err="1"/>
              <a:t>Evci</a:t>
            </a:r>
            <a:r>
              <a:rPr lang="en-CA" dirty="0"/>
              <a:t> et al., ICML 2022 — a transfer method that selects features from </a:t>
            </a:r>
            <a:r>
              <a:rPr lang="en-CA" i="1" dirty="0"/>
              <a:t>all</a:t>
            </a:r>
            <a:r>
              <a:rPr lang="en-CA" dirty="0"/>
              <a:t> layers, not just the last, because intermediate features help transfer, especially under domain shift."</a:t>
            </a:r>
          </a:p>
          <a:p>
            <a:r>
              <a:rPr lang="en-CA" b="1" dirty="0"/>
              <a:t>Q: Why would a forecasting objective hurt classification specifically?</a:t>
            </a:r>
            <a:r>
              <a:rPr lang="en-CA" dirty="0"/>
              <a:t> → "The decoder only needs whatever predicts the next values; class identity isn't part of that objective, so the final layer can compress it away while middle layers still carry it."</a:t>
            </a:r>
          </a:p>
          <a:p>
            <a:r>
              <a:rPr lang="en-CA" b="1" dirty="0"/>
              <a:t>Q: Isn't 'transfer-relevant information' vague?</a:t>
            </a:r>
            <a:r>
              <a:rPr lang="en-CA" dirty="0"/>
              <a:t> → "I operationalize it concretely: how linearly decodable the class label is from that layer." (</a:t>
            </a:r>
            <a:r>
              <a:rPr lang="zh-CN" altLang="en-US" dirty="0"/>
              <a:t>引到 </a:t>
            </a:r>
            <a:r>
              <a:rPr lang="en-CA" dirty="0"/>
              <a:t>Slide 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2148E-44B6-ABA6-3F32-0C2E70B1B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18EDA-1B79-AFF3-1C70-4903DF6703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F95E1D-79F9-1DF2-BDA9-0997DA503056}"/>
              </a:ext>
            </a:extLst>
          </p:cNvPr>
          <p:cNvSpPr>
            <a:spLocks noGrp="1"/>
          </p:cNvSpPr>
          <p:nvPr>
            <p:ph type="body" idx="1"/>
          </p:nvPr>
        </p:nvSpPr>
        <p:spPr/>
        <p:txBody>
          <a:bodyPr/>
          <a:lstStyle/>
          <a:p>
            <a:r>
              <a:rPr lang="en-CA" dirty="0"/>
              <a:t>🗣️ The tunnel-effect idea, from the vision literature, says the </a:t>
            </a:r>
            <a:r>
              <a:rPr lang="en-CA" b="1" dirty="0"/>
              <a:t>middle</a:t>
            </a:r>
            <a:r>
              <a:rPr lang="en-CA" dirty="0"/>
              <a:t> layers carry the most transferable, task-relevant information, and the </a:t>
            </a:r>
            <a:r>
              <a:rPr lang="en-CA" b="1" dirty="0"/>
              <a:t>last</a:t>
            </a:r>
            <a:r>
              <a:rPr lang="en-CA" dirty="0"/>
              <a:t> layers specialize away from it. I split this into two parts.</a:t>
            </a:r>
            <a:br>
              <a:rPr lang="en-CA" dirty="0"/>
            </a:br>
            <a:r>
              <a:rPr lang="en-CA" b="1" dirty="0"/>
              <a:t>Part 1:</a:t>
            </a:r>
            <a:r>
              <a:rPr lang="en-CA" dirty="0"/>
              <a:t> middle layers should beat the last layer at decoding the task.</a:t>
            </a:r>
            <a:br>
              <a:rPr lang="en-CA" dirty="0"/>
            </a:br>
            <a:r>
              <a:rPr lang="en-CA" b="1" dirty="0"/>
              <a:t>Part 2:</a:t>
            </a:r>
            <a:r>
              <a:rPr lang="en-CA" dirty="0"/>
              <a:t> that middle-over-last advantage should </a:t>
            </a:r>
            <a:r>
              <a:rPr lang="en-CA" b="1" dirty="0"/>
              <a:t>grow</a:t>
            </a:r>
            <a:r>
              <a:rPr lang="en-CA" dirty="0"/>
              <a:t> when the data is out-of-distribution.</a:t>
            </a:r>
            <a:br>
              <a:rPr lang="en-CA" dirty="0"/>
            </a:br>
            <a:r>
              <a:rPr lang="en-CA" dirty="0"/>
              <a:t>And why a forecasting model? Chronos-2's final layer is tuned to produce forecasts — so it's exactly where we'd expect it to </a:t>
            </a:r>
            <a:r>
              <a:rPr lang="en-CA" b="1" dirty="0"/>
              <a:t>discard</a:t>
            </a:r>
            <a:r>
              <a:rPr lang="en-CA" dirty="0"/>
              <a:t> general class structure that the middle layers still hold. If a tunnel effect exists anywhere, it should show here.”</a:t>
            </a:r>
          </a:p>
          <a:p>
            <a:endParaRPr lang="en-CA" dirty="0"/>
          </a:p>
          <a:p>
            <a:r>
              <a:rPr lang="zh-CN" altLang="en-US" dirty="0"/>
              <a:t>过渡 → </a:t>
            </a:r>
            <a:r>
              <a:rPr lang="en-US" altLang="zh-CN" dirty="0"/>
              <a:t>"</a:t>
            </a:r>
            <a:r>
              <a:rPr lang="en-CA" dirty="0"/>
              <a:t>So how do I actually measure 'how much task information a layer holds’?”</a:t>
            </a:r>
          </a:p>
          <a:p>
            <a:endParaRPr lang="en-CA" altLang="zh-CN" b="1" dirty="0"/>
          </a:p>
          <a:p>
            <a:r>
              <a:rPr lang="zh-CN" altLang="en-US" b="1" dirty="0"/>
              <a:t>可能问题</a:t>
            </a:r>
            <a:endParaRPr lang="en-CA" altLang="zh-CN" b="0" dirty="0"/>
          </a:p>
          <a:p>
            <a:r>
              <a:rPr lang="en-CA" b="1" dirty="0"/>
              <a:t>Q: What exactly is the "tunnel effect"?</a:t>
            </a:r>
            <a:r>
              <a:rPr lang="en-CA" dirty="0"/>
              <a:t> → "From </a:t>
            </a:r>
            <a:r>
              <a:rPr lang="en-CA" dirty="0" err="1"/>
              <a:t>Masarczyk</a:t>
            </a:r>
            <a:r>
              <a:rPr lang="en-CA" dirty="0"/>
              <a:t> et al. (</a:t>
            </a:r>
            <a:r>
              <a:rPr lang="en-CA" dirty="0" err="1"/>
              <a:t>NeurIPS</a:t>
            </a:r>
            <a:r>
              <a:rPr lang="en-CA" dirty="0"/>
              <a:t> 2023): a trained deep net </a:t>
            </a:r>
            <a:r>
              <a:rPr lang="en-CA" b="1" dirty="0"/>
              <a:t>splits into two parts</a:t>
            </a:r>
            <a:r>
              <a:rPr lang="en-CA" dirty="0"/>
              <a:t> — the early layers (the </a:t>
            </a:r>
            <a:r>
              <a:rPr lang="en-CA" b="1" dirty="0"/>
              <a:t>extractor</a:t>
            </a:r>
            <a:r>
              <a:rPr lang="en-CA" dirty="0"/>
              <a:t>) build </a:t>
            </a:r>
            <a:r>
              <a:rPr lang="en-CA" b="1" dirty="0"/>
              <a:t>linearly-separable</a:t>
            </a:r>
            <a:r>
              <a:rPr lang="en-CA" dirty="0"/>
              <a:t> representations, and the later layers (the </a:t>
            </a:r>
            <a:r>
              <a:rPr lang="en-CA" b="1" dirty="0"/>
              <a:t>tunnel</a:t>
            </a:r>
            <a:r>
              <a:rPr lang="en-CA" dirty="0"/>
              <a:t>) just </a:t>
            </a:r>
            <a:r>
              <a:rPr lang="en-CA" b="1" dirty="0"/>
              <a:t>compress</a:t>
            </a:r>
            <a:r>
              <a:rPr lang="en-CA" dirty="0"/>
              <a:t> them, with </a:t>
            </a:r>
            <a:r>
              <a:rPr lang="en-CA" b="1" dirty="0"/>
              <a:t>minimal impact</a:t>
            </a:r>
            <a:r>
              <a:rPr lang="en-CA" dirty="0"/>
              <a:t> on in-distribution performance — and the tunnel </a:t>
            </a:r>
            <a:r>
              <a:rPr lang="en-CA" b="1" dirty="0"/>
              <a:t>degrades OOD generalization / transfer</a:t>
            </a:r>
            <a:r>
              <a:rPr lang="en-CA" dirty="0"/>
              <a:t>.”</a:t>
            </a:r>
          </a:p>
          <a:p>
            <a:endParaRPr lang="en-CA" dirty="0"/>
          </a:p>
          <a:p>
            <a:r>
              <a:rPr lang="en-CA" dirty="0"/>
              <a:t>net splits → </a:t>
            </a:r>
            <a:r>
              <a:rPr lang="en-CA" b="1" dirty="0"/>
              <a:t>extractor</a:t>
            </a:r>
            <a:r>
              <a:rPr lang="en-CA" dirty="0"/>
              <a:t> (early, builds linearly-separable </a:t>
            </a:r>
            <a:r>
              <a:rPr lang="en-CA" dirty="0" err="1"/>
              <a:t>repr</a:t>
            </a:r>
            <a:r>
              <a:rPr lang="en-CA" dirty="0"/>
              <a:t>.) + </a:t>
            </a:r>
            <a:r>
              <a:rPr lang="en-CA" b="1" dirty="0"/>
              <a:t>tunnel</a:t>
            </a:r>
            <a:r>
              <a:rPr lang="en-CA" dirty="0"/>
              <a:t> (late, compresses, </a:t>
            </a:r>
            <a:r>
              <a:rPr lang="en-CA" b="1" dirty="0"/>
              <a:t>minimal impact</a:t>
            </a:r>
            <a:r>
              <a:rPr lang="en-CA" dirty="0"/>
              <a:t> on ID, </a:t>
            </a:r>
            <a:r>
              <a:rPr lang="en-CA" b="1" dirty="0"/>
              <a:t>hurts OOD</a:t>
            </a:r>
            <a:r>
              <a:rPr lang="en-CA" dirty="0"/>
              <a:t>).</a:t>
            </a:r>
          </a:p>
          <a:p>
            <a:endParaRPr lang="en-CA" dirty="0">
              <a:effectLst/>
            </a:endParaRPr>
          </a:p>
          <a:p>
            <a:r>
              <a:rPr lang="en-CA" dirty="0">
                <a:effectLst/>
              </a:rPr>
              <a:t>"hurts OOD" </a:t>
            </a:r>
            <a:r>
              <a:rPr lang="zh-CN" altLang="en-US" dirty="0">
                <a:effectLst/>
              </a:rPr>
              <a:t>指的是 </a:t>
            </a:r>
            <a:r>
              <a:rPr lang="en-CA" b="1" dirty="0">
                <a:effectLst/>
              </a:rPr>
              <a:t>the tunnel degrades out-of-distribution generalization</a:t>
            </a:r>
            <a:r>
              <a:rPr lang="en-CA" dirty="0">
                <a:effectLst/>
              </a:rPr>
              <a:t> —— </a:t>
            </a:r>
            <a:r>
              <a:rPr lang="zh-CN" altLang="en-US" b="1" dirty="0">
                <a:effectLst/>
              </a:rPr>
              <a:t>隧道那部分</a:t>
            </a:r>
            <a:r>
              <a:rPr lang="en-US" altLang="zh-CN" b="1" dirty="0">
                <a:effectLst/>
              </a:rPr>
              <a:t>(</a:t>
            </a:r>
            <a:r>
              <a:rPr lang="zh-CN" altLang="en-US" b="1" dirty="0">
                <a:effectLst/>
              </a:rPr>
              <a:t>后段层</a:t>
            </a:r>
            <a:r>
              <a:rPr lang="en-US" altLang="zh-CN" b="1" dirty="0">
                <a:effectLst/>
              </a:rPr>
              <a:t>)</a:t>
            </a:r>
            <a:r>
              <a:rPr lang="zh-CN" altLang="en-US" b="1" dirty="0">
                <a:effectLst/>
              </a:rPr>
              <a:t>会让模型在</a:t>
            </a:r>
            <a:r>
              <a:rPr lang="en-US" altLang="zh-CN" b="1" dirty="0">
                <a:effectLst/>
              </a:rPr>
              <a:t>"</a:t>
            </a:r>
            <a:r>
              <a:rPr lang="zh-CN" altLang="en-US" b="1" dirty="0">
                <a:effectLst/>
              </a:rPr>
              <a:t>分布外数据</a:t>
            </a:r>
            <a:r>
              <a:rPr lang="en-US" altLang="zh-CN" b="1" dirty="0">
                <a:effectLst/>
              </a:rPr>
              <a:t>"</a:t>
            </a:r>
            <a:r>
              <a:rPr lang="zh-CN" altLang="en-US" b="1" dirty="0">
                <a:effectLst/>
              </a:rPr>
              <a:t>上的表现变差。</a:t>
            </a:r>
            <a:endParaRPr lang="zh-CN" altLang="en-US" dirty="0">
              <a:effectLst/>
            </a:endParaRPr>
          </a:p>
          <a:p>
            <a:endParaRPr lang="en-CA" dirty="0"/>
          </a:p>
          <a:p>
            <a:endParaRPr lang="en-CA" dirty="0"/>
          </a:p>
          <a:p>
            <a:r>
              <a:rPr lang="zh-CN" altLang="en-US" dirty="0"/>
              <a:t>被问 </a:t>
            </a:r>
            <a:r>
              <a:rPr lang="en-US" altLang="zh-CN" b="1" dirty="0"/>
              <a:t>"</a:t>
            </a:r>
            <a:r>
              <a:rPr lang="en-CA" b="1" dirty="0"/>
              <a:t>does your result match their definition?"</a:t>
            </a:r>
            <a:r>
              <a:rPr lang="en-CA" dirty="0"/>
              <a:t> → </a:t>
            </a:r>
            <a:r>
              <a:rPr lang="zh-CN" altLang="en-US" dirty="0"/>
              <a:t>别愣</a:t>
            </a:r>
            <a:r>
              <a:rPr lang="en-US" altLang="zh-CN" dirty="0"/>
              <a:t>,</a:t>
            </a:r>
            <a:r>
              <a:rPr lang="zh-CN" altLang="en-US" dirty="0"/>
              <a:t>直接接</a:t>
            </a:r>
            <a:r>
              <a:rPr lang="en-US" altLang="zh-CN" dirty="0"/>
              <a:t>:</a:t>
            </a:r>
          </a:p>
          <a:p>
            <a:r>
              <a:rPr lang="en-US" altLang="zh-CN" dirty="0"/>
              <a:t>"</a:t>
            </a:r>
            <a:r>
              <a:rPr lang="en-CA" dirty="0"/>
              <a:t>Their tunnel is a </a:t>
            </a:r>
            <a:r>
              <a:rPr lang="en-CA" b="1" dirty="0"/>
              <a:t>plateau</a:t>
            </a:r>
            <a:r>
              <a:rPr lang="en-CA" dirty="0"/>
              <a:t> — later layers stop adding separability. Mine is </a:t>
            </a:r>
            <a:r>
              <a:rPr lang="en-CA" b="1" dirty="0"/>
              <a:t>stronger</a:t>
            </a:r>
            <a:r>
              <a:rPr lang="en-CA" dirty="0"/>
              <a:t>: an actual </a:t>
            </a:r>
            <a:r>
              <a:rPr lang="en-CA" b="1" dirty="0"/>
              <a:t>drop</a:t>
            </a:r>
            <a:r>
              <a:rPr lang="en-CA" dirty="0"/>
              <a:t> at the last layer, because Chronos-2's final layer is repurposed for forecasting, not idle."</a:t>
            </a:r>
          </a:p>
          <a:p>
            <a:endParaRPr lang="en-CA" dirty="0"/>
          </a:p>
          <a:p>
            <a:endParaRPr lang="en-CA" dirty="0"/>
          </a:p>
          <a:p>
            <a:endParaRPr lang="en-CA" dirty="0"/>
          </a:p>
          <a:p>
            <a:r>
              <a:rPr lang="en-CA" b="1" dirty="0"/>
              <a:t>Q: What's Head2Toe?</a:t>
            </a:r>
            <a:r>
              <a:rPr lang="en-CA" dirty="0"/>
              <a:t> → "</a:t>
            </a:r>
            <a:r>
              <a:rPr lang="en-CA" dirty="0" err="1"/>
              <a:t>Evci</a:t>
            </a:r>
            <a:r>
              <a:rPr lang="en-CA" dirty="0"/>
              <a:t> et al., ICML 2022 — a transfer method that selects features from </a:t>
            </a:r>
            <a:r>
              <a:rPr lang="en-CA" i="1" dirty="0"/>
              <a:t>all</a:t>
            </a:r>
            <a:r>
              <a:rPr lang="en-CA" dirty="0"/>
              <a:t> layers, not just the last, because intermediate features help transfer, especially under domain shift."</a:t>
            </a:r>
          </a:p>
          <a:p>
            <a:r>
              <a:rPr lang="en-CA" b="1" dirty="0"/>
              <a:t>Q: Why would a forecasting objective hurt classification specifically?</a:t>
            </a:r>
            <a:r>
              <a:rPr lang="en-CA" dirty="0"/>
              <a:t> → "The decoder only needs whatever predicts the next values; class identity isn't part of that objective, so the final layer can compress it away while middle layers still carry it."</a:t>
            </a:r>
          </a:p>
          <a:p>
            <a:r>
              <a:rPr lang="en-CA" b="1" dirty="0"/>
              <a:t>Q: Isn't 'transfer-relevant information' vague?</a:t>
            </a:r>
            <a:r>
              <a:rPr lang="en-CA" dirty="0"/>
              <a:t> → "I operationalize it concretely: how linearly decodable the class label is from that layer." (</a:t>
            </a:r>
            <a:r>
              <a:rPr lang="zh-CN" altLang="en-US" dirty="0"/>
              <a:t>引到 </a:t>
            </a:r>
            <a:r>
              <a:rPr lang="en-CA" dirty="0"/>
              <a:t>Slide 3)</a:t>
            </a:r>
          </a:p>
        </p:txBody>
      </p:sp>
      <p:sp>
        <p:nvSpPr>
          <p:cNvPr id="4" name="Slide Number Placeholder 3">
            <a:extLst>
              <a:ext uri="{FF2B5EF4-FFF2-40B4-BE49-F238E27FC236}">
                <a16:creationId xmlns:a16="http://schemas.microsoft.com/office/drawing/2014/main" id="{E95C719E-A68A-7678-BD73-602D023296CA}"/>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11490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3 — </a:t>
            </a:r>
            <a:r>
              <a:rPr lang="zh-CN" altLang="en-US" b="1" dirty="0"/>
              <a:t>方法 </a:t>
            </a:r>
            <a:r>
              <a:rPr lang="en-US" altLang="zh-CN" b="1" dirty="0"/>
              <a:t>+ </a:t>
            </a:r>
            <a:r>
              <a:rPr lang="zh-CN" altLang="en-US" b="1" dirty="0"/>
              <a:t>数据 </a:t>
            </a:r>
            <a:r>
              <a:rPr lang="en-US" altLang="zh-CN" b="1" dirty="0"/>
              <a:t>(~55</a:t>
            </a:r>
            <a:r>
              <a:rPr lang="en-CA" b="1" dirty="0"/>
              <a:t>s)</a:t>
            </a:r>
          </a:p>
          <a:p>
            <a:r>
              <a:rPr lang="en-CA" dirty="0"/>
              <a:t>🗣️ "I </a:t>
            </a:r>
            <a:r>
              <a:rPr lang="en-CA" b="1" dirty="0"/>
              <a:t>freeze</a:t>
            </a:r>
            <a:r>
              <a:rPr lang="en-CA" dirty="0"/>
              <a:t> the model and use it purely as a feature extractor — I never touch the forecasting head. For each of the 12 encoder layers, I read the hidden representation, and fit a </a:t>
            </a:r>
            <a:r>
              <a:rPr lang="en-CA" b="1" dirty="0"/>
              <a:t>deliberately weak linear probe</a:t>
            </a:r>
            <a:r>
              <a:rPr lang="en-CA" dirty="0"/>
              <a:t> — logistic regression — to predict the class. The probe is weak </a:t>
            </a:r>
            <a:r>
              <a:rPr lang="en-CA" b="1" dirty="0"/>
              <a:t>on purpose</a:t>
            </a:r>
            <a:r>
              <a:rPr lang="en-CA" dirty="0"/>
              <a:t>: its accuracy reflects the </a:t>
            </a:r>
            <a:r>
              <a:rPr lang="en-CA" b="1" dirty="0"/>
              <a:t>representation</a:t>
            </a:r>
            <a:r>
              <a:rPr lang="en-CA" dirty="0"/>
              <a:t>, not the probe's own power. So I get one accuracy per layer.</a:t>
            </a:r>
            <a:br>
              <a:rPr lang="en-CA" dirty="0"/>
            </a:br>
            <a:r>
              <a:rPr lang="en-CA" dirty="0"/>
              <a:t>On data: these are standard UEA classification benchmarks. My first picks were too easy — every layer scored near-perfect, so I switched to </a:t>
            </a:r>
            <a:r>
              <a:rPr lang="en-CA" b="1" dirty="0"/>
              <a:t>harder tasks across very different domains</a:t>
            </a:r>
            <a:r>
              <a:rPr lang="en-CA" dirty="0"/>
              <a:t>: EEG, handwriting, light-curves, chemistry.</a:t>
            </a:r>
          </a:p>
          <a:p>
            <a:endParaRPr lang="en-CA" dirty="0"/>
          </a:p>
          <a:p>
            <a:r>
              <a:rPr lang="en-CA" dirty="0"/>
              <a:t>”</a:t>
            </a:r>
            <a:br>
              <a:rPr lang="en-CA" dirty="0"/>
            </a:br>
            <a:br>
              <a:rPr lang="en-CA" dirty="0"/>
            </a:br>
            <a:r>
              <a:rPr lang="zh-CN" altLang="en-US" dirty="0"/>
              <a:t>过渡 → </a:t>
            </a:r>
            <a:r>
              <a:rPr lang="en-US" altLang="zh-CN" dirty="0"/>
              <a:t>"</a:t>
            </a:r>
            <a:r>
              <a:rPr lang="en-CA" dirty="0"/>
              <a:t>Here's what that looks like on a single dataset.”</a:t>
            </a:r>
            <a:br>
              <a:rPr lang="en-CA" dirty="0"/>
            </a:br>
            <a:br>
              <a:rPr lang="en-CA" dirty="0"/>
            </a:br>
            <a:endParaRPr lang="en-CA" dirty="0"/>
          </a:p>
          <a:p>
            <a:r>
              <a:rPr lang="zh-CN" altLang="en-US" b="1" dirty="0"/>
              <a:t>可能问题</a:t>
            </a:r>
            <a:r>
              <a:rPr lang="en-US" altLang="zh-CN" b="1" dirty="0"/>
              <a:t>(</a:t>
            </a:r>
            <a:r>
              <a:rPr lang="zh-CN" altLang="en-US" b="1" dirty="0"/>
              <a:t>这页最容易被问技术细节</a:t>
            </a:r>
            <a:r>
              <a:rPr lang="en-US" altLang="zh-CN" b="1" dirty="0"/>
              <a:t>)</a:t>
            </a:r>
            <a:endParaRPr lang="zh-CN" altLang="en-US" dirty="0"/>
          </a:p>
          <a:p>
            <a:r>
              <a:rPr lang="en-CA" b="1" dirty="0"/>
              <a:t>Q: How do you extract each layer's representation?</a:t>
            </a:r>
            <a:r>
              <a:rPr lang="en-CA" dirty="0"/>
              <a:t> → "Forward hooks on each of the 12 encoder blocks — the public API only exposes the last layer, so I hook them directly. The model runs once and I capture all 12."</a:t>
            </a:r>
          </a:p>
          <a:p>
            <a:r>
              <a:rPr lang="en-CA" b="1" dirty="0"/>
              <a:t>Q: How do you go from a layer's output to one vector?</a:t>
            </a:r>
            <a:r>
              <a:rPr lang="en-CA" dirty="0"/>
              <a:t> → "Mean-pool over the patch positions, giving one 768-d vector per layer; for multivariate series I run each channel through and concatenate."</a:t>
            </a:r>
          </a:p>
          <a:p>
            <a:r>
              <a:rPr lang="en-CA" b="1" dirty="0"/>
              <a:t>Q: Why a LINEAR probe? Why not an MLP?</a:t>
            </a:r>
            <a:r>
              <a:rPr lang="en-CA" dirty="0"/>
              <a:t> → "On purpose. A weak, linear probe measures information that's </a:t>
            </a:r>
            <a:r>
              <a:rPr lang="en-CA" i="1" dirty="0"/>
              <a:t>directly</a:t>
            </a:r>
            <a:r>
              <a:rPr lang="en-CA" dirty="0"/>
              <a:t> available, so layer differences reflect the representation, not the probe's capacity. It's also Head2Toe's setup." </a:t>
            </a:r>
            <a:r>
              <a:rPr lang="en-CA" i="1" dirty="0"/>
              <a:t>(</a:t>
            </a:r>
            <a:r>
              <a:rPr lang="zh-CN" altLang="en-US" i="1" dirty="0"/>
              <a:t>强答案 </a:t>
            </a:r>
            <a:r>
              <a:rPr lang="en-US" altLang="zh-CN" i="1" dirty="0"/>
              <a:t>— </a:t>
            </a:r>
            <a:r>
              <a:rPr lang="zh-CN" altLang="en-US" i="1" dirty="0"/>
              <a:t>一定会被问</a:t>
            </a:r>
            <a:r>
              <a:rPr lang="en-US" altLang="zh-CN" i="1" dirty="0"/>
              <a:t>)</a:t>
            </a:r>
            <a:endParaRPr lang="zh-CN" altLang="en-US" dirty="0"/>
          </a:p>
          <a:p>
            <a:r>
              <a:rPr lang="en-CA" b="1" dirty="0"/>
              <a:t>Q: </a:t>
            </a:r>
            <a:r>
              <a:rPr lang="zh-CN" altLang="en-US" b="1" dirty="0"/>
              <a:t>为什么用 </a:t>
            </a:r>
            <a:r>
              <a:rPr lang="en-CA" b="1" dirty="0"/>
              <a:t>classification </a:t>
            </a:r>
            <a:r>
              <a:rPr lang="zh-CN" altLang="en-US" b="1" dirty="0"/>
              <a:t>不用 </a:t>
            </a:r>
            <a:r>
              <a:rPr lang="en-CA" b="1" dirty="0"/>
              <a:t>forecasting?</a:t>
            </a:r>
            <a:r>
              <a:rPr lang="en-CA" dirty="0"/>
              <a:t> → "Classification gives a clean label to probe and matches Head2Toe. Probing forecasting quality per layer is a natural follow-up."</a:t>
            </a:r>
          </a:p>
          <a:p>
            <a:r>
              <a:rPr lang="en-CA" b="1" dirty="0"/>
              <a:t>Q: Why these specific datasets / how chosen?</a:t>
            </a:r>
            <a:r>
              <a:rPr lang="en-CA" dirty="0"/>
              <a:t> → "I needed </a:t>
            </a:r>
            <a:r>
              <a:rPr lang="en-CA" i="1" dirty="0"/>
              <a:t>headroom</a:t>
            </a:r>
            <a:r>
              <a:rPr lang="en-CA" dirty="0"/>
              <a:t> — tasks not near 100% — and domains far from Chronos's pretraining, where the effect should be strongest. Easy datasets like Epilepsy saturated and got dropped."</a:t>
            </a:r>
          </a:p>
          <a:p>
            <a:r>
              <a:rPr lang="en-CA" b="1" dirty="0"/>
              <a:t>Q: How big are the datasets / how much compute?</a:t>
            </a:r>
            <a:r>
              <a:rPr lang="en-CA" dirty="0"/>
              <a:t> → </a:t>
            </a:r>
            <a:r>
              <a:rPr lang="zh-CN" altLang="en-US" dirty="0"/>
              <a:t>用上面的表</a:t>
            </a:r>
            <a:r>
              <a:rPr lang="en-US" altLang="zh-CN" dirty="0"/>
              <a:t>;"</a:t>
            </a:r>
            <a:r>
              <a:rPr lang="en-CA" dirty="0"/>
              <a:t>all local on an M5, minutes per run, no cluster."</a:t>
            </a:r>
          </a:p>
          <a:p>
            <a:r>
              <a:rPr lang="en-CA" b="1" dirty="0"/>
              <a:t>Q: Did you tune the probe (C, etc.)?</a:t>
            </a:r>
            <a:r>
              <a:rPr lang="en-CA" dirty="0"/>
              <a:t> → "No tuning — </a:t>
            </a:r>
            <a:r>
              <a:rPr lang="en-CA" dirty="0" err="1"/>
              <a:t>sklearn</a:t>
            </a:r>
            <a:r>
              <a:rPr lang="en-CA" dirty="0"/>
              <a:t> defaults, just standardization and enough iterations. Deliberately, to keep it a clean measurement."</a:t>
            </a:r>
          </a:p>
          <a:p>
            <a:r>
              <a:rPr lang="en-CA" b="1" dirty="0"/>
              <a:t>Q: Train/test split?</a:t>
            </a:r>
            <a:r>
              <a:rPr lang="en-CA" dirty="0"/>
              <a:t> → "Canonical UEA splits; scaler and probe fit on train only."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4 — Finding 1 </a:t>
            </a:r>
            <a:r>
              <a:rPr lang="zh-CN" altLang="en-US" b="1" dirty="0"/>
              <a:t>形状 </a:t>
            </a:r>
            <a:r>
              <a:rPr lang="en-US" altLang="zh-CN" b="1" dirty="0"/>
              <a:t>(~45</a:t>
            </a:r>
            <a:r>
              <a:rPr lang="en-CA" b="1" dirty="0"/>
              <a:t>s)</a:t>
            </a:r>
          </a:p>
          <a:p>
            <a:r>
              <a:rPr lang="en-CA" dirty="0"/>
              <a:t>🗣️ "This is the core picture. Accuracy rises through the early layers as features build, plateaus in the middle, and drops at the last layer. The peak is in the middle band — well above chance, so the model genuinely encodes the </a:t>
            </a:r>
            <a:r>
              <a:rPr lang="en-CA" dirty="0" err="1"/>
              <a:t>task.That</a:t>
            </a:r>
            <a:r>
              <a:rPr lang="en-CA" dirty="0"/>
              <a:t> dip at the end is the tunnel effect: the final layer, specialized for forecasting, is a worse representation for classification than the middle.</a:t>
            </a:r>
          </a:p>
          <a:p>
            <a:br>
              <a:rPr lang="en-CA" altLang="zh-CN" b="1" dirty="0"/>
            </a:br>
            <a:r>
              <a:rPr lang="zh-CN" altLang="en-US" dirty="0"/>
              <a:t>过渡 → </a:t>
            </a:r>
            <a:r>
              <a:rPr lang="en-US" altLang="zh-CN" dirty="0"/>
              <a:t>"</a:t>
            </a:r>
            <a:r>
              <a:rPr lang="en-CA" dirty="0"/>
              <a:t>So Part 1 holds. Now the more interesting question — does this gap </a:t>
            </a:r>
            <a:r>
              <a:rPr lang="en-CA" b="1" dirty="0"/>
              <a:t>amplify</a:t>
            </a:r>
            <a:r>
              <a:rPr lang="en-CA" dirty="0"/>
              <a:t> out-of-distribution?"</a:t>
            </a:r>
            <a:br>
              <a:rPr lang="en-CA" altLang="zh-CN" b="1" dirty="0"/>
            </a:br>
            <a:br>
              <a:rPr lang="en-CA" altLang="zh-CN" b="1" dirty="0"/>
            </a:br>
            <a:br>
              <a:rPr lang="en-CA" altLang="zh-CN" b="1" dirty="0"/>
            </a:br>
            <a:r>
              <a:rPr lang="zh-CN" altLang="en-US" b="1" dirty="0"/>
              <a:t>可能问题</a:t>
            </a:r>
            <a:endParaRPr lang="zh-CN" altLang="en-US" dirty="0"/>
          </a:p>
          <a:p>
            <a:r>
              <a:rPr lang="en-CA" b="1" dirty="0"/>
              <a:t>Q: Why handwriting first?</a:t>
            </a:r>
            <a:r>
              <a:rPr lang="en-CA" dirty="0"/>
              <a:t> → "It has lots of headroom — 26 classes, so accuracy sits around 0.35–0.38, well below ceiling — which makes the layer-shape easy to see."</a:t>
            </a:r>
          </a:p>
          <a:p>
            <a:r>
              <a:rPr lang="en-CA" b="1" dirty="0"/>
              <a:t>Q: 0.38 accuracy sounds low?</a:t>
            </a:r>
            <a:r>
              <a:rPr lang="en-CA" dirty="0"/>
              <a:t> → "Chance is 0.038 — that's ~10× chance on a 26-way task with a single linear layer on frozen features. The </a:t>
            </a:r>
            <a:r>
              <a:rPr lang="en-CA" i="1" dirty="0"/>
              <a:t>shape across layers</a:t>
            </a:r>
            <a:r>
              <a:rPr lang="en-CA" dirty="0"/>
              <a:t> is the point, not the absolute number."</a:t>
            </a:r>
          </a:p>
          <a:p>
            <a:r>
              <a:rPr lang="en-CA" b="1" dirty="0"/>
              <a:t>Q: Is that dip at the end within noise?</a:t>
            </a:r>
            <a:r>
              <a:rPr lang="en-CA" dirty="0"/>
              <a:t> → "The shaded band is the 95% bootstrap CI; the last-layer drop is statistically resolved — quantified on the next slide across datasets."</a:t>
            </a:r>
          </a:p>
          <a:p>
            <a:r>
              <a:rPr lang="en-CA" b="1" dirty="0"/>
              <a:t>Q: What's the shaded region?</a:t>
            </a:r>
            <a:r>
              <a:rPr lang="en-CA" dirty="0"/>
              <a:t> → "95% bootstrap confidence band over the test 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5 — Finding 1 </a:t>
            </a:r>
            <a:r>
              <a:rPr lang="zh-CN" altLang="en-US" b="1" dirty="0"/>
              <a:t>复现 </a:t>
            </a:r>
            <a:r>
              <a:rPr lang="en-US" altLang="zh-CN" b="1" dirty="0"/>
              <a:t>(~50</a:t>
            </a:r>
            <a:r>
              <a:rPr lang="en-CA" b="1" dirty="0"/>
              <a:t>s)</a:t>
            </a:r>
          </a:p>
          <a:p>
            <a:r>
              <a:rPr lang="en-CA" dirty="0"/>
              <a:t>🗣️ "Yes. This is the late-layer deficit — middle band minus last layer — across all six datasets with headroom. </a:t>
            </a:r>
            <a:r>
              <a:rPr lang="en-CA" b="1" dirty="0"/>
              <a:t>Five of six</a:t>
            </a:r>
            <a:r>
              <a:rPr lang="en-CA" dirty="0"/>
              <a:t> have a confidence interval that excludes zero: the last layer is </a:t>
            </a:r>
            <a:r>
              <a:rPr lang="en-CA" b="1" dirty="0"/>
              <a:t>significantly</a:t>
            </a:r>
            <a:r>
              <a:rPr lang="en-CA" dirty="0"/>
              <a:t> worse. And these span wildly different domains — EEG, handwriting, gesture, chemistry, light-curves. The one exception, SCP2, sits at chance everywhere, so it simply </a:t>
            </a:r>
            <a:r>
              <a:rPr lang="en-CA" b="1" dirty="0"/>
              <a:t>can't</a:t>
            </a:r>
            <a:r>
              <a:rPr lang="en-CA" dirty="0"/>
              <a:t> show the effect — it's underpowered, not a counterexample.</a:t>
            </a:r>
            <a:br>
              <a:rPr lang="en-CA" dirty="0"/>
            </a:br>
            <a:r>
              <a:rPr lang="en-CA" dirty="0"/>
              <a:t>I also checked this survives different feature-pooling choices and twenty re-shuffles of the data split. </a:t>
            </a:r>
            <a:r>
              <a:rPr lang="en-CA" b="1" dirty="0"/>
              <a:t>Part 1 is solid.</a:t>
            </a:r>
            <a:r>
              <a:rPr lang="en-CA" dirty="0"/>
              <a:t>"</a:t>
            </a:r>
          </a:p>
          <a:p>
            <a:endParaRPr lang="en-CA" altLang="zh-CN" dirty="0"/>
          </a:p>
          <a:p>
            <a:endParaRPr lang="en-CA" altLang="zh-CN" dirty="0"/>
          </a:p>
          <a:p>
            <a:r>
              <a:rPr lang="zh-CN" altLang="en-US" dirty="0"/>
              <a:t>过渡 → </a:t>
            </a:r>
            <a:r>
              <a:rPr lang="en-US" altLang="zh-CN" dirty="0"/>
              <a:t>"</a:t>
            </a:r>
            <a:r>
              <a:rPr lang="en-CA" dirty="0"/>
              <a:t>So Part 1 holds. Now the more interesting question — does this gap </a:t>
            </a:r>
            <a:r>
              <a:rPr lang="en-CA" b="1" dirty="0"/>
              <a:t>amplify</a:t>
            </a:r>
            <a:r>
              <a:rPr lang="en-CA" dirty="0"/>
              <a:t> out-of-distribution?"</a:t>
            </a:r>
          </a:p>
          <a:p>
            <a:r>
              <a:rPr lang="zh-CN" altLang="en-US" b="1" dirty="0"/>
              <a:t>可能问题</a:t>
            </a:r>
            <a:endParaRPr lang="zh-CN" altLang="en-US" dirty="0"/>
          </a:p>
          <a:p>
            <a:r>
              <a:rPr lang="en-CA" b="1" dirty="0"/>
              <a:t>Q: </a:t>
            </a:r>
            <a:r>
              <a:rPr lang="zh-CN" altLang="en-US" b="1" dirty="0"/>
              <a:t>你怎么定义 </a:t>
            </a:r>
            <a:r>
              <a:rPr lang="en-US" altLang="zh-CN" b="1" dirty="0"/>
              <a:t>"</a:t>
            </a:r>
            <a:r>
              <a:rPr lang="en-CA" b="1" dirty="0"/>
              <a:t>middle" </a:t>
            </a:r>
            <a:r>
              <a:rPr lang="zh-CN" altLang="en-US" b="1" dirty="0"/>
              <a:t>和 </a:t>
            </a:r>
            <a:r>
              <a:rPr lang="en-US" altLang="zh-CN" b="1" dirty="0"/>
              <a:t>"</a:t>
            </a:r>
            <a:r>
              <a:rPr lang="en-CA" b="1" dirty="0"/>
              <a:t>last"?</a:t>
            </a:r>
            <a:r>
              <a:rPr lang="zh-CN" altLang="en-US" b="1" dirty="0"/>
              <a:t>有没有 </a:t>
            </a:r>
            <a:r>
              <a:rPr lang="en-CA" b="1" dirty="0"/>
              <a:t>cherry-pick?</a:t>
            </a:r>
            <a:r>
              <a:rPr lang="en-CA" dirty="0"/>
              <a:t> → "Middle is a </a:t>
            </a:r>
            <a:r>
              <a:rPr lang="en-CA" i="1" dirty="0"/>
              <a:t>pre-declared</a:t>
            </a:r>
            <a:r>
              <a:rPr lang="en-CA" dirty="0"/>
              <a:t> band, layers 3–8; last is layer 11. I didn't pick the best layer post-hoc. I also report the argmax version but label it as selection-biased." </a:t>
            </a:r>
            <a:r>
              <a:rPr lang="en-CA" i="1" dirty="0"/>
              <a:t>(</a:t>
            </a:r>
            <a:r>
              <a:rPr lang="zh-CN" altLang="en-US" i="1" dirty="0"/>
              <a:t>关键诚实答案</a:t>
            </a:r>
            <a:r>
              <a:rPr lang="en-US" altLang="zh-CN" i="1" dirty="0"/>
              <a:t>)</a:t>
            </a:r>
            <a:endParaRPr lang="zh-CN" altLang="en-US" dirty="0"/>
          </a:p>
          <a:p>
            <a:r>
              <a:rPr lang="en-CA" b="1" dirty="0"/>
              <a:t>Q: Multiple comparisons — you ran many tests?</a:t>
            </a:r>
            <a:r>
              <a:rPr lang="en-CA" dirty="0"/>
              <a:t> → "For Part 1 the evidence is </a:t>
            </a:r>
            <a:r>
              <a:rPr lang="en-CA" i="1" dirty="0"/>
              <a:t>consistent direction</a:t>
            </a:r>
            <a:r>
              <a:rPr lang="en-CA" dirty="0"/>
              <a:t> across independent datasets — replication, which is the opposite of cherry-picking a lone significant test."</a:t>
            </a:r>
          </a:p>
          <a:p>
            <a:r>
              <a:rPr lang="en-CA" b="1" dirty="0"/>
              <a:t>Q: LSST </a:t>
            </a:r>
            <a:r>
              <a:rPr lang="zh-CN" altLang="en-US" b="1" dirty="0"/>
              <a:t>的效应只有 </a:t>
            </a:r>
            <a:r>
              <a:rPr lang="en-US" altLang="zh-CN" b="1" dirty="0"/>
              <a:t>+.015,</a:t>
            </a:r>
            <a:r>
              <a:rPr lang="zh-CN" altLang="en-US" b="1" dirty="0"/>
              <a:t>有意义吗</a:t>
            </a:r>
            <a:r>
              <a:rPr lang="en-US" altLang="zh-CN" b="1" dirty="0"/>
              <a:t>?</a:t>
            </a:r>
            <a:r>
              <a:rPr lang="zh-CN" altLang="en-US" dirty="0"/>
              <a:t> → </a:t>
            </a:r>
            <a:r>
              <a:rPr lang="en-US" altLang="zh-CN" dirty="0"/>
              <a:t>"</a:t>
            </a:r>
            <a:r>
              <a:rPr lang="en-CA" dirty="0"/>
              <a:t>Small but significant — its test set is 2466, so even a small gap resolves. The bigger effects (</a:t>
            </a:r>
            <a:r>
              <a:rPr lang="en-CA" dirty="0" err="1"/>
              <a:t>UWave</a:t>
            </a:r>
            <a:r>
              <a:rPr lang="en-CA" dirty="0"/>
              <a:t>, Ethanol, SCP1) are ~.06–.09."</a:t>
            </a:r>
          </a:p>
          <a:p>
            <a:r>
              <a:rPr lang="en-CA" b="1" dirty="0"/>
              <a:t>Q: Why is SCP2 not significant?</a:t>
            </a:r>
            <a:r>
              <a:rPr lang="en-CA" dirty="0"/>
              <a:t> → "Its probe sits at chance (~.49 on a binary task), so there's no signal to differentiate layers — underpowered, not contradictory."</a:t>
            </a:r>
          </a:p>
          <a:p>
            <a:r>
              <a:rPr lang="en-CA" b="1" dirty="0"/>
              <a:t>Q: </a:t>
            </a:r>
            <a:r>
              <a:rPr lang="zh-CN" altLang="en-US" b="1" dirty="0"/>
              <a:t>这些是 </a:t>
            </a:r>
            <a:r>
              <a:rPr lang="en-CA" b="1" dirty="0"/>
              <a:t>paired CI </a:t>
            </a:r>
            <a:r>
              <a:rPr lang="zh-CN" altLang="en-US" b="1" dirty="0"/>
              <a:t>吗</a:t>
            </a:r>
            <a:r>
              <a:rPr lang="en-US" altLang="zh-CN" b="1" dirty="0"/>
              <a:t>?</a:t>
            </a:r>
            <a:r>
              <a:rPr lang="zh-CN" altLang="en-US" dirty="0"/>
              <a:t> → </a:t>
            </a:r>
            <a:r>
              <a:rPr lang="en-US" altLang="zh-CN" dirty="0"/>
              <a:t>"</a:t>
            </a:r>
            <a:r>
              <a:rPr lang="en-CA" dirty="0"/>
              <a:t>Yes — paired bootstrap, same test samples for the middle band and the last layer, so the difference is far less noisy than either accuracy alone."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6 — Finding 2 null (~45s) ⚠️ </a:t>
            </a:r>
            <a:r>
              <a:rPr lang="zh-CN" altLang="en-US" b="1" dirty="0"/>
              <a:t>别超时</a:t>
            </a:r>
          </a:p>
          <a:p>
            <a:r>
              <a:rPr lang="en-CA" dirty="0"/>
              <a:t>🗣️ "Here Part 1's success meets an honest negative. I predicted the middle-over-last gap would </a:t>
            </a:r>
            <a:r>
              <a:rPr lang="en-CA" b="1" dirty="0"/>
              <a:t>widen</a:t>
            </a:r>
            <a:r>
              <a:rPr lang="en-CA" dirty="0"/>
              <a:t> under distribution shift. I applied three synthetic, label-preserving shifts — Gaussian noise, time-warp, drift — across six datasets, eighteen combinations. Only </a:t>
            </a:r>
            <a:r>
              <a:rPr lang="en-CA" b="1" dirty="0"/>
              <a:t>three</a:t>
            </a:r>
            <a:r>
              <a:rPr lang="en-CA" dirty="0"/>
              <a:t> showed significant amplification — and </a:t>
            </a:r>
            <a:r>
              <a:rPr lang="en-CA" b="1" dirty="0"/>
              <a:t>two</a:t>
            </a:r>
            <a:r>
              <a:rPr lang="en-CA" dirty="0"/>
              <a:t> went the </a:t>
            </a:r>
            <a:r>
              <a:rPr lang="en-CA" b="1" dirty="0"/>
              <a:t>opposite</a:t>
            </a:r>
            <a:r>
              <a:rPr lang="en-CA" dirty="0"/>
              <a:t> way, with the rest including zero. Scattered in both directions — that's </a:t>
            </a:r>
            <a:r>
              <a:rPr lang="en-CA" b="1" dirty="0"/>
              <a:t>noise, not amplification.</a:t>
            </a:r>
            <a:r>
              <a:rPr lang="en-CA" dirty="0"/>
              <a:t> So </a:t>
            </a:r>
            <a:r>
              <a:rPr lang="en-CA" b="1" dirty="0"/>
              <a:t>Part 2 does not hold.</a:t>
            </a:r>
            <a:br>
              <a:rPr lang="en-CA" dirty="0"/>
            </a:br>
            <a:r>
              <a:rPr lang="en-CA" dirty="0"/>
              <a:t>But the failure is informative. Look at the Gaussian panels: the damage hits the </a:t>
            </a:r>
            <a:r>
              <a:rPr lang="en-CA" b="1" dirty="0"/>
              <a:t>early</a:t>
            </a:r>
            <a:r>
              <a:rPr lang="en-CA" dirty="0"/>
              <a:t> layers — </a:t>
            </a:r>
            <a:r>
              <a:rPr lang="en-CA" dirty="0" err="1"/>
              <a:t>UWave</a:t>
            </a:r>
            <a:r>
              <a:rPr lang="en-CA" dirty="0"/>
              <a:t> and SCP1 crater at layers zero and one — </a:t>
            </a:r>
            <a:r>
              <a:rPr lang="en-CA" b="1" dirty="0"/>
              <a:t>not</a:t>
            </a:r>
            <a:r>
              <a:rPr lang="en-CA" dirty="0"/>
              <a:t> the last layer. That's the </a:t>
            </a:r>
            <a:r>
              <a:rPr lang="en-CA" b="1" dirty="0"/>
              <a:t>opposite</a:t>
            </a:r>
            <a:r>
              <a:rPr lang="en-CA" dirty="0"/>
              <a:t> of a tunnel prediction. It makes sense: the early layers sit closest to the raw input, so input noise hits them first. This echoes 'surgical fine-tuning' — input corruptions are best fixed at the early layers. So it's a real phenomenon, just a </a:t>
            </a:r>
            <a:r>
              <a:rPr lang="en-CA" b="1" dirty="0"/>
              <a:t>different</a:t>
            </a:r>
            <a:r>
              <a:rPr lang="en-CA" dirty="0"/>
              <a:t> one — input-coupling, not the tunnel effect.”</a:t>
            </a:r>
          </a:p>
          <a:p>
            <a:endParaRPr lang="en-CA" dirty="0"/>
          </a:p>
          <a:p>
            <a:r>
              <a:rPr lang="zh-CN" altLang="en-US" dirty="0"/>
              <a:t>过渡 → </a:t>
            </a:r>
            <a:r>
              <a:rPr lang="en-US" altLang="zh-CN" dirty="0"/>
              <a:t>"</a:t>
            </a:r>
            <a:r>
              <a:rPr lang="en-CA" dirty="0"/>
              <a:t>Let me put the two parts together."</a:t>
            </a:r>
          </a:p>
          <a:p>
            <a:endParaRPr lang="en-CA" altLang="zh-CN" b="1" dirty="0"/>
          </a:p>
          <a:p>
            <a:endParaRPr lang="en-CA" altLang="zh-CN" b="1" dirty="0"/>
          </a:p>
          <a:p>
            <a:r>
              <a:rPr lang="zh-CN" altLang="en-US" b="1" dirty="0"/>
              <a:t>可能问题</a:t>
            </a:r>
            <a:endParaRPr lang="zh-CN" altLang="en-US" dirty="0"/>
          </a:p>
          <a:p>
            <a:r>
              <a:rPr lang="en-CA" b="1" dirty="0"/>
              <a:t>Q: What counts as "OOD" here?</a:t>
            </a:r>
            <a:r>
              <a:rPr lang="en-CA" dirty="0"/>
              <a:t> → "Synthetic, label-preserving input shifts — Gaussian noise, time-warp, baseline drift — applied to the test inputs only. The probe stays frozen from clean training." </a:t>
            </a:r>
            <a:r>
              <a:rPr lang="en-CA" i="1" dirty="0"/>
              <a:t>(</a:t>
            </a:r>
            <a:r>
              <a:rPr lang="zh-CN" altLang="en-US" i="1" dirty="0"/>
              <a:t>同时承认局限 → 引到 </a:t>
            </a:r>
            <a:r>
              <a:rPr lang="en-CA" i="1" dirty="0"/>
              <a:t>Slide 8)</a:t>
            </a:r>
            <a:endParaRPr lang="en-CA" dirty="0"/>
          </a:p>
          <a:p>
            <a:r>
              <a:rPr lang="en-CA" b="1" dirty="0"/>
              <a:t>Q: Why did Gaussian noise work but the others didn't?</a:t>
            </a:r>
            <a:r>
              <a:rPr lang="en-CA" dirty="0"/>
              <a:t> → "Gaussian noise is input-coupled and hits some layers more than others; time-warp degrades </a:t>
            </a:r>
            <a:r>
              <a:rPr lang="en-CA" i="1" dirty="0"/>
              <a:t>every</a:t>
            </a:r>
            <a:r>
              <a:rPr lang="en-CA" dirty="0"/>
              <a:t> layer about equally, so there's no extra penalty at the last layer to amplify." (</a:t>
            </a:r>
            <a:r>
              <a:rPr lang="zh-CN" altLang="en-US" dirty="0"/>
              <a:t>被追问翻 </a:t>
            </a:r>
            <a:r>
              <a:rPr lang="en-CA" dirty="0"/>
              <a:t>backup Slide 10)</a:t>
            </a:r>
          </a:p>
          <a:p>
            <a:r>
              <a:rPr lang="en-CA" b="1" dirty="0"/>
              <a:t>Q: Could the one positive (SCP1/Gaussian) be a false positive?</a:t>
            </a:r>
            <a:r>
              <a:rPr lang="en-CA" dirty="0"/>
              <a:t> → "Honestly, yes — with six conditions, one significant cell is roughly what you'd expect by chance. That's exactly why I'm not claiming Part 2." </a:t>
            </a:r>
            <a:r>
              <a:rPr lang="en-CA" i="1" dirty="0"/>
              <a:t>(</a:t>
            </a:r>
            <a:r>
              <a:rPr lang="zh-CN" altLang="en-US" i="1" dirty="0"/>
              <a:t>诚实</a:t>
            </a:r>
            <a:r>
              <a:rPr lang="en-US" altLang="zh-CN" i="1" dirty="0"/>
              <a:t>,</a:t>
            </a:r>
            <a:r>
              <a:rPr lang="en-CA" i="1" dirty="0"/>
              <a:t>Irina </a:t>
            </a:r>
            <a:r>
              <a:rPr lang="zh-CN" altLang="en-US" i="1" dirty="0"/>
              <a:t>会喜欢</a:t>
            </a:r>
            <a:r>
              <a:rPr lang="en-US" altLang="zh-CN" i="1" dirty="0"/>
              <a:t>)</a:t>
            </a:r>
            <a:endParaRPr lang="zh-CN" altLang="en-US" dirty="0"/>
          </a:p>
          <a:p>
            <a:r>
              <a:rPr lang="en-CA" b="1" dirty="0"/>
              <a:t>Q: Maybe your shifts are too weak/strong?</a:t>
            </a:r>
            <a:r>
              <a:rPr lang="en-CA" dirty="0"/>
              <a:t> → "Possible — I checked the probe stays well above chance under each shift, so labels survive. But the deeper issue is synthetic ≠ real domain shift, which is my next experiment."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2793501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ltLang="zh-CN" b="1" dirty="0"/>
              <a:t>#11 </a:t>
            </a:r>
            <a:r>
              <a:rPr lang="zh-CN" altLang="en-US" b="1" dirty="0"/>
              <a:t>全 </a:t>
            </a:r>
            <a:r>
              <a:rPr lang="en-US" altLang="zh-CN" b="1" dirty="0"/>
              <a:t>18 </a:t>
            </a:r>
            <a:r>
              <a:rPr lang="zh-CN" altLang="en-US" b="1" dirty="0"/>
              <a:t>格表</a:t>
            </a:r>
            <a:r>
              <a:rPr lang="zh-CN" altLang="en-US" dirty="0"/>
              <a:t> </a:t>
            </a:r>
            <a:r>
              <a:rPr lang="en-US" altLang="zh-CN" dirty="0"/>
              <a:t>—— </a:t>
            </a:r>
            <a:r>
              <a:rPr lang="zh-CN" altLang="en-US" dirty="0"/>
              <a:t>被问具体数</a:t>
            </a:r>
            <a:r>
              <a:rPr lang="en-US" altLang="zh-CN" dirty="0"/>
              <a:t>:"</a:t>
            </a:r>
            <a:r>
              <a:rPr lang="en-CA" dirty="0"/>
              <a:t>SCP1 under gauss amplifies +0.083, CI excludes zero;</a:t>
            </a:r>
            <a:r>
              <a:rPr lang="zh-CN" altLang="en-US" dirty="0"/>
              <a:t>整体 </a:t>
            </a:r>
            <a:r>
              <a:rPr lang="en-US" altLang="zh-CN" dirty="0"/>
              <a:t>3 </a:t>
            </a:r>
            <a:r>
              <a:rPr lang="zh-CN" altLang="en-US" dirty="0"/>
              <a:t>正 </a:t>
            </a:r>
            <a:r>
              <a:rPr lang="en-US" altLang="zh-CN" dirty="0"/>
              <a:t>2 </a:t>
            </a:r>
            <a:r>
              <a:rPr lang="zh-CN" altLang="en-US" dirty="0"/>
              <a:t>负 </a:t>
            </a:r>
            <a:r>
              <a:rPr lang="en-US" altLang="zh-CN" dirty="0"/>
              <a:t>13 </a:t>
            </a:r>
            <a:r>
              <a:rPr lang="zh-CN" altLang="en-US" dirty="0"/>
              <a:t>含零</a:t>
            </a:r>
            <a:r>
              <a:rPr lang="en-US" altLang="zh-CN" dirty="0"/>
              <a:t>,</a:t>
            </a:r>
            <a:r>
              <a:rPr lang="zh-CN" altLang="en-US" dirty="0"/>
              <a:t>双向散开 </a:t>
            </a:r>
            <a:r>
              <a:rPr lang="en-US" altLang="zh-CN" dirty="0"/>
              <a:t>= </a:t>
            </a:r>
            <a:r>
              <a:rPr lang="en-CA" dirty="0"/>
              <a:t>null。”</a:t>
            </a:r>
          </a:p>
          <a:p>
            <a:endParaRPr lang="en-CA" dirty="0"/>
          </a:p>
          <a:p>
            <a:r>
              <a:rPr lang="en-CA" dirty="0"/>
              <a:t>All CIs are </a:t>
            </a:r>
            <a:r>
              <a:rPr lang="en-CA" b="1" dirty="0"/>
              <a:t>paired bootstrap</a:t>
            </a:r>
            <a:r>
              <a:rPr lang="en-CA" dirty="0"/>
              <a:t>, B=2000, seed=0. For the forest plot I resample test samples with replacement and apply the </a:t>
            </a:r>
            <a:r>
              <a:rPr lang="en-CA" b="1" dirty="0"/>
              <a:t>same indices</a:t>
            </a:r>
            <a:r>
              <a:rPr lang="en-CA" dirty="0"/>
              <a:t> to the middle-band and last-layer correctness — paired, so it cancels shared sample-difficulty noise. For amplification it's a </a:t>
            </a:r>
            <a:r>
              <a:rPr lang="en-CA" b="1" dirty="0"/>
              <a:t>difference-in-differences</a:t>
            </a:r>
            <a:r>
              <a:rPr lang="en-CA" dirty="0"/>
              <a:t> with the same resample indices across all four vectors — ID and OOD are the same test samples, so it's doubly paired. CI excludes zero → significant."</a:t>
            </a:r>
            <a:endParaRPr lang="en-US" dirty="0"/>
          </a:p>
        </p:txBody>
      </p:sp>
    </p:spTree>
    <p:extLst>
      <p:ext uri="{BB962C8B-B14F-4D97-AF65-F5344CB8AC3E}">
        <p14:creationId xmlns:p14="http://schemas.microsoft.com/office/powerpoint/2010/main" val="2772516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7 — </a:t>
            </a:r>
            <a:r>
              <a:rPr lang="zh-CN" altLang="en-US" b="1" dirty="0"/>
              <a:t>结论 </a:t>
            </a:r>
            <a:r>
              <a:rPr lang="en-US" altLang="zh-CN" b="1" dirty="0"/>
              <a:t>(~40</a:t>
            </a:r>
            <a:r>
              <a:rPr lang="en-CA" b="1" dirty="0"/>
              <a:t>s) ⭐ </a:t>
            </a:r>
            <a:r>
              <a:rPr lang="zh-CN" altLang="en-US" b="1" dirty="0"/>
              <a:t>放慢</a:t>
            </a:r>
          </a:p>
          <a:p>
            <a:r>
              <a:rPr lang="en-CA" dirty="0"/>
              <a:t>🗣️ "Two clean takeaways. </a:t>
            </a:r>
            <a:r>
              <a:rPr lang="en-CA" b="1" dirty="0"/>
              <a:t>Part 1 — supported and robust:</a:t>
            </a:r>
            <a:r>
              <a:rPr lang="en-CA" dirty="0"/>
              <a:t> the middle layers carry more task information than the last, significant across diverse domains and every robustness check. </a:t>
            </a:r>
            <a:r>
              <a:rPr lang="en-CA" b="1" dirty="0"/>
              <a:t>Part 2 — not established:</a:t>
            </a:r>
            <a:r>
              <a:rPr lang="en-CA" dirty="0"/>
              <a:t> no general OOD amplification — significant in just three of eighteen conditions, two of them reversed.</a:t>
            </a:r>
            <a:br>
              <a:rPr lang="en-CA" dirty="0"/>
            </a:br>
            <a:r>
              <a:rPr lang="en-CA" dirty="0"/>
              <a:t>One clear positive result, and one honest null — both well-tested."</a:t>
            </a:r>
          </a:p>
          <a:p>
            <a:r>
              <a:rPr lang="zh-CN" altLang="en-US" dirty="0"/>
              <a:t>过渡 → </a:t>
            </a:r>
            <a:r>
              <a:rPr lang="en-US" altLang="zh-CN" dirty="0"/>
              <a:t>"</a:t>
            </a:r>
            <a:r>
              <a:rPr lang="en-CA" dirty="0"/>
              <a:t>Which leaves one important open question."</a:t>
            </a:r>
          </a:p>
          <a:p>
            <a:endParaRPr lang="en-CA" altLang="zh-CN" b="1" dirty="0"/>
          </a:p>
          <a:p>
            <a:endParaRPr lang="en-CA" altLang="zh-CN" b="1" dirty="0"/>
          </a:p>
          <a:p>
            <a:r>
              <a:rPr lang="zh-CN" altLang="en-US" b="1" dirty="0"/>
              <a:t>可能问题</a:t>
            </a:r>
            <a:endParaRPr lang="zh-CN" altLang="en-US" dirty="0"/>
          </a:p>
          <a:p>
            <a:r>
              <a:rPr lang="en-CA" b="1" dirty="0"/>
              <a:t>Q: So what's the practical takeaway?</a:t>
            </a:r>
            <a:r>
              <a:rPr lang="en-CA" dirty="0"/>
              <a:t> → "If you use frozen Chronos-2 as a feature extractor for downstream classification, don't default to the last layer — middle layers are better, and a Head2Toe-style multi-layer readout would likely help."</a:t>
            </a:r>
          </a:p>
          <a:p>
            <a:r>
              <a:rPr lang="en-CA" b="1" dirty="0"/>
              <a:t>Q: Does this match the LLM/vision tunnel-effect findings?</a:t>
            </a:r>
            <a:r>
              <a:rPr lang="en-CA" dirty="0"/>
              <a:t> → "Yes — consistent direction with </a:t>
            </a:r>
            <a:r>
              <a:rPr lang="en-CA" dirty="0" err="1"/>
              <a:t>Masarczyk</a:t>
            </a:r>
            <a:r>
              <a:rPr lang="en-CA" dirty="0"/>
              <a:t> et al.; the contribution is showing it in a </a:t>
            </a:r>
            <a:r>
              <a:rPr lang="en-CA" i="1" dirty="0"/>
              <a:t>time-series</a:t>
            </a:r>
            <a:r>
              <a:rPr lang="en-CA" dirty="0"/>
              <a:t> foundation model, which hadn't been checked."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8 — </a:t>
            </a:r>
            <a:r>
              <a:rPr lang="zh-CN" altLang="en-US" b="1" dirty="0"/>
              <a:t>下一步 </a:t>
            </a:r>
            <a:r>
              <a:rPr lang="en-US" altLang="zh-CN" b="1" dirty="0"/>
              <a:t>(~45</a:t>
            </a:r>
            <a:r>
              <a:rPr lang="en-CA" b="1" dirty="0"/>
              <a:t>s) </a:t>
            </a:r>
            <a:r>
              <a:rPr lang="zh-CN" altLang="en-US" b="1" dirty="0"/>
              <a:t>收尾邀请讨论</a:t>
            </a:r>
          </a:p>
          <a:p>
            <a:r>
              <a:rPr lang="en-CA" dirty="0"/>
              <a:t>🗣️ </a:t>
            </a:r>
          </a:p>
          <a:p>
            <a:endParaRPr lang="en-CA" altLang="zh-CN" b="1" dirty="0"/>
          </a:p>
          <a:p>
            <a:r>
              <a:rPr lang="en-CA" dirty="0"/>
              <a:t>"There's a confound I can't yet resolve: is the late-layer drop </a:t>
            </a:r>
            <a:r>
              <a:rPr lang="en-CA" b="1" dirty="0"/>
              <a:t>really</a:t>
            </a:r>
            <a:r>
              <a:rPr lang="en-CA" dirty="0"/>
              <a:t> the tunnel effect, or just the model being </a:t>
            </a:r>
            <a:r>
              <a:rPr lang="en-CA" b="1" dirty="0"/>
              <a:t>out of its depth</a:t>
            </a:r>
            <a:r>
              <a:rPr lang="en-CA" dirty="0"/>
              <a:t> on unfamiliar data? My synthetic shifts can't separate those.</a:t>
            </a:r>
            <a:br>
              <a:rPr lang="en-CA" dirty="0"/>
            </a:br>
            <a:r>
              <a:rPr lang="en-CA" dirty="0"/>
              <a:t>The clean test: take a matched </a:t>
            </a:r>
            <a:r>
              <a:rPr lang="en-CA" b="1" dirty="0"/>
              <a:t>in-distribution</a:t>
            </a:r>
            <a:r>
              <a:rPr lang="en-CA" dirty="0"/>
              <a:t> task and an </a:t>
            </a:r>
            <a:r>
              <a:rPr lang="en-CA" b="1" dirty="0"/>
              <a:t>out-of-distribution</a:t>
            </a:r>
            <a:r>
              <a:rPr lang="en-CA" dirty="0"/>
              <a:t> task, same probe, and compare the drop. If it's genuinely the tunnel effect, the drop should </a:t>
            </a:r>
            <a:r>
              <a:rPr lang="en-CA" b="1" dirty="0"/>
              <a:t>grow with distance</a:t>
            </a:r>
            <a:r>
              <a:rPr lang="en-CA" dirty="0"/>
              <a:t> from the training distribution.</a:t>
            </a:r>
            <a:br>
              <a:rPr lang="en-CA" dirty="0"/>
            </a:br>
            <a:r>
              <a:rPr lang="en-CA" dirty="0"/>
              <a:t>And as a second next step — I want to test the same drop on the model's </a:t>
            </a:r>
            <a:r>
              <a:rPr lang="en-CA" b="1" dirty="0"/>
              <a:t>native forecasting objective</a:t>
            </a:r>
            <a:r>
              <a:rPr lang="en-CA" dirty="0"/>
              <a:t>, not just classification probes."</a:t>
            </a:r>
          </a:p>
          <a:p>
            <a:endParaRPr lang="en-CA" altLang="zh-CN" dirty="0"/>
          </a:p>
          <a:p>
            <a:endParaRPr lang="en-CA" altLang="zh-CN" dirty="0"/>
          </a:p>
          <a:p>
            <a:r>
              <a:rPr lang="zh-CN" altLang="en-US" dirty="0"/>
              <a:t>过渡</a:t>
            </a:r>
            <a:r>
              <a:rPr lang="en-US" altLang="zh-CN" dirty="0"/>
              <a:t>(</a:t>
            </a:r>
            <a:r>
              <a:rPr lang="zh-CN" altLang="en-US" dirty="0"/>
              <a:t>收尾</a:t>
            </a:r>
            <a:r>
              <a:rPr lang="en-US" altLang="zh-CN" dirty="0"/>
              <a:t>)→ "</a:t>
            </a:r>
            <a:r>
              <a:rPr lang="en-CA" dirty="0"/>
              <a:t>That's the story: a robust Part 1, an honest null on Part 2, and a concrete path to pin down the mechanism. Happy to take questions — I've got the full per-shift numbers and robustness checks in backup."</a:t>
            </a:r>
          </a:p>
          <a:p>
            <a:endParaRPr lang="en-CA" altLang="zh-CN" b="1" dirty="0"/>
          </a:p>
          <a:p>
            <a:endParaRPr lang="en-CA" altLang="zh-CN" b="1" dirty="0"/>
          </a:p>
          <a:p>
            <a:r>
              <a:rPr lang="zh-CN" altLang="en-US" b="1" dirty="0"/>
              <a:t>可能问题</a:t>
            </a:r>
            <a:endParaRPr lang="zh-CN" altLang="en-US" dirty="0"/>
          </a:p>
          <a:p>
            <a:r>
              <a:rPr lang="en-CA" b="1" dirty="0"/>
              <a:t>Q: How would you define "in-distribution" for Chronos-2?</a:t>
            </a:r>
            <a:r>
              <a:rPr lang="en-CA" dirty="0"/>
              <a:t> → "Tasks built from forecasting-style series with clear trend/seasonality, closer to its pretraining mix — versus the EEG/spectra/light-curve tasks, which are far from it." </a:t>
            </a:r>
            <a:r>
              <a:rPr lang="en-CA" i="1" dirty="0"/>
              <a:t>(</a:t>
            </a:r>
            <a:r>
              <a:rPr lang="zh-CN" altLang="en-US" i="1" dirty="0"/>
              <a:t>承认这本身需要小心设计</a:t>
            </a:r>
            <a:r>
              <a:rPr lang="en-US" altLang="zh-CN" i="1" dirty="0"/>
              <a:t>)</a:t>
            </a:r>
            <a:endParaRPr lang="zh-CN" altLang="en-US" dirty="0"/>
          </a:p>
          <a:p>
            <a:r>
              <a:rPr lang="en-CA" b="1" dirty="0"/>
              <a:t>Q: </a:t>
            </a:r>
            <a:r>
              <a:rPr lang="zh-CN" altLang="en-US" b="1" dirty="0"/>
              <a:t>还有别的 </a:t>
            </a:r>
            <a:r>
              <a:rPr lang="en-CA" b="1" dirty="0"/>
              <a:t>next steps?</a:t>
            </a:r>
            <a:r>
              <a:rPr lang="en-CA" dirty="0"/>
              <a:t> → </a:t>
            </a:r>
            <a:r>
              <a:rPr lang="zh-CN" altLang="en-US" dirty="0"/>
              <a:t>见下方 </a:t>
            </a:r>
            <a:r>
              <a:rPr lang="en-CA" dirty="0"/>
              <a:t>General Bank </a:t>
            </a:r>
            <a:r>
              <a:rPr lang="zh-CN" altLang="en-US" dirty="0"/>
              <a:t>的 </a:t>
            </a:r>
            <a:r>
              <a:rPr lang="en-US" altLang="zh-CN" dirty="0"/>
              <a:t>"</a:t>
            </a:r>
            <a:r>
              <a:rPr lang="en-CA" dirty="0"/>
              <a:t>future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Slides 9–10 — Backup (</a:t>
            </a:r>
            <a:r>
              <a:rPr lang="zh-CN" altLang="en-US" b="1" dirty="0"/>
              <a:t>不主动讲</a:t>
            </a:r>
            <a:r>
              <a:rPr lang="en-US" altLang="zh-CN" b="1" dirty="0"/>
              <a:t>)</a:t>
            </a:r>
          </a:p>
          <a:p>
            <a:r>
              <a:rPr lang="en-CA" b="1" dirty="0"/>
              <a:t>Slide 9 (robustness)</a:t>
            </a:r>
            <a:r>
              <a:rPr lang="en-CA" dirty="0"/>
              <a:t> — </a:t>
            </a:r>
            <a:r>
              <a:rPr lang="zh-CN" altLang="en-US" dirty="0"/>
              <a:t>被问稳健性时翻</a:t>
            </a:r>
            <a:r>
              <a:rPr lang="en-US" altLang="zh-CN" dirty="0"/>
              <a:t>:"</a:t>
            </a:r>
            <a:r>
              <a:rPr lang="en-CA" dirty="0"/>
              <a:t>Holds across pooling choices and 20 re-splits.”</a:t>
            </a:r>
          </a:p>
          <a:p>
            <a:endParaRPr lang="en-CA" dirty="0"/>
          </a:p>
          <a:p>
            <a:r>
              <a:rPr lang="en-CA" b="1" dirty="0"/>
              <a:t>#9 robustness checks</a:t>
            </a:r>
            <a:r>
              <a:rPr lang="en-CA" dirty="0"/>
              <a:t> —— "pooling </a:t>
            </a:r>
            <a:r>
              <a:rPr lang="zh-CN" altLang="en-US" dirty="0"/>
              <a:t>和 </a:t>
            </a:r>
            <a:r>
              <a:rPr lang="en-US" altLang="zh-CN" dirty="0"/>
              <a:t>20-</a:t>
            </a:r>
            <a:r>
              <a:rPr lang="en-CA" dirty="0"/>
              <a:t>split </a:t>
            </a:r>
            <a:r>
              <a:rPr lang="zh-CN" altLang="en-US" dirty="0"/>
              <a:t>都稳</a:t>
            </a:r>
            <a:r>
              <a:rPr lang="en-US" altLang="zh-CN" dirty="0"/>
              <a:t>"(</a:t>
            </a:r>
            <a:r>
              <a:rPr lang="zh-CN" altLang="en-US" dirty="0"/>
              <a:t>只在 </a:t>
            </a:r>
            <a:r>
              <a:rPr lang="en-CA" dirty="0"/>
              <a:t>SCP1+Handwriting </a:t>
            </a:r>
            <a:r>
              <a:rPr lang="zh-CN" altLang="en-US" dirty="0"/>
              <a:t>两个数据集</a:t>
            </a:r>
            <a:r>
              <a:rPr lang="en-US" altLang="zh-CN" dirty="0"/>
              <a:t>,</a:t>
            </a:r>
            <a:r>
              <a:rPr lang="zh-CN" altLang="en-US" dirty="0"/>
              <a:t>被问时如实说</a:t>
            </a:r>
            <a:r>
              <a:rPr lang="en-US" altLang="zh-CN" dirty="0"/>
              <a:t>)</a:t>
            </a:r>
            <a:r>
              <a:rPr lang="zh-CN" altLang="en-US" dirty="0"/>
              <a:t>。</a:t>
            </a:r>
            <a:endParaRPr lang="en-CA" altLang="zh-CN" dirty="0"/>
          </a:p>
          <a:p>
            <a:endParaRPr lang="en-CA" dirty="0"/>
          </a:p>
          <a:p>
            <a:endParaRPr lang="en-CA" dirty="0"/>
          </a:p>
          <a:p>
            <a:r>
              <a:rPr lang="zh-CN" altLang="en-US" b="1" dirty="0"/>
              <a:t>方法学</a:t>
            </a:r>
          </a:p>
          <a:p>
            <a:r>
              <a:rPr lang="en-CA" b="1" dirty="0"/>
              <a:t>Q: Overlapping CIs but you call it significant — how?</a:t>
            </a:r>
            <a:r>
              <a:rPr lang="en-CA" dirty="0"/>
              <a:t> → "Overlap of </a:t>
            </a:r>
            <a:r>
              <a:rPr lang="en-CA" i="1" dirty="0"/>
              <a:t>individual</a:t>
            </a:r>
            <a:r>
              <a:rPr lang="en-CA" dirty="0"/>
              <a:t> CIs doesn't imply a non-significant </a:t>
            </a:r>
            <a:r>
              <a:rPr lang="en-CA" i="1" dirty="0"/>
              <a:t>difference</a:t>
            </a:r>
            <a:r>
              <a:rPr lang="en-CA" dirty="0"/>
              <a:t>. The layers err on the same samples, so the paired difference is much tighter. I test the paired difference directly."</a:t>
            </a:r>
          </a:p>
          <a:p>
            <a:r>
              <a:rPr lang="en-CA" b="1" dirty="0"/>
              <a:t>Q: 768×channels </a:t>
            </a:r>
            <a:r>
              <a:rPr lang="zh-CN" altLang="en-US" b="1" dirty="0"/>
              <a:t>维特征 </a:t>
            </a:r>
            <a:r>
              <a:rPr lang="en-US" altLang="zh-CN" b="1" dirty="0"/>
              <a:t>+ </a:t>
            </a:r>
            <a:r>
              <a:rPr lang="zh-CN" altLang="en-US" b="1" dirty="0"/>
              <a:t>几百样本</a:t>
            </a:r>
            <a:r>
              <a:rPr lang="en-US" altLang="zh-CN" b="1" dirty="0"/>
              <a:t>,</a:t>
            </a:r>
            <a:r>
              <a:rPr lang="en-CA" b="1" dirty="0"/>
              <a:t>probe </a:t>
            </a:r>
            <a:r>
              <a:rPr lang="zh-CN" altLang="en-US" b="1" dirty="0"/>
              <a:t>会不会过拟合</a:t>
            </a:r>
            <a:r>
              <a:rPr lang="en-US" altLang="zh-CN" b="1" dirty="0"/>
              <a:t>?</a:t>
            </a:r>
            <a:r>
              <a:rPr lang="zh-CN" altLang="en-US" dirty="0"/>
              <a:t> → </a:t>
            </a:r>
            <a:r>
              <a:rPr lang="en-US" altLang="zh-CN" dirty="0"/>
              <a:t>"</a:t>
            </a:r>
            <a:r>
              <a:rPr lang="en-CA" dirty="0"/>
              <a:t>Standardization plus L2, and I report </a:t>
            </a:r>
            <a:r>
              <a:rPr lang="en-CA" i="1" dirty="0"/>
              <a:t>test</a:t>
            </a:r>
            <a:r>
              <a:rPr lang="en-CA" dirty="0"/>
              <a:t> accuracy on a held-out split — and it replicates across datasets and 20 re-splits, so it's not a single-split overfit artifact."</a:t>
            </a:r>
          </a:p>
          <a:p>
            <a:r>
              <a:rPr lang="en-CA" b="1" dirty="0"/>
              <a:t>Q: Bootstrap </a:t>
            </a:r>
            <a:r>
              <a:rPr lang="zh-CN" altLang="en-US" b="1" dirty="0"/>
              <a:t>只覆盖 </a:t>
            </a:r>
            <a:r>
              <a:rPr lang="en-CA" b="1" dirty="0"/>
              <a:t>test </a:t>
            </a:r>
            <a:r>
              <a:rPr lang="zh-CN" altLang="en-US" b="1" dirty="0"/>
              <a:t>采样方差</a:t>
            </a:r>
            <a:r>
              <a:rPr lang="en-US" altLang="zh-CN" b="1" dirty="0"/>
              <a:t>?</a:t>
            </a:r>
            <a:r>
              <a:rPr lang="zh-CN" altLang="en-US" dirty="0"/>
              <a:t> → </a:t>
            </a:r>
            <a:r>
              <a:rPr lang="en-US" altLang="zh-CN" dirty="0"/>
              <a:t>"</a:t>
            </a:r>
            <a:r>
              <a:rPr lang="en-CA" dirty="0"/>
              <a:t>Correct — bootstrap is test-set sampling variance; the 20 re-splits capture split variance. I don't yet have multi-seed/model-</a:t>
            </a:r>
            <a:r>
              <a:rPr lang="en-CA" dirty="0" err="1"/>
              <a:t>init</a:t>
            </a:r>
            <a:r>
              <a:rPr lang="en-CA" dirty="0"/>
              <a:t> variance — fair limitation."</a:t>
            </a:r>
          </a:p>
          <a:p>
            <a:r>
              <a:rPr lang="en-CA" b="1" dirty="0"/>
              <a:t>Q: Why pool over content patches and not the REG token?</a:t>
            </a:r>
            <a:r>
              <a:rPr lang="en-CA" dirty="0"/>
              <a:t> → "I tried all three (content / all / REG). Content and all give the same effect; the REG token behaves differently — it's CLS-like and can peak late. So the tunnel effect lives in the distributed patch representations."</a:t>
            </a:r>
          </a:p>
          <a:p>
            <a:r>
              <a:rPr lang="en-CA" b="1" dirty="0"/>
              <a:t>Q: The SCP1 layer-1 fragility — what is that?</a:t>
            </a:r>
            <a:r>
              <a:rPr lang="en-CA" dirty="0"/>
              <a:t> → "Under noise, layer 1 collapses on SCP1. Early layers are close to the raw input, so input noise propagates almost undiminished — that's input-coupling, separate from the tunnel effect."</a:t>
            </a:r>
          </a:p>
          <a:p>
            <a:endParaRPr lang="en-CA"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10 (</a:t>
            </a:r>
            <a:r>
              <a:rPr lang="en-CA" b="1" dirty="0" err="1"/>
              <a:t>timewarp</a:t>
            </a:r>
            <a:r>
              <a:rPr lang="en-CA" b="1" dirty="0"/>
              <a:t>)</a:t>
            </a:r>
            <a:r>
              <a:rPr lang="en-CA" dirty="0"/>
              <a:t> — </a:t>
            </a:r>
            <a:r>
              <a:rPr lang="zh-CN" altLang="en-US" dirty="0"/>
              <a:t>被问</a:t>
            </a:r>
            <a:r>
              <a:rPr lang="en-US" altLang="zh-CN" dirty="0"/>
              <a:t>"</a:t>
            </a:r>
            <a:r>
              <a:rPr lang="zh-CN" altLang="en-US" dirty="0"/>
              <a:t>为什么某 </a:t>
            </a:r>
            <a:r>
              <a:rPr lang="en-CA" dirty="0"/>
              <a:t>shift </a:t>
            </a:r>
            <a:r>
              <a:rPr lang="zh-CN" altLang="en-US" dirty="0"/>
              <a:t>没效果</a:t>
            </a:r>
            <a:r>
              <a:rPr lang="en-US" altLang="zh-CN" dirty="0"/>
              <a:t>"</a:t>
            </a:r>
            <a:r>
              <a:rPr lang="zh-CN" altLang="en-US" dirty="0"/>
              <a:t>时翻</a:t>
            </a:r>
            <a:r>
              <a:rPr lang="en-US" altLang="zh-CN" dirty="0"/>
              <a:t>:</a:t>
            </a:r>
            <a:r>
              <a:rPr lang="zh-CN" altLang="en-US" dirty="0"/>
              <a:t>平行曲线图。</a:t>
            </a:r>
            <a:endParaRPr lang="en-CA" altLang="zh-CN" dirty="0"/>
          </a:p>
          <a:p>
            <a:endParaRPr lang="en-CA" dirty="0"/>
          </a:p>
          <a:p>
            <a:r>
              <a:rPr lang="en-US" altLang="zh-CN" dirty="0"/>
              <a:t>"</a:t>
            </a:r>
            <a:r>
              <a:rPr lang="zh-CN" altLang="en-US" dirty="0"/>
              <a:t>为什么 </a:t>
            </a:r>
            <a:r>
              <a:rPr lang="en-CA" dirty="0" err="1"/>
              <a:t>timewarp</a:t>
            </a:r>
            <a:r>
              <a:rPr lang="en-CA" dirty="0"/>
              <a:t> </a:t>
            </a:r>
            <a:r>
              <a:rPr lang="zh-CN" altLang="en-US" dirty="0"/>
              <a:t>没放大</a:t>
            </a:r>
            <a:r>
              <a:rPr lang="en-US" altLang="zh-CN" dirty="0"/>
              <a:t>:</a:t>
            </a:r>
            <a:r>
              <a:rPr lang="zh-CN" altLang="en-US" dirty="0"/>
              <a:t>两条曲线平行、每层均匀掉</a:t>
            </a:r>
            <a:r>
              <a:rPr lang="en-US" altLang="zh-CN" dirty="0"/>
              <a:t>,</a:t>
            </a:r>
            <a:r>
              <a:rPr lang="zh-CN" altLang="en-US" dirty="0"/>
              <a:t>最后一层没额外惩罚。</a:t>
            </a:r>
            <a:r>
              <a:rPr lang="en-US" altLang="zh-CN" dirty="0"/>
              <a:t>"</a:t>
            </a:r>
            <a:endParaRPr lang="en-CA" dirty="0"/>
          </a:p>
          <a:p>
            <a:endParaRPr lang="en-CA" dirty="0"/>
          </a:p>
          <a:p>
            <a:r>
              <a:rPr lang="zh-CN" altLang="en-US" b="1" dirty="0"/>
              <a:t>设计</a:t>
            </a:r>
            <a:r>
              <a:rPr lang="en-US" altLang="zh-CN" b="1" dirty="0"/>
              <a:t>/</a:t>
            </a:r>
            <a:r>
              <a:rPr lang="zh-CN" altLang="en-US" b="1" dirty="0"/>
              <a:t>范围</a:t>
            </a:r>
          </a:p>
          <a:p>
            <a:r>
              <a:rPr lang="en-CA" b="1" dirty="0"/>
              <a:t>Q: Only one model — does it generalize to other TSFMs?</a:t>
            </a:r>
            <a:r>
              <a:rPr lang="en-CA" dirty="0"/>
              <a:t> → "Open. Single model is a limitation; MOMENT, </a:t>
            </a:r>
            <a:r>
              <a:rPr lang="en-CA" dirty="0" err="1"/>
              <a:t>TimesFM</a:t>
            </a:r>
            <a:r>
              <a:rPr lang="en-CA" dirty="0"/>
              <a:t>, Moirai are the natural next comparisons."</a:t>
            </a:r>
          </a:p>
          <a:p>
            <a:r>
              <a:rPr lang="en-CA" b="1" dirty="0"/>
              <a:t>Q: Layer-level only — what about within-block (attention vs MLP)?</a:t>
            </a:r>
            <a:r>
              <a:rPr lang="en-CA" dirty="0"/>
              <a:t> → "Right — this is block-level. Module-level probing (MHSA vs FFN), the </a:t>
            </a:r>
            <a:r>
              <a:rPr lang="en-CA" dirty="0" err="1"/>
              <a:t>Odonnat</a:t>
            </a:r>
            <a:r>
              <a:rPr lang="en-CA" dirty="0"/>
              <a:t>-style split, is the next resolution increase."</a:t>
            </a:r>
          </a:p>
          <a:p>
            <a:r>
              <a:rPr lang="en-CA" b="1" dirty="0"/>
              <a:t>Q: </a:t>
            </a:r>
            <a:r>
              <a:rPr lang="zh-CN" altLang="en-US" b="1" dirty="0"/>
              <a:t>为什么不用 </a:t>
            </a:r>
            <a:r>
              <a:rPr lang="en-CA" b="1" dirty="0"/>
              <a:t>Chronos-2 </a:t>
            </a:r>
            <a:r>
              <a:rPr lang="zh-CN" altLang="en-US" b="1" dirty="0"/>
              <a:t>自带的 </a:t>
            </a:r>
            <a:r>
              <a:rPr lang="en-CA" b="1" dirty="0"/>
              <a:t>multivariate (group-ID) </a:t>
            </a:r>
            <a:r>
              <a:rPr lang="zh-CN" altLang="en-US" b="1" dirty="0"/>
              <a:t>路径</a:t>
            </a:r>
            <a:r>
              <a:rPr lang="en-US" altLang="zh-CN" b="1" dirty="0"/>
              <a:t>?</a:t>
            </a:r>
            <a:r>
              <a:rPr lang="zh-CN" altLang="en-US" dirty="0"/>
              <a:t> → </a:t>
            </a:r>
            <a:r>
              <a:rPr lang="en-US" altLang="zh-CN" dirty="0"/>
              <a:t>"</a:t>
            </a:r>
            <a:r>
              <a:rPr lang="en-CA" dirty="0"/>
              <a:t>I used per-channel-then-concatenate to reuse the validated univariate path. Probing the native multivariate representation is a clean follow-up — and it's the mechanism the model's actually built for."</a:t>
            </a:r>
          </a:p>
          <a:p>
            <a:r>
              <a:rPr lang="en-CA" b="1" dirty="0"/>
              <a:t>Q: Forecasting-quality probing instead of classification?</a:t>
            </a:r>
            <a:r>
              <a:rPr lang="en-CA" dirty="0"/>
              <a:t> → "Natural extension — probe how well each layer supports the forecasting head, not just class labels."</a:t>
            </a:r>
          </a:p>
          <a:p>
            <a:endParaRPr lang="en-US" dirty="0"/>
          </a:p>
          <a:p>
            <a:endParaRPr lang="en-US" dirty="0"/>
          </a:p>
          <a:p>
            <a:r>
              <a:rPr lang="zh-CN" altLang="en-US" b="1" dirty="0"/>
              <a:t>解释</a:t>
            </a:r>
            <a:r>
              <a:rPr lang="en-US" altLang="zh-CN" b="1" dirty="0"/>
              <a:t>/"</a:t>
            </a:r>
            <a:r>
              <a:rPr lang="en-CA" b="1" dirty="0"/>
              <a:t>so what"</a:t>
            </a:r>
          </a:p>
          <a:p>
            <a:r>
              <a:rPr lang="en-CA" b="1" dirty="0"/>
              <a:t>Q: Isn't the last-layer drop just trivially because it's a forecasting model?</a:t>
            </a:r>
            <a:r>
              <a:rPr lang="en-CA" dirty="0"/>
              <a:t> → "That </a:t>
            </a:r>
            <a:r>
              <a:rPr lang="en-CA" i="1" dirty="0"/>
              <a:t>is</a:t>
            </a:r>
            <a:r>
              <a:rPr lang="en-CA" dirty="0"/>
              <a:t> the proposed mechanism, not a confound — the prediction was that a forecasting-specialized final layer sheds class structure, and that's what we see. The open question is whether it's that vs. plain domain-mismatch — my next experiment." </a:t>
            </a:r>
            <a:r>
              <a:rPr lang="en-CA" i="1" dirty="0"/>
              <a:t>(</a:t>
            </a:r>
            <a:r>
              <a:rPr lang="zh-CN" altLang="en-US" i="1" dirty="0"/>
              <a:t>把</a:t>
            </a:r>
            <a:r>
              <a:rPr lang="en-US" altLang="zh-CN" i="1" dirty="0"/>
              <a:t>"</a:t>
            </a:r>
            <a:r>
              <a:rPr lang="zh-CN" altLang="en-US" i="1" dirty="0"/>
              <a:t>反驳</a:t>
            </a:r>
            <a:r>
              <a:rPr lang="en-US" altLang="zh-CN" i="1" dirty="0"/>
              <a:t>"</a:t>
            </a:r>
            <a:r>
              <a:rPr lang="zh-CN" altLang="en-US" i="1" dirty="0"/>
              <a:t>变成</a:t>
            </a:r>
            <a:r>
              <a:rPr lang="en-US" altLang="zh-CN" i="1" dirty="0"/>
              <a:t>"</a:t>
            </a:r>
            <a:r>
              <a:rPr lang="zh-CN" altLang="en-US" i="1" dirty="0"/>
              <a:t>正是我的论点</a:t>
            </a:r>
            <a:r>
              <a:rPr lang="en-US" altLang="zh-CN" i="1" dirty="0"/>
              <a:t>")</a:t>
            </a:r>
            <a:endParaRPr lang="zh-CN" altLang="en-US" dirty="0"/>
          </a:p>
          <a:p>
            <a:r>
              <a:rPr lang="en-CA" b="1" dirty="0"/>
              <a:t>Q: Relation to the lab's representation-collapse / manifold work (Seq-VCR, LLM-manifold)?</a:t>
            </a:r>
            <a:r>
              <a:rPr lang="en-CA" dirty="0"/>
              <a:t> → "Adjacent — same theme of where reusable, transferable structure lives across layers; this is the time-series-foundation-model angle."</a:t>
            </a:r>
          </a:p>
          <a:p>
            <a:r>
              <a:rPr lang="zh-CN" altLang="en-US" b="1" dirty="0"/>
              <a:t>诚实兜底脚本</a:t>
            </a:r>
            <a:r>
              <a:rPr lang="en-US" altLang="zh-CN" b="1" dirty="0"/>
              <a:t>(</a:t>
            </a:r>
            <a:r>
              <a:rPr lang="zh-CN" altLang="en-US" b="1" dirty="0"/>
              <a:t>不知道就这么说</a:t>
            </a:r>
            <a:r>
              <a:rPr lang="en-US" altLang="zh-CN" b="1" dirty="0"/>
              <a:t>)</a:t>
            </a:r>
          </a:p>
          <a:p>
            <a:r>
              <a:rPr lang="zh-CN" altLang="en-US" dirty="0"/>
              <a:t>不知道精确数字</a:t>
            </a:r>
            <a:r>
              <a:rPr lang="en-US" altLang="zh-CN" dirty="0"/>
              <a:t>:"</a:t>
            </a:r>
            <a:r>
              <a:rPr lang="en-CA" dirty="0"/>
              <a:t>I'd have to check the exact number, but it's on the order of ___ — I can follow up."</a:t>
            </a:r>
          </a:p>
          <a:p>
            <a:r>
              <a:rPr lang="zh-CN" altLang="en-US" dirty="0"/>
              <a:t>没做过的实验</a:t>
            </a:r>
            <a:r>
              <a:rPr lang="en-US" altLang="zh-CN" dirty="0"/>
              <a:t>:"</a:t>
            </a:r>
            <a:r>
              <a:rPr lang="en-CA" dirty="0"/>
              <a:t>I didn't test that — good idea; my expectation is ___, and it'd be straightforward to add."</a:t>
            </a:r>
          </a:p>
          <a:p>
            <a:r>
              <a:rPr lang="zh-CN" altLang="en-US" dirty="0"/>
              <a:t>被指出可能的漏洞</a:t>
            </a:r>
            <a:r>
              <a:rPr lang="en-US" altLang="zh-CN" dirty="0"/>
              <a:t>:"</a:t>
            </a:r>
            <a:r>
              <a:rPr lang="en-CA" dirty="0"/>
              <a:t>That's fair — it's a real limitation. Here's how I'd address it: ___."</a:t>
            </a:r>
          </a:p>
          <a:p>
            <a:r>
              <a:rPr lang="zh-CN" altLang="en-US" dirty="0"/>
              <a:t>中文提醒</a:t>
            </a:r>
            <a:r>
              <a:rPr lang="en-US" altLang="zh-CN" dirty="0"/>
              <a:t>:</a:t>
            </a:r>
            <a:r>
              <a:rPr lang="zh-CN" altLang="en-US" b="1" dirty="0"/>
              <a:t>不要硬撑</a:t>
            </a:r>
            <a:r>
              <a:rPr lang="zh-CN" altLang="en-US" dirty="0"/>
              <a:t>。</a:t>
            </a:r>
            <a:r>
              <a:rPr lang="en-CA" dirty="0"/>
              <a:t>Irina </a:t>
            </a:r>
            <a:r>
              <a:rPr lang="zh-CN" altLang="en-US" dirty="0"/>
              <a:t>在场</a:t>
            </a:r>
            <a:r>
              <a:rPr lang="en-US" altLang="zh-CN" dirty="0"/>
              <a:t>,</a:t>
            </a:r>
            <a:r>
              <a:rPr lang="zh-CN" altLang="en-US" dirty="0"/>
              <a:t>诚实承认局限 </a:t>
            </a:r>
            <a:r>
              <a:rPr lang="en-US" altLang="zh-CN" dirty="0"/>
              <a:t>&gt; </a:t>
            </a:r>
            <a:r>
              <a:rPr lang="zh-CN" altLang="en-US" dirty="0"/>
              <a:t>编一个答案。你这套工作的最大卖点就是</a:t>
            </a:r>
            <a:r>
              <a:rPr lang="en-US" altLang="zh-CN" dirty="0"/>
              <a:t>"</a:t>
            </a:r>
            <a:r>
              <a:rPr lang="zh-CN" altLang="en-US" dirty="0"/>
              <a:t>诚实地测过、知道哪里成立哪里不成立</a:t>
            </a:r>
            <a:r>
              <a:rPr lang="en-US" altLang="zh-CN" dirty="0"/>
              <a:t>"</a:t>
            </a:r>
            <a:r>
              <a:rPr lang="zh-CN" alt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customXml" Target="../ink/ink5.xml"/><Relationship Id="rId3" Type="http://schemas.openxmlformats.org/officeDocument/2006/relationships/image" Target="../media/image1.png"/><Relationship Id="rId7" Type="http://schemas.openxmlformats.org/officeDocument/2006/relationships/customXml" Target="../ink/ink2.xml"/><Relationship Id="rId12"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customXml" Target="../ink/ink3.xml"/><Relationship Id="rId1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customXml" Target="../ink/ink6.xml"/></Relationships>
</file>

<file path=ppt/slides/_rels/slide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customXml" Target="../ink/ink8.xml"/></Relationships>
</file>

<file path=ppt/slides/_rels/slide1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customXml" Target="../ink/ink10.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691640"/>
            <a:ext cx="7863840" cy="1280160"/>
          </a:xfrm>
          <a:prstGeom prst="rect">
            <a:avLst/>
          </a:prstGeom>
          <a:noFill/>
          <a:ln/>
        </p:spPr>
        <p:txBody>
          <a:bodyPr wrap="square" lIns="0" tIns="0" rIns="0" bIns="0" rtlCol="0" anchor="ctr"/>
          <a:lstStyle/>
          <a:p>
            <a:pPr marL="0" indent="0">
              <a:buNone/>
            </a:pPr>
            <a:r>
              <a:rPr lang="en-US" sz="4000" b="1" dirty="0">
                <a:solidFill>
                  <a:srgbClr val="1E293B"/>
                </a:solidFill>
                <a:latin typeface="Aktiv Grotesk" pitchFamily="34" charset="0"/>
                <a:ea typeface="Aktiv Grotesk" pitchFamily="34" charset="-122"/>
                <a:cs typeface="Aktiv Grotesk" pitchFamily="34" charset="-120"/>
              </a:rPr>
              <a:t>Does Chronos-2 have a </a:t>
            </a:r>
            <a:r>
              <a:rPr lang="en-US" sz="4000" b="1" dirty="0">
                <a:solidFill>
                  <a:srgbClr val="1E32FA"/>
                </a:solidFill>
                <a:latin typeface="Aktiv Grotesk" pitchFamily="34" charset="0"/>
                <a:ea typeface="Aktiv Grotesk" pitchFamily="34" charset="-122"/>
                <a:cs typeface="Aktiv Grotesk" pitchFamily="34" charset="-120"/>
              </a:rPr>
              <a:t>tunnel effect?</a:t>
            </a:r>
            <a:endParaRPr lang="en-US" sz="4000" dirty="0"/>
          </a:p>
        </p:txBody>
      </p:sp>
      <p:sp>
        <p:nvSpPr>
          <p:cNvPr id="3" name="Text 1"/>
          <p:cNvSpPr/>
          <p:nvPr/>
        </p:nvSpPr>
        <p:spPr>
          <a:xfrm>
            <a:off x="658368" y="2880360"/>
            <a:ext cx="7772400" cy="457200"/>
          </a:xfrm>
          <a:prstGeom prst="rect">
            <a:avLst/>
          </a:prstGeom>
          <a:noFill/>
          <a:ln/>
        </p:spPr>
        <p:txBody>
          <a:bodyPr wrap="square" lIns="0" tIns="0" rIns="0" bIns="0" rtlCol="0" anchor="ctr"/>
          <a:lstStyle/>
          <a:p>
            <a:pPr marL="0" indent="0">
              <a:buNone/>
            </a:pPr>
            <a:r>
              <a:rPr lang="en-US" sz="1700" i="1" dirty="0">
                <a:solidFill>
                  <a:srgbClr val="64748B"/>
                </a:solidFill>
                <a:latin typeface="Aktiv Grotesk" pitchFamily="34" charset="0"/>
                <a:ea typeface="Aktiv Grotesk" pitchFamily="34" charset="-122"/>
                <a:cs typeface="Aktiv Grotesk" pitchFamily="34" charset="-120"/>
              </a:rPr>
              <a:t>Layer-wise probing of a time-series foundation model</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THE QUESTION</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Is there a “tunnel effect” in time-series models?</a:t>
            </a:r>
            <a:endParaRPr lang="en-US" sz="2800" dirty="0"/>
          </a:p>
        </p:txBody>
      </p:sp>
      <p:sp>
        <p:nvSpPr>
          <p:cNvPr id="4" name="Text 2"/>
          <p:cNvSpPr/>
          <p:nvPr/>
        </p:nvSpPr>
        <p:spPr>
          <a:xfrm>
            <a:off x="502920" y="1737360"/>
            <a:ext cx="548640" cy="640080"/>
          </a:xfrm>
          <a:prstGeom prst="rect">
            <a:avLst/>
          </a:prstGeom>
          <a:noFill/>
          <a:ln/>
        </p:spPr>
        <p:txBody>
          <a:bodyPr wrap="square" lIns="0" tIns="0" rIns="0" bIns="0" rtlCol="0" anchor="ctr"/>
          <a:lstStyle/>
          <a:p>
            <a:pPr marL="0" indent="0">
              <a:buNone/>
            </a:pPr>
            <a:r>
              <a:rPr lang="en-US" sz="3800" b="1" dirty="0">
                <a:solidFill>
                  <a:srgbClr val="1E32FA"/>
                </a:solidFill>
                <a:latin typeface="Aktiv Grotesk" pitchFamily="34" charset="0"/>
                <a:ea typeface="Aktiv Grotesk" pitchFamily="34" charset="-122"/>
                <a:cs typeface="Aktiv Grotesk" pitchFamily="34" charset="-120"/>
              </a:rPr>
              <a:t>1</a:t>
            </a:r>
            <a:endParaRPr lang="en-US" sz="3800" dirty="0"/>
          </a:p>
        </p:txBody>
      </p:sp>
      <p:sp>
        <p:nvSpPr>
          <p:cNvPr id="5" name="Text 3"/>
          <p:cNvSpPr/>
          <p:nvPr/>
        </p:nvSpPr>
        <p:spPr>
          <a:xfrm>
            <a:off x="1069848" y="1828800"/>
            <a:ext cx="3383280" cy="457200"/>
          </a:xfrm>
          <a:prstGeom prst="rect">
            <a:avLst/>
          </a:prstGeom>
          <a:noFill/>
          <a:ln/>
        </p:spPr>
        <p:txBody>
          <a:bodyPr wrap="square" lIns="0" tIns="0" rIns="0" bIns="0" rtlCol="0" anchor="ctr"/>
          <a:lstStyle/>
          <a:p>
            <a:pPr marL="0" indent="0">
              <a:buNone/>
            </a:pPr>
            <a:r>
              <a:rPr lang="en-US" sz="1800" b="1" dirty="0">
                <a:solidFill>
                  <a:srgbClr val="1E293B"/>
                </a:solidFill>
                <a:latin typeface="Aktiv Grotesk" pitchFamily="34" charset="0"/>
                <a:ea typeface="Aktiv Grotesk" pitchFamily="34" charset="-122"/>
                <a:cs typeface="Aktiv Grotesk" pitchFamily="34" charset="-120"/>
              </a:rPr>
              <a:t>Middle &gt; last</a:t>
            </a:r>
            <a:endParaRPr lang="en-US" sz="1800" dirty="0"/>
          </a:p>
        </p:txBody>
      </p:sp>
      <p:sp>
        <p:nvSpPr>
          <p:cNvPr id="6" name="Text 4"/>
          <p:cNvSpPr/>
          <p:nvPr/>
        </p:nvSpPr>
        <p:spPr>
          <a:xfrm>
            <a:off x="1069848" y="2286000"/>
            <a:ext cx="3383280" cy="914400"/>
          </a:xfrm>
          <a:prstGeom prst="rect">
            <a:avLst/>
          </a:prstGeom>
          <a:noFill/>
          <a:ln/>
        </p:spPr>
        <p:txBody>
          <a:bodyPr wrap="square" lIns="0" tIns="0" rIns="0" bIns="0" rtlCol="0" anchor="ctr"/>
          <a:lstStyle/>
          <a:p>
            <a:pPr marL="0" indent="0">
              <a:buNone/>
            </a:pPr>
            <a:r>
              <a:rPr lang="en-US" sz="1450" dirty="0">
                <a:solidFill>
                  <a:srgbClr val="64748B"/>
                </a:solidFill>
                <a:latin typeface="Aktiv Grotesk" pitchFamily="34" charset="0"/>
                <a:ea typeface="Aktiv Grotesk" pitchFamily="34" charset="-122"/>
                <a:cs typeface="Aktiv Grotesk" pitchFamily="34" charset="-120"/>
              </a:rPr>
              <a:t>Middle layers hold more task-relevant information than the final layer.</a:t>
            </a:r>
            <a:endParaRPr lang="en-US" sz="1450" dirty="0"/>
          </a:p>
        </p:txBody>
      </p:sp>
      <p:sp>
        <p:nvSpPr>
          <p:cNvPr id="7" name="Text 5"/>
          <p:cNvSpPr/>
          <p:nvPr/>
        </p:nvSpPr>
        <p:spPr>
          <a:xfrm>
            <a:off x="4846320" y="1737360"/>
            <a:ext cx="548640" cy="640080"/>
          </a:xfrm>
          <a:prstGeom prst="rect">
            <a:avLst/>
          </a:prstGeom>
          <a:noFill/>
          <a:ln/>
        </p:spPr>
        <p:txBody>
          <a:bodyPr wrap="square" lIns="0" tIns="0" rIns="0" bIns="0" rtlCol="0" anchor="ctr"/>
          <a:lstStyle/>
          <a:p>
            <a:pPr marL="0" indent="0">
              <a:buNone/>
            </a:pPr>
            <a:r>
              <a:rPr lang="en-US" sz="3800" b="1" dirty="0">
                <a:solidFill>
                  <a:srgbClr val="1E32FA"/>
                </a:solidFill>
                <a:latin typeface="Aktiv Grotesk" pitchFamily="34" charset="0"/>
                <a:ea typeface="Aktiv Grotesk" pitchFamily="34" charset="-122"/>
                <a:cs typeface="Aktiv Grotesk" pitchFamily="34" charset="-120"/>
              </a:rPr>
              <a:t>2</a:t>
            </a:r>
            <a:endParaRPr lang="en-US" sz="3800" dirty="0"/>
          </a:p>
        </p:txBody>
      </p:sp>
      <p:sp>
        <p:nvSpPr>
          <p:cNvPr id="8" name="Text 6"/>
          <p:cNvSpPr/>
          <p:nvPr/>
        </p:nvSpPr>
        <p:spPr>
          <a:xfrm>
            <a:off x="5413248" y="1828800"/>
            <a:ext cx="3383280" cy="457200"/>
          </a:xfrm>
          <a:prstGeom prst="rect">
            <a:avLst/>
          </a:prstGeom>
          <a:noFill/>
          <a:ln/>
        </p:spPr>
        <p:txBody>
          <a:bodyPr wrap="square" lIns="0" tIns="0" rIns="0" bIns="0" rtlCol="0" anchor="ctr"/>
          <a:lstStyle/>
          <a:p>
            <a:pPr marL="0" indent="0">
              <a:buNone/>
            </a:pPr>
            <a:r>
              <a:rPr lang="en-US" sz="1800" b="1" dirty="0">
                <a:solidFill>
                  <a:srgbClr val="1E293B"/>
                </a:solidFill>
                <a:latin typeface="Aktiv Grotesk" pitchFamily="34" charset="0"/>
                <a:ea typeface="Aktiv Grotesk" pitchFamily="34" charset="-122"/>
                <a:cs typeface="Aktiv Grotesk" pitchFamily="34" charset="-120"/>
              </a:rPr>
              <a:t>…especially OOD</a:t>
            </a:r>
            <a:endParaRPr lang="en-US" sz="1800" dirty="0"/>
          </a:p>
        </p:txBody>
      </p:sp>
      <p:sp>
        <p:nvSpPr>
          <p:cNvPr id="9" name="Text 7"/>
          <p:cNvSpPr/>
          <p:nvPr/>
        </p:nvSpPr>
        <p:spPr>
          <a:xfrm>
            <a:off x="5413248" y="2286000"/>
            <a:ext cx="3383280" cy="914400"/>
          </a:xfrm>
          <a:prstGeom prst="rect">
            <a:avLst/>
          </a:prstGeom>
          <a:noFill/>
          <a:ln/>
        </p:spPr>
        <p:txBody>
          <a:bodyPr wrap="square" lIns="0" tIns="0" rIns="0" bIns="0" rtlCol="0" anchor="ctr"/>
          <a:lstStyle/>
          <a:p>
            <a:pPr marL="0" indent="0">
              <a:buNone/>
            </a:pPr>
            <a:r>
              <a:rPr lang="en-US" sz="1450" dirty="0">
                <a:solidFill>
                  <a:srgbClr val="64748B"/>
                </a:solidFill>
                <a:latin typeface="Aktiv Grotesk" pitchFamily="34" charset="0"/>
                <a:ea typeface="Aktiv Grotesk" pitchFamily="34" charset="-122"/>
                <a:cs typeface="Aktiv Grotesk" pitchFamily="34" charset="-120"/>
              </a:rPr>
              <a:t>And that advantage grows when the data is unlike what the model was trained on.</a:t>
            </a:r>
            <a:endParaRPr lang="en-US" sz="1450" dirty="0"/>
          </a:p>
        </p:txBody>
      </p:sp>
      <p:sp>
        <p:nvSpPr>
          <p:cNvPr id="10" name="Text 8"/>
          <p:cNvSpPr/>
          <p:nvPr/>
        </p:nvSpPr>
        <p:spPr>
          <a:xfrm>
            <a:off x="502920" y="361188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WHY A FORECASTING MODEL?</a:t>
            </a:r>
            <a:endParaRPr lang="en-US" sz="1200" dirty="0"/>
          </a:p>
        </p:txBody>
      </p:sp>
      <p:sp>
        <p:nvSpPr>
          <p:cNvPr id="11" name="Text 9"/>
          <p:cNvSpPr/>
          <p:nvPr/>
        </p:nvSpPr>
        <p:spPr>
          <a:xfrm>
            <a:off x="502920" y="3913632"/>
            <a:ext cx="8229600" cy="731520"/>
          </a:xfrm>
          <a:prstGeom prst="rect">
            <a:avLst/>
          </a:prstGeom>
          <a:noFill/>
          <a:ln/>
        </p:spPr>
        <p:txBody>
          <a:bodyPr wrap="square" lIns="0" tIns="0" rIns="0" bIns="0" rtlCol="0" anchor="ctr"/>
          <a:lstStyle/>
          <a:p>
            <a:pPr marL="0" indent="0">
              <a:buNone/>
            </a:pPr>
            <a:r>
              <a:rPr lang="en-US" sz="1500" dirty="0">
                <a:solidFill>
                  <a:srgbClr val="1E293B"/>
                </a:solidFill>
                <a:latin typeface="Aktiv Grotesk" pitchFamily="34" charset="0"/>
                <a:ea typeface="Aktiv Grotesk" pitchFamily="34" charset="-122"/>
                <a:cs typeface="Aktiv Grotesk" pitchFamily="34" charset="-120"/>
              </a:rPr>
              <a:t>Chronos-2’s final layer is tuned to produce forecasts — so it may discard the general structure that middle layers still hold. If a tunnel effect exists, the last layer is where it should show.</a:t>
            </a:r>
            <a:endParaRPr lang="en-US" sz="1500" dirty="0"/>
          </a:p>
        </p:txBody>
      </p:sp>
      <p:pic>
        <p:nvPicPr>
          <p:cNvPr id="16" name="Picture 15" descr="A close-up of a document&#10;&#10;AI-generated content may be incorrect.">
            <a:extLst>
              <a:ext uri="{FF2B5EF4-FFF2-40B4-BE49-F238E27FC236}">
                <a16:creationId xmlns:a16="http://schemas.microsoft.com/office/drawing/2014/main" id="{0CA352A9-6BEA-5CAE-C5B4-9344AA5A957D}"/>
              </a:ext>
            </a:extLst>
          </p:cNvPr>
          <p:cNvPicPr>
            <a:picLocks noChangeAspect="1"/>
          </p:cNvPicPr>
          <p:nvPr/>
        </p:nvPicPr>
        <p:blipFill>
          <a:blip r:embed="rId3"/>
          <a:stretch>
            <a:fillRect/>
          </a:stretch>
        </p:blipFill>
        <p:spPr>
          <a:xfrm>
            <a:off x="1051560" y="1105083"/>
            <a:ext cx="3508518" cy="2837323"/>
          </a:xfrm>
          <a:prstGeom prst="rect">
            <a:avLst/>
          </a:prstGeom>
        </p:spPr>
      </p:pic>
      <p:pic>
        <p:nvPicPr>
          <p:cNvPr id="20" name="Picture 19" descr="A close-up of a text&#10;&#10;AI-generated content may be incorrect.">
            <a:extLst>
              <a:ext uri="{FF2B5EF4-FFF2-40B4-BE49-F238E27FC236}">
                <a16:creationId xmlns:a16="http://schemas.microsoft.com/office/drawing/2014/main" id="{469ABF3B-3B7A-0E58-CC65-7DB90D7A7CB5}"/>
              </a:ext>
            </a:extLst>
          </p:cNvPr>
          <p:cNvPicPr>
            <a:picLocks noChangeAspect="1"/>
          </p:cNvPicPr>
          <p:nvPr/>
        </p:nvPicPr>
        <p:blipFill>
          <a:blip r:embed="rId4"/>
          <a:stretch>
            <a:fillRect/>
          </a:stretch>
        </p:blipFill>
        <p:spPr>
          <a:xfrm>
            <a:off x="4420412" y="3063331"/>
            <a:ext cx="3672028" cy="782828"/>
          </a:xfrm>
          <a:prstGeom prst="rect">
            <a:avLst/>
          </a:prstGeom>
        </p:spPr>
      </p:pic>
      <mc:AlternateContent xmlns:mc="http://schemas.openxmlformats.org/markup-compatibility/2006">
        <mc:Choice xmlns:p14="http://schemas.microsoft.com/office/powerpoint/2010/main" Requires="p14">
          <p:contentPart p14:bwMode="auto" r:id="rId5">
            <p14:nvContentPartPr>
              <p14:cNvPr id="23" name="Ink 22">
                <a:extLst>
                  <a:ext uri="{FF2B5EF4-FFF2-40B4-BE49-F238E27FC236}">
                    <a16:creationId xmlns:a16="http://schemas.microsoft.com/office/drawing/2014/main" id="{21D6821A-695A-C2A6-C19A-FD84EC1F45C1}"/>
                  </a:ext>
                </a:extLst>
              </p14:cNvPr>
              <p14:cNvContentPartPr/>
              <p14:nvPr/>
            </p14:nvContentPartPr>
            <p14:xfrm>
              <a:off x="1292098" y="3939735"/>
              <a:ext cx="7457400" cy="149400"/>
            </p14:xfrm>
          </p:contentPart>
        </mc:Choice>
        <mc:Fallback>
          <p:pic>
            <p:nvPicPr>
              <p:cNvPr id="23" name="Ink 22">
                <a:extLst>
                  <a:ext uri="{FF2B5EF4-FFF2-40B4-BE49-F238E27FC236}">
                    <a16:creationId xmlns:a16="http://schemas.microsoft.com/office/drawing/2014/main" id="{21D6821A-695A-C2A6-C19A-FD84EC1F45C1}"/>
                  </a:ext>
                </a:extLst>
              </p:cNvPr>
              <p:cNvPicPr/>
              <p:nvPr/>
            </p:nvPicPr>
            <p:blipFill>
              <a:blip r:embed="rId6"/>
              <a:stretch>
                <a:fillRect/>
              </a:stretch>
            </p:blipFill>
            <p:spPr>
              <a:xfrm>
                <a:off x="1238098" y="3832095"/>
                <a:ext cx="7565040" cy="365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4" name="Ink 23">
                <a:extLst>
                  <a:ext uri="{FF2B5EF4-FFF2-40B4-BE49-F238E27FC236}">
                    <a16:creationId xmlns:a16="http://schemas.microsoft.com/office/drawing/2014/main" id="{32851A0D-8193-D488-CB8C-FF4433950E94}"/>
                  </a:ext>
                </a:extLst>
              </p14:cNvPr>
              <p14:cNvContentPartPr/>
              <p14:nvPr/>
            </p14:nvContentPartPr>
            <p14:xfrm>
              <a:off x="4717498" y="2923815"/>
              <a:ext cx="3968640" cy="979920"/>
            </p14:xfrm>
          </p:contentPart>
        </mc:Choice>
        <mc:Fallback>
          <p:pic>
            <p:nvPicPr>
              <p:cNvPr id="24" name="Ink 23">
                <a:extLst>
                  <a:ext uri="{FF2B5EF4-FFF2-40B4-BE49-F238E27FC236}">
                    <a16:creationId xmlns:a16="http://schemas.microsoft.com/office/drawing/2014/main" id="{32851A0D-8193-D488-CB8C-FF4433950E94}"/>
                  </a:ext>
                </a:extLst>
              </p:cNvPr>
              <p:cNvPicPr/>
              <p:nvPr/>
            </p:nvPicPr>
            <p:blipFill>
              <a:blip r:embed="rId8"/>
              <a:stretch>
                <a:fillRect/>
              </a:stretch>
            </p:blipFill>
            <p:spPr>
              <a:xfrm>
                <a:off x="4663858" y="2816175"/>
                <a:ext cx="4076280" cy="11955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5" name="Ink 24">
                <a:extLst>
                  <a:ext uri="{FF2B5EF4-FFF2-40B4-BE49-F238E27FC236}">
                    <a16:creationId xmlns:a16="http://schemas.microsoft.com/office/drawing/2014/main" id="{C42A07D1-C248-BC52-60E3-85BA8EFA6E92}"/>
                  </a:ext>
                </a:extLst>
              </p14:cNvPr>
              <p14:cNvContentPartPr/>
              <p14:nvPr/>
            </p14:nvContentPartPr>
            <p14:xfrm>
              <a:off x="4412578" y="2917335"/>
              <a:ext cx="520920" cy="59760"/>
            </p14:xfrm>
          </p:contentPart>
        </mc:Choice>
        <mc:Fallback>
          <p:pic>
            <p:nvPicPr>
              <p:cNvPr id="25" name="Ink 24">
                <a:extLst>
                  <a:ext uri="{FF2B5EF4-FFF2-40B4-BE49-F238E27FC236}">
                    <a16:creationId xmlns:a16="http://schemas.microsoft.com/office/drawing/2014/main" id="{C42A07D1-C248-BC52-60E3-85BA8EFA6E92}"/>
                  </a:ext>
                </a:extLst>
              </p:cNvPr>
              <p:cNvPicPr/>
              <p:nvPr/>
            </p:nvPicPr>
            <p:blipFill>
              <a:blip r:embed="rId10"/>
              <a:stretch>
                <a:fillRect/>
              </a:stretch>
            </p:blipFill>
            <p:spPr>
              <a:xfrm>
                <a:off x="4358938" y="2809695"/>
                <a:ext cx="628560" cy="2754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6" name="Ink 25">
                <a:extLst>
                  <a:ext uri="{FF2B5EF4-FFF2-40B4-BE49-F238E27FC236}">
                    <a16:creationId xmlns:a16="http://schemas.microsoft.com/office/drawing/2014/main" id="{B8A4207D-8F22-449D-689F-CF00396C5DB4}"/>
                  </a:ext>
                </a:extLst>
              </p14:cNvPr>
              <p14:cNvContentPartPr/>
              <p14:nvPr/>
            </p14:nvContentPartPr>
            <p14:xfrm>
              <a:off x="4509058" y="1309215"/>
              <a:ext cx="92880" cy="1812240"/>
            </p14:xfrm>
          </p:contentPart>
        </mc:Choice>
        <mc:Fallback>
          <p:pic>
            <p:nvPicPr>
              <p:cNvPr id="26" name="Ink 25">
                <a:extLst>
                  <a:ext uri="{FF2B5EF4-FFF2-40B4-BE49-F238E27FC236}">
                    <a16:creationId xmlns:a16="http://schemas.microsoft.com/office/drawing/2014/main" id="{B8A4207D-8F22-449D-689F-CF00396C5DB4}"/>
                  </a:ext>
                </a:extLst>
              </p:cNvPr>
              <p:cNvPicPr/>
              <p:nvPr/>
            </p:nvPicPr>
            <p:blipFill>
              <a:blip r:embed="rId12"/>
              <a:stretch>
                <a:fillRect/>
              </a:stretch>
            </p:blipFill>
            <p:spPr>
              <a:xfrm>
                <a:off x="4455058" y="1201575"/>
                <a:ext cx="200520" cy="20278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7" name="Ink 26">
                <a:extLst>
                  <a:ext uri="{FF2B5EF4-FFF2-40B4-BE49-F238E27FC236}">
                    <a16:creationId xmlns:a16="http://schemas.microsoft.com/office/drawing/2014/main" id="{370F4DAA-F55B-6F16-47DC-9EDEF5FBB73A}"/>
                  </a:ext>
                </a:extLst>
              </p14:cNvPr>
              <p14:cNvContentPartPr/>
              <p14:nvPr/>
            </p14:nvContentPartPr>
            <p14:xfrm>
              <a:off x="989698" y="922935"/>
              <a:ext cx="3574800" cy="3147840"/>
            </p14:xfrm>
          </p:contentPart>
        </mc:Choice>
        <mc:Fallback>
          <p:pic>
            <p:nvPicPr>
              <p:cNvPr id="27" name="Ink 26">
                <a:extLst>
                  <a:ext uri="{FF2B5EF4-FFF2-40B4-BE49-F238E27FC236}">
                    <a16:creationId xmlns:a16="http://schemas.microsoft.com/office/drawing/2014/main" id="{370F4DAA-F55B-6F16-47DC-9EDEF5FBB73A}"/>
                  </a:ext>
                </a:extLst>
              </p:cNvPr>
              <p:cNvPicPr/>
              <p:nvPr/>
            </p:nvPicPr>
            <p:blipFill>
              <a:blip r:embed="rId14"/>
              <a:stretch>
                <a:fillRect/>
              </a:stretch>
            </p:blipFill>
            <p:spPr>
              <a:xfrm>
                <a:off x="935698" y="814935"/>
                <a:ext cx="3682440" cy="336348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C3BED2D-A5D5-FFAB-1706-9875467FC78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3E1FA6E-0C9E-71A2-F804-28C6D3CFEB06}"/>
              </a:ext>
            </a:extLst>
          </p:cNvPr>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THE QUESTION</a:t>
            </a:r>
            <a:endParaRPr lang="en-US" sz="1200" dirty="0"/>
          </a:p>
        </p:txBody>
      </p:sp>
      <p:sp>
        <p:nvSpPr>
          <p:cNvPr id="3" name="Text 1">
            <a:extLst>
              <a:ext uri="{FF2B5EF4-FFF2-40B4-BE49-F238E27FC236}">
                <a16:creationId xmlns:a16="http://schemas.microsoft.com/office/drawing/2014/main" id="{7B836EB6-D782-9BDA-1515-DB73476F60C0}"/>
              </a:ext>
            </a:extLst>
          </p:cNvPr>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Is there a “tunnel effect” in time-series models?</a:t>
            </a:r>
            <a:endParaRPr lang="en-US" sz="2800" dirty="0"/>
          </a:p>
        </p:txBody>
      </p:sp>
      <p:sp>
        <p:nvSpPr>
          <p:cNvPr id="4" name="Text 2">
            <a:extLst>
              <a:ext uri="{FF2B5EF4-FFF2-40B4-BE49-F238E27FC236}">
                <a16:creationId xmlns:a16="http://schemas.microsoft.com/office/drawing/2014/main" id="{C50958A8-F0E7-7693-F68C-55A9126BC8B9}"/>
              </a:ext>
            </a:extLst>
          </p:cNvPr>
          <p:cNvSpPr/>
          <p:nvPr/>
        </p:nvSpPr>
        <p:spPr>
          <a:xfrm>
            <a:off x="502920" y="1737360"/>
            <a:ext cx="548640" cy="640080"/>
          </a:xfrm>
          <a:prstGeom prst="rect">
            <a:avLst/>
          </a:prstGeom>
          <a:noFill/>
          <a:ln/>
        </p:spPr>
        <p:txBody>
          <a:bodyPr wrap="square" lIns="0" tIns="0" rIns="0" bIns="0" rtlCol="0" anchor="ctr"/>
          <a:lstStyle/>
          <a:p>
            <a:pPr marL="0" indent="0">
              <a:buNone/>
            </a:pPr>
            <a:r>
              <a:rPr lang="en-US" sz="3800" b="1" dirty="0">
                <a:solidFill>
                  <a:srgbClr val="1E32FA"/>
                </a:solidFill>
                <a:latin typeface="Aktiv Grotesk" pitchFamily="34" charset="0"/>
                <a:ea typeface="Aktiv Grotesk" pitchFamily="34" charset="-122"/>
                <a:cs typeface="Aktiv Grotesk" pitchFamily="34" charset="-120"/>
              </a:rPr>
              <a:t>1</a:t>
            </a:r>
            <a:endParaRPr lang="en-US" sz="3800" dirty="0"/>
          </a:p>
        </p:txBody>
      </p:sp>
      <p:sp>
        <p:nvSpPr>
          <p:cNvPr id="5" name="Text 3">
            <a:extLst>
              <a:ext uri="{FF2B5EF4-FFF2-40B4-BE49-F238E27FC236}">
                <a16:creationId xmlns:a16="http://schemas.microsoft.com/office/drawing/2014/main" id="{615E4AE0-9786-C83B-DA63-2C1A608C90E6}"/>
              </a:ext>
            </a:extLst>
          </p:cNvPr>
          <p:cNvSpPr/>
          <p:nvPr/>
        </p:nvSpPr>
        <p:spPr>
          <a:xfrm>
            <a:off x="1069848" y="1828800"/>
            <a:ext cx="3383280" cy="457200"/>
          </a:xfrm>
          <a:prstGeom prst="rect">
            <a:avLst/>
          </a:prstGeom>
          <a:noFill/>
          <a:ln/>
        </p:spPr>
        <p:txBody>
          <a:bodyPr wrap="square" lIns="0" tIns="0" rIns="0" bIns="0" rtlCol="0" anchor="ctr"/>
          <a:lstStyle/>
          <a:p>
            <a:pPr marL="0" indent="0">
              <a:buNone/>
            </a:pPr>
            <a:r>
              <a:rPr lang="en-US" sz="1800" b="1" dirty="0">
                <a:solidFill>
                  <a:srgbClr val="1E293B"/>
                </a:solidFill>
                <a:latin typeface="Aktiv Grotesk" pitchFamily="34" charset="0"/>
                <a:ea typeface="Aktiv Grotesk" pitchFamily="34" charset="-122"/>
                <a:cs typeface="Aktiv Grotesk" pitchFamily="34" charset="-120"/>
              </a:rPr>
              <a:t>Middle &gt; last</a:t>
            </a:r>
            <a:endParaRPr lang="en-US" sz="1800" dirty="0"/>
          </a:p>
        </p:txBody>
      </p:sp>
      <p:sp>
        <p:nvSpPr>
          <p:cNvPr id="6" name="Text 4">
            <a:extLst>
              <a:ext uri="{FF2B5EF4-FFF2-40B4-BE49-F238E27FC236}">
                <a16:creationId xmlns:a16="http://schemas.microsoft.com/office/drawing/2014/main" id="{EBA8B363-CC38-75D9-1BB9-1767FE18C9C4}"/>
              </a:ext>
            </a:extLst>
          </p:cNvPr>
          <p:cNvSpPr/>
          <p:nvPr/>
        </p:nvSpPr>
        <p:spPr>
          <a:xfrm>
            <a:off x="1069848" y="2286000"/>
            <a:ext cx="3383280" cy="914400"/>
          </a:xfrm>
          <a:prstGeom prst="rect">
            <a:avLst/>
          </a:prstGeom>
          <a:noFill/>
          <a:ln/>
        </p:spPr>
        <p:txBody>
          <a:bodyPr wrap="square" lIns="0" tIns="0" rIns="0" bIns="0" rtlCol="0" anchor="ctr"/>
          <a:lstStyle/>
          <a:p>
            <a:pPr marL="0" indent="0">
              <a:buNone/>
            </a:pPr>
            <a:r>
              <a:rPr lang="en-US" sz="1450" dirty="0">
                <a:solidFill>
                  <a:srgbClr val="64748B"/>
                </a:solidFill>
                <a:latin typeface="Aktiv Grotesk" pitchFamily="34" charset="0"/>
                <a:ea typeface="Aktiv Grotesk" pitchFamily="34" charset="-122"/>
                <a:cs typeface="Aktiv Grotesk" pitchFamily="34" charset="-120"/>
              </a:rPr>
              <a:t>Middle layers hold more task-relevant information than the final layer.</a:t>
            </a:r>
            <a:endParaRPr lang="en-US" sz="1450" dirty="0"/>
          </a:p>
        </p:txBody>
      </p:sp>
      <p:sp>
        <p:nvSpPr>
          <p:cNvPr id="7" name="Text 5">
            <a:extLst>
              <a:ext uri="{FF2B5EF4-FFF2-40B4-BE49-F238E27FC236}">
                <a16:creationId xmlns:a16="http://schemas.microsoft.com/office/drawing/2014/main" id="{AACB9C84-BFBA-FACF-4044-6309505228BC}"/>
              </a:ext>
            </a:extLst>
          </p:cNvPr>
          <p:cNvSpPr/>
          <p:nvPr/>
        </p:nvSpPr>
        <p:spPr>
          <a:xfrm>
            <a:off x="4846320" y="1737360"/>
            <a:ext cx="548640" cy="640080"/>
          </a:xfrm>
          <a:prstGeom prst="rect">
            <a:avLst/>
          </a:prstGeom>
          <a:noFill/>
          <a:ln/>
        </p:spPr>
        <p:txBody>
          <a:bodyPr wrap="square" lIns="0" tIns="0" rIns="0" bIns="0" rtlCol="0" anchor="ctr"/>
          <a:lstStyle/>
          <a:p>
            <a:pPr marL="0" indent="0">
              <a:buNone/>
            </a:pPr>
            <a:r>
              <a:rPr lang="en-US" sz="3800" b="1" dirty="0">
                <a:solidFill>
                  <a:srgbClr val="1E32FA"/>
                </a:solidFill>
                <a:latin typeface="Aktiv Grotesk" pitchFamily="34" charset="0"/>
                <a:ea typeface="Aktiv Grotesk" pitchFamily="34" charset="-122"/>
                <a:cs typeface="Aktiv Grotesk" pitchFamily="34" charset="-120"/>
              </a:rPr>
              <a:t>2</a:t>
            </a:r>
            <a:endParaRPr lang="en-US" sz="3800" dirty="0"/>
          </a:p>
        </p:txBody>
      </p:sp>
      <p:sp>
        <p:nvSpPr>
          <p:cNvPr id="8" name="Text 6">
            <a:extLst>
              <a:ext uri="{FF2B5EF4-FFF2-40B4-BE49-F238E27FC236}">
                <a16:creationId xmlns:a16="http://schemas.microsoft.com/office/drawing/2014/main" id="{1C12378A-0A02-A8D3-B5F9-CB91FEB8779C}"/>
              </a:ext>
            </a:extLst>
          </p:cNvPr>
          <p:cNvSpPr/>
          <p:nvPr/>
        </p:nvSpPr>
        <p:spPr>
          <a:xfrm>
            <a:off x="5413248" y="1828800"/>
            <a:ext cx="3383280" cy="457200"/>
          </a:xfrm>
          <a:prstGeom prst="rect">
            <a:avLst/>
          </a:prstGeom>
          <a:noFill/>
          <a:ln/>
        </p:spPr>
        <p:txBody>
          <a:bodyPr wrap="square" lIns="0" tIns="0" rIns="0" bIns="0" rtlCol="0" anchor="ctr"/>
          <a:lstStyle/>
          <a:p>
            <a:pPr marL="0" indent="0">
              <a:buNone/>
            </a:pPr>
            <a:r>
              <a:rPr lang="en-US" sz="1800" b="1" dirty="0">
                <a:solidFill>
                  <a:srgbClr val="1E293B"/>
                </a:solidFill>
                <a:latin typeface="Aktiv Grotesk" pitchFamily="34" charset="0"/>
                <a:ea typeface="Aktiv Grotesk" pitchFamily="34" charset="-122"/>
                <a:cs typeface="Aktiv Grotesk" pitchFamily="34" charset="-120"/>
              </a:rPr>
              <a:t>…especially OOD</a:t>
            </a:r>
            <a:endParaRPr lang="en-US" sz="1800" dirty="0"/>
          </a:p>
        </p:txBody>
      </p:sp>
      <p:sp>
        <p:nvSpPr>
          <p:cNvPr id="9" name="Text 7">
            <a:extLst>
              <a:ext uri="{FF2B5EF4-FFF2-40B4-BE49-F238E27FC236}">
                <a16:creationId xmlns:a16="http://schemas.microsoft.com/office/drawing/2014/main" id="{2E3B63EF-5088-1F97-168A-61AAA0BD039A}"/>
              </a:ext>
            </a:extLst>
          </p:cNvPr>
          <p:cNvSpPr/>
          <p:nvPr/>
        </p:nvSpPr>
        <p:spPr>
          <a:xfrm>
            <a:off x="5413248" y="2286000"/>
            <a:ext cx="3383280" cy="914400"/>
          </a:xfrm>
          <a:prstGeom prst="rect">
            <a:avLst/>
          </a:prstGeom>
          <a:noFill/>
          <a:ln/>
        </p:spPr>
        <p:txBody>
          <a:bodyPr wrap="square" lIns="0" tIns="0" rIns="0" bIns="0" rtlCol="0" anchor="ctr"/>
          <a:lstStyle/>
          <a:p>
            <a:pPr marL="0" indent="0">
              <a:buNone/>
            </a:pPr>
            <a:r>
              <a:rPr lang="en-US" sz="1450" dirty="0">
                <a:solidFill>
                  <a:srgbClr val="64748B"/>
                </a:solidFill>
                <a:latin typeface="Aktiv Grotesk" pitchFamily="34" charset="0"/>
                <a:ea typeface="Aktiv Grotesk" pitchFamily="34" charset="-122"/>
                <a:cs typeface="Aktiv Grotesk" pitchFamily="34" charset="-120"/>
              </a:rPr>
              <a:t>And that advantage grows when the data is unlike what the model was trained on.</a:t>
            </a:r>
            <a:endParaRPr lang="en-US" sz="1450" dirty="0"/>
          </a:p>
        </p:txBody>
      </p:sp>
      <p:sp>
        <p:nvSpPr>
          <p:cNvPr id="10" name="Text 8">
            <a:extLst>
              <a:ext uri="{FF2B5EF4-FFF2-40B4-BE49-F238E27FC236}">
                <a16:creationId xmlns:a16="http://schemas.microsoft.com/office/drawing/2014/main" id="{80C337DD-7942-BC21-E5DB-5F12A03FFCAC}"/>
              </a:ext>
            </a:extLst>
          </p:cNvPr>
          <p:cNvSpPr/>
          <p:nvPr/>
        </p:nvSpPr>
        <p:spPr>
          <a:xfrm>
            <a:off x="502920" y="361188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WHY A FORECASTING MODEL?</a:t>
            </a:r>
            <a:endParaRPr lang="en-US" sz="1200" dirty="0"/>
          </a:p>
        </p:txBody>
      </p:sp>
      <p:sp>
        <p:nvSpPr>
          <p:cNvPr id="11" name="Text 9">
            <a:extLst>
              <a:ext uri="{FF2B5EF4-FFF2-40B4-BE49-F238E27FC236}">
                <a16:creationId xmlns:a16="http://schemas.microsoft.com/office/drawing/2014/main" id="{A061B860-A732-1B7C-E4BA-28C5BF21E9D0}"/>
              </a:ext>
            </a:extLst>
          </p:cNvPr>
          <p:cNvSpPr/>
          <p:nvPr/>
        </p:nvSpPr>
        <p:spPr>
          <a:xfrm>
            <a:off x="502920" y="3913632"/>
            <a:ext cx="8229600" cy="731520"/>
          </a:xfrm>
          <a:prstGeom prst="rect">
            <a:avLst/>
          </a:prstGeom>
          <a:noFill/>
          <a:ln/>
        </p:spPr>
        <p:txBody>
          <a:bodyPr wrap="square" lIns="0" tIns="0" rIns="0" bIns="0" rtlCol="0" anchor="ctr"/>
          <a:lstStyle/>
          <a:p>
            <a:pPr marL="0" indent="0">
              <a:buNone/>
            </a:pPr>
            <a:r>
              <a:rPr lang="en-US" sz="1500" dirty="0">
                <a:solidFill>
                  <a:srgbClr val="1E293B"/>
                </a:solidFill>
                <a:latin typeface="Aktiv Grotesk" pitchFamily="34" charset="0"/>
                <a:ea typeface="Aktiv Grotesk" pitchFamily="34" charset="-122"/>
                <a:cs typeface="Aktiv Grotesk" pitchFamily="34" charset="-120"/>
              </a:rPr>
              <a:t>Chronos-2’s final layer is tuned to produce forecasts — so it may discard the general structure that middle layers still hold. If a tunnel effect exists, the last layer is where it should show.</a:t>
            </a:r>
            <a:endParaRPr lang="en-US" sz="1500" dirty="0"/>
          </a:p>
        </p:txBody>
      </p:sp>
    </p:spTree>
    <p:extLst>
      <p:ext uri="{BB962C8B-B14F-4D97-AF65-F5344CB8AC3E}">
        <p14:creationId xmlns:p14="http://schemas.microsoft.com/office/powerpoint/2010/main" val="2150704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SETUP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Freeze the model, then read each layer</a:t>
            </a:r>
            <a:endParaRPr lang="en-US" sz="2800" dirty="0"/>
          </a:p>
        </p:txBody>
      </p:sp>
      <p:sp>
        <p:nvSpPr>
          <p:cNvPr id="4" name="Shape 2"/>
          <p:cNvSpPr/>
          <p:nvPr/>
        </p:nvSpPr>
        <p:spPr>
          <a:xfrm>
            <a:off x="502920" y="2103120"/>
            <a:ext cx="1371600" cy="914400"/>
          </a:xfrm>
          <a:prstGeom prst="rect">
            <a:avLst/>
          </a:prstGeom>
          <a:solidFill>
            <a:srgbClr val="FFFFFF"/>
          </a:solidFill>
          <a:ln w="15875">
            <a:solidFill>
              <a:srgbClr val="1E32FA"/>
            </a:solidFill>
            <a:prstDash val="solid"/>
          </a:ln>
        </p:spPr>
        <p:txBody>
          <a:bodyPr/>
          <a:lstStyle/>
          <a:p>
            <a:endParaRPr lang="en-US"/>
          </a:p>
        </p:txBody>
      </p:sp>
      <p:sp>
        <p:nvSpPr>
          <p:cNvPr id="5" name="Text 3"/>
          <p:cNvSpPr/>
          <p:nvPr/>
        </p:nvSpPr>
        <p:spPr>
          <a:xfrm>
            <a:off x="502920" y="2103120"/>
            <a:ext cx="1371600" cy="914400"/>
          </a:xfrm>
          <a:prstGeom prst="rect">
            <a:avLst/>
          </a:prstGeom>
          <a:noFill/>
          <a:ln/>
        </p:spPr>
        <p:txBody>
          <a:bodyPr wrap="square" lIns="0" tIns="0" rIns="0" bIns="0" rtlCol="0" anchor="ctr"/>
          <a:lstStyle/>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Time-series</a:t>
            </a:r>
            <a:endParaRPr lang="en-US" sz="1250" dirty="0"/>
          </a:p>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task</a:t>
            </a:r>
            <a:endParaRPr lang="en-US" sz="1250" dirty="0"/>
          </a:p>
        </p:txBody>
      </p:sp>
      <p:sp>
        <p:nvSpPr>
          <p:cNvPr id="6" name="Shape 4"/>
          <p:cNvSpPr/>
          <p:nvPr/>
        </p:nvSpPr>
        <p:spPr>
          <a:xfrm>
            <a:off x="1929384" y="2560320"/>
            <a:ext cx="393192" cy="0"/>
          </a:xfrm>
          <a:prstGeom prst="line">
            <a:avLst/>
          </a:prstGeom>
          <a:noFill/>
          <a:ln w="22225">
            <a:solidFill>
              <a:srgbClr val="64748B"/>
            </a:solidFill>
            <a:prstDash val="solid"/>
            <a:tailEnd type="triangle"/>
          </a:ln>
        </p:spPr>
        <p:txBody>
          <a:bodyPr/>
          <a:lstStyle/>
          <a:p>
            <a:endParaRPr lang="en-US"/>
          </a:p>
        </p:txBody>
      </p:sp>
      <p:sp>
        <p:nvSpPr>
          <p:cNvPr id="7" name="Shape 5"/>
          <p:cNvSpPr/>
          <p:nvPr/>
        </p:nvSpPr>
        <p:spPr>
          <a:xfrm>
            <a:off x="2377440" y="2103120"/>
            <a:ext cx="1371600" cy="914400"/>
          </a:xfrm>
          <a:prstGeom prst="rect">
            <a:avLst/>
          </a:prstGeom>
          <a:solidFill>
            <a:srgbClr val="FFFFFF"/>
          </a:solidFill>
          <a:ln w="15875">
            <a:solidFill>
              <a:srgbClr val="1E32FA"/>
            </a:solidFill>
            <a:prstDash val="solid"/>
          </a:ln>
        </p:spPr>
        <p:txBody>
          <a:bodyPr/>
          <a:lstStyle/>
          <a:p>
            <a:endParaRPr lang="en-US"/>
          </a:p>
        </p:txBody>
      </p:sp>
      <p:sp>
        <p:nvSpPr>
          <p:cNvPr id="8" name="Text 6"/>
          <p:cNvSpPr/>
          <p:nvPr/>
        </p:nvSpPr>
        <p:spPr>
          <a:xfrm>
            <a:off x="2377440" y="2103120"/>
            <a:ext cx="1371600" cy="914400"/>
          </a:xfrm>
          <a:prstGeom prst="rect">
            <a:avLst/>
          </a:prstGeom>
          <a:noFill/>
          <a:ln/>
        </p:spPr>
        <p:txBody>
          <a:bodyPr wrap="square" lIns="0" tIns="0" rIns="0" bIns="0" rtlCol="0" anchor="ctr"/>
          <a:lstStyle/>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Frozen</a:t>
            </a:r>
            <a:endParaRPr lang="en-US" sz="1250" dirty="0"/>
          </a:p>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Chronos-2</a:t>
            </a:r>
            <a:endParaRPr lang="en-US" sz="1250" dirty="0"/>
          </a:p>
        </p:txBody>
      </p:sp>
      <p:sp>
        <p:nvSpPr>
          <p:cNvPr id="9" name="Shape 7"/>
          <p:cNvSpPr/>
          <p:nvPr/>
        </p:nvSpPr>
        <p:spPr>
          <a:xfrm>
            <a:off x="3803904" y="2560320"/>
            <a:ext cx="393192" cy="0"/>
          </a:xfrm>
          <a:prstGeom prst="line">
            <a:avLst/>
          </a:prstGeom>
          <a:noFill/>
          <a:ln w="22225">
            <a:solidFill>
              <a:srgbClr val="64748B"/>
            </a:solidFill>
            <a:prstDash val="solid"/>
            <a:tailEnd type="triangle"/>
          </a:ln>
        </p:spPr>
        <p:txBody>
          <a:bodyPr/>
          <a:lstStyle/>
          <a:p>
            <a:endParaRPr lang="en-US"/>
          </a:p>
        </p:txBody>
      </p:sp>
      <p:sp>
        <p:nvSpPr>
          <p:cNvPr id="10" name="Shape 8"/>
          <p:cNvSpPr/>
          <p:nvPr/>
        </p:nvSpPr>
        <p:spPr>
          <a:xfrm>
            <a:off x="4251960" y="2103120"/>
            <a:ext cx="1371600" cy="914400"/>
          </a:xfrm>
          <a:prstGeom prst="rect">
            <a:avLst/>
          </a:prstGeom>
          <a:solidFill>
            <a:srgbClr val="FFFFFF"/>
          </a:solidFill>
          <a:ln w="15875">
            <a:solidFill>
              <a:srgbClr val="1E32FA"/>
            </a:solidFill>
            <a:prstDash val="solid"/>
          </a:ln>
        </p:spPr>
        <p:txBody>
          <a:bodyPr/>
          <a:lstStyle/>
          <a:p>
            <a:endParaRPr lang="en-US"/>
          </a:p>
        </p:txBody>
      </p:sp>
      <p:sp>
        <p:nvSpPr>
          <p:cNvPr id="11" name="Text 9"/>
          <p:cNvSpPr/>
          <p:nvPr/>
        </p:nvSpPr>
        <p:spPr>
          <a:xfrm>
            <a:off x="4251960" y="2103120"/>
            <a:ext cx="1371600" cy="914400"/>
          </a:xfrm>
          <a:prstGeom prst="rect">
            <a:avLst/>
          </a:prstGeom>
          <a:noFill/>
          <a:ln/>
        </p:spPr>
        <p:txBody>
          <a:bodyPr wrap="square" lIns="0" tIns="0" rIns="0" bIns="0" rtlCol="0" anchor="ctr"/>
          <a:lstStyle/>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Read label</a:t>
            </a:r>
            <a:endParaRPr lang="en-US" sz="1250" dirty="0"/>
          </a:p>
          <a:p>
            <a:pPr marL="0" indent="0" algn="ctr">
              <a:buNone/>
            </a:pPr>
            <a:r>
              <a:rPr lang="en-US" sz="1250" b="1" dirty="0">
                <a:solidFill>
                  <a:srgbClr val="1E293B"/>
                </a:solidFill>
                <a:latin typeface="Aktiv Grotesk" pitchFamily="34" charset="0"/>
                <a:ea typeface="Aktiv Grotesk" pitchFamily="34" charset="-122"/>
                <a:cs typeface="Aktiv Grotesk" pitchFamily="34" charset="-120"/>
              </a:rPr>
              <a:t>from each layer</a:t>
            </a:r>
            <a:endParaRPr lang="en-US" sz="1250" dirty="0"/>
          </a:p>
        </p:txBody>
      </p:sp>
      <p:sp>
        <p:nvSpPr>
          <p:cNvPr id="12" name="Text 10"/>
          <p:cNvSpPr/>
          <p:nvPr/>
        </p:nvSpPr>
        <p:spPr>
          <a:xfrm>
            <a:off x="502920" y="3337560"/>
            <a:ext cx="5029200" cy="822960"/>
          </a:xfrm>
          <a:prstGeom prst="rect">
            <a:avLst/>
          </a:prstGeom>
          <a:noFill/>
          <a:ln/>
        </p:spPr>
        <p:txBody>
          <a:bodyPr wrap="square" lIns="0" tIns="0" rIns="0" bIns="0" rtlCol="0" anchor="ctr"/>
          <a:lstStyle/>
          <a:p>
            <a:pPr marL="0" indent="0">
              <a:buNone/>
            </a:pPr>
            <a:r>
              <a:rPr lang="en-US" sz="1350" b="1" dirty="0">
                <a:solidFill>
                  <a:srgbClr val="1E293B"/>
                </a:solidFill>
                <a:latin typeface="Aktiv Grotesk" pitchFamily="34" charset="0"/>
                <a:ea typeface="Aktiv Grotesk" pitchFamily="34" charset="-122"/>
                <a:cs typeface="Aktiv Grotesk" pitchFamily="34" charset="-120"/>
              </a:rPr>
              <a:t>What we measure:  </a:t>
            </a:r>
            <a:r>
              <a:rPr lang="en-US" sz="1350" dirty="0">
                <a:solidFill>
                  <a:srgbClr val="64748B"/>
                </a:solidFill>
                <a:latin typeface="Aktiv Grotesk" pitchFamily="34" charset="0"/>
                <a:ea typeface="Aktiv Grotesk" pitchFamily="34" charset="-122"/>
                <a:cs typeface="Aktiv Grotesk" pitchFamily="34" charset="-120"/>
              </a:rPr>
              <a:t>how much task-relevant information each layer holds. The model is never changed.</a:t>
            </a:r>
            <a:endParaRPr lang="en-US" sz="1350" dirty="0"/>
          </a:p>
        </p:txBody>
      </p:sp>
      <p:sp>
        <p:nvSpPr>
          <p:cNvPr id="13" name="Shape 11"/>
          <p:cNvSpPr/>
          <p:nvPr/>
        </p:nvSpPr>
        <p:spPr>
          <a:xfrm>
            <a:off x="5760720" y="1645920"/>
            <a:ext cx="0" cy="3017520"/>
          </a:xfrm>
          <a:prstGeom prst="line">
            <a:avLst/>
          </a:prstGeom>
          <a:noFill/>
          <a:ln w="12700">
            <a:solidFill>
              <a:srgbClr val="D7DEE6"/>
            </a:solidFill>
            <a:prstDash val="solid"/>
          </a:ln>
        </p:spPr>
        <p:txBody>
          <a:bodyPr/>
          <a:lstStyle/>
          <a:p>
            <a:endParaRPr lang="en-US"/>
          </a:p>
        </p:txBody>
      </p:sp>
      <p:sp>
        <p:nvSpPr>
          <p:cNvPr id="14" name="Text 12"/>
          <p:cNvSpPr/>
          <p:nvPr/>
        </p:nvSpPr>
        <p:spPr>
          <a:xfrm>
            <a:off x="5989320" y="1691640"/>
            <a:ext cx="27432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THE DATA — AND WHY</a:t>
            </a:r>
            <a:endParaRPr lang="en-US" sz="1200" dirty="0"/>
          </a:p>
        </p:txBody>
      </p:sp>
      <p:sp>
        <p:nvSpPr>
          <p:cNvPr id="15" name="Text 13"/>
          <p:cNvSpPr/>
          <p:nvPr/>
        </p:nvSpPr>
        <p:spPr>
          <a:xfrm>
            <a:off x="5989320" y="2029968"/>
            <a:ext cx="2743200" cy="2651760"/>
          </a:xfrm>
          <a:prstGeom prst="rect">
            <a:avLst/>
          </a:prstGeom>
          <a:noFill/>
          <a:ln/>
        </p:spPr>
        <p:txBody>
          <a:bodyPr wrap="square" lIns="0" tIns="0" rIns="0" bIns="0" rtlCol="0" anchor="t"/>
          <a:lstStyle/>
          <a:p>
            <a:pPr marL="0" indent="0">
              <a:spcAft>
                <a:spcPts val="900"/>
              </a:spcAft>
              <a:buNone/>
            </a:pPr>
            <a:r>
              <a:rPr lang="en-US" sz="1300" dirty="0">
                <a:solidFill>
                  <a:srgbClr val="1E293B"/>
                </a:solidFill>
                <a:latin typeface="Aktiv Grotesk" pitchFamily="34" charset="0"/>
                <a:ea typeface="Aktiv Grotesk" pitchFamily="34" charset="-122"/>
                <a:cs typeface="Aktiv Grotesk" pitchFamily="34" charset="-120"/>
              </a:rPr>
              <a:t>Standard time-series classification tasks (UEA).</a:t>
            </a:r>
            <a:endParaRPr lang="en-US" sz="1300" dirty="0"/>
          </a:p>
          <a:p>
            <a:pPr marL="177800" indent="-177800">
              <a:spcAft>
                <a:spcPts val="900"/>
              </a:spcAft>
              <a:buSzPct val="100000"/>
              <a:buChar char="•"/>
            </a:pPr>
            <a:r>
              <a:rPr lang="en-US" sz="1300" dirty="0">
                <a:solidFill>
                  <a:srgbClr val="64748B"/>
                </a:solidFill>
                <a:latin typeface="Aktiv Grotesk" pitchFamily="34" charset="0"/>
                <a:ea typeface="Aktiv Grotesk" pitchFamily="34" charset="-122"/>
                <a:cs typeface="Aktiv Grotesk" pitchFamily="34" charset="-120"/>
              </a:rPr>
              <a:t>First tries were too easy — every layer scored near-perfect, so layer differences were invisible.</a:t>
            </a:r>
            <a:endParaRPr lang="en-US" sz="1300" dirty="0"/>
          </a:p>
          <a:p>
            <a:pPr marL="177800" indent="-177800">
              <a:spcAft>
                <a:spcPts val="600"/>
              </a:spcAft>
              <a:buSzPct val="100000"/>
              <a:buChar char="•"/>
            </a:pPr>
            <a:r>
              <a:rPr lang="en-US" sz="1300" dirty="0">
                <a:solidFill>
                  <a:srgbClr val="64748B"/>
                </a:solidFill>
                <a:latin typeface="Aktiv Grotesk" pitchFamily="34" charset="0"/>
                <a:ea typeface="Aktiv Grotesk" pitchFamily="34" charset="-122"/>
                <a:cs typeface="Aktiv Grotesk" pitchFamily="34" charset="-120"/>
              </a:rPr>
              <a:t>Switched to harder tasks across domains far from forecasting:</a:t>
            </a:r>
            <a:endParaRPr lang="en-US" sz="1300" dirty="0"/>
          </a:p>
          <a:p>
            <a:pPr marL="0" indent="0">
              <a:buNone/>
            </a:pPr>
            <a:r>
              <a:rPr lang="en-US" sz="1300" b="1" i="1" dirty="0">
                <a:solidFill>
                  <a:srgbClr val="1E32FA"/>
                </a:solidFill>
                <a:latin typeface="Aktiv Grotesk" pitchFamily="34" charset="0"/>
                <a:ea typeface="Aktiv Grotesk" pitchFamily="34" charset="-122"/>
                <a:cs typeface="Aktiv Grotesk" pitchFamily="34" charset="-120"/>
              </a:rPr>
              <a:t>EEG · handwriting · light-curves · chemical spectra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FINDING 1</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Accuracy peaks in the middle, drops at the end</a:t>
            </a:r>
            <a:endParaRPr lang="en-US" sz="2800" dirty="0"/>
          </a:p>
        </p:txBody>
      </p:sp>
      <p:pic>
        <p:nvPicPr>
          <p:cNvPr id="4" name="Image 0" descr="/mnt/user-data/uploads/fig_handwriting_id_ood.png"/>
          <p:cNvPicPr>
            <a:picLocks noChangeAspect="1"/>
          </p:cNvPicPr>
          <p:nvPr/>
        </p:nvPicPr>
        <p:blipFill>
          <a:blip r:embed="rId3"/>
          <a:stretch>
            <a:fillRect/>
          </a:stretch>
        </p:blipFill>
        <p:spPr>
          <a:xfrm>
            <a:off x="457200" y="1581912"/>
            <a:ext cx="5166360" cy="3099816"/>
          </a:xfrm>
          <a:prstGeom prst="rect">
            <a:avLst/>
          </a:prstGeom>
        </p:spPr>
      </p:pic>
      <p:sp>
        <p:nvSpPr>
          <p:cNvPr id="5" name="Text 2"/>
          <p:cNvSpPr/>
          <p:nvPr/>
        </p:nvSpPr>
        <p:spPr>
          <a:xfrm>
            <a:off x="5897880" y="1783080"/>
            <a:ext cx="27432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TAKEAWAY</a:t>
            </a:r>
            <a:endParaRPr lang="en-US" sz="1200" dirty="0"/>
          </a:p>
        </p:txBody>
      </p:sp>
      <p:sp>
        <p:nvSpPr>
          <p:cNvPr id="6" name="Text 3"/>
          <p:cNvSpPr/>
          <p:nvPr/>
        </p:nvSpPr>
        <p:spPr>
          <a:xfrm>
            <a:off x="5897880" y="2148840"/>
            <a:ext cx="2788920" cy="2468880"/>
          </a:xfrm>
          <a:prstGeom prst="rect">
            <a:avLst/>
          </a:prstGeom>
          <a:noFill/>
          <a:ln/>
        </p:spPr>
        <p:txBody>
          <a:bodyPr wrap="square" rtlCol="0" anchor="t"/>
          <a:lstStyle/>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The classic tunnel shape: rises as features build, plateaus, then falls at the last layer.</a:t>
            </a:r>
            <a:endParaRPr lang="en-US" sz="1500" dirty="0"/>
          </a:p>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Far above chance — the model genuinely encodes the task.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FINDING 1 — ROBUSTNESS</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It holds across very different domains</a:t>
            </a:r>
            <a:endParaRPr lang="en-US" sz="2800" dirty="0"/>
          </a:p>
        </p:txBody>
      </p:sp>
      <p:pic>
        <p:nvPicPr>
          <p:cNvPr id="4" name="Image 0" descr="/mnt/user-data/uploads/fig_dataset_forest.png"/>
          <p:cNvPicPr>
            <a:picLocks noChangeAspect="1"/>
          </p:cNvPicPr>
          <p:nvPr/>
        </p:nvPicPr>
        <p:blipFill>
          <a:blip r:embed="rId3"/>
          <a:stretch>
            <a:fillRect/>
          </a:stretch>
        </p:blipFill>
        <p:spPr>
          <a:xfrm>
            <a:off x="457200" y="1581912"/>
            <a:ext cx="5166360" cy="3099816"/>
          </a:xfrm>
          <a:prstGeom prst="rect">
            <a:avLst/>
          </a:prstGeom>
        </p:spPr>
      </p:pic>
      <p:sp>
        <p:nvSpPr>
          <p:cNvPr id="5" name="Text 2"/>
          <p:cNvSpPr/>
          <p:nvPr/>
        </p:nvSpPr>
        <p:spPr>
          <a:xfrm>
            <a:off x="5897880" y="1783080"/>
            <a:ext cx="27432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TAKEAWAY</a:t>
            </a:r>
            <a:endParaRPr lang="en-US" sz="1200" dirty="0"/>
          </a:p>
        </p:txBody>
      </p:sp>
      <p:sp>
        <p:nvSpPr>
          <p:cNvPr id="6" name="Text 3"/>
          <p:cNvSpPr/>
          <p:nvPr/>
        </p:nvSpPr>
        <p:spPr>
          <a:xfrm>
            <a:off x="5897880" y="2148840"/>
            <a:ext cx="2788920" cy="2468880"/>
          </a:xfrm>
          <a:prstGeom prst="rect">
            <a:avLst/>
          </a:prstGeom>
          <a:noFill/>
          <a:ln/>
        </p:spPr>
        <p:txBody>
          <a:bodyPr wrap="square" rtlCol="0" anchor="t"/>
          <a:lstStyle/>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The last-layer drop is significant in 5 of 6 datasets.</a:t>
            </a:r>
            <a:endParaRPr lang="en-US" sz="1500" dirty="0"/>
          </a:p>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Spans EEG, handwriting, light-curves, chemistry — not a one-dataset quirk.</a:t>
            </a:r>
            <a:endParaRPr lang="en-US" sz="1500" dirty="0"/>
          </a:p>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(The 6th sits near chance, so it can’t show the effect.)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221328-6A31-9284-63F4-F5420E393B03}"/>
              </a:ext>
            </a:extLst>
          </p:cNvPr>
          <p:cNvPicPr>
            <a:picLocks noChangeAspect="1"/>
          </p:cNvPicPr>
          <p:nvPr/>
        </p:nvPicPr>
        <p:blipFill>
          <a:blip r:embed="rId2"/>
          <a:stretch>
            <a:fillRect/>
          </a:stretch>
        </p:blipFill>
        <p:spPr>
          <a:xfrm>
            <a:off x="685800" y="211021"/>
            <a:ext cx="7772400" cy="4721457"/>
          </a:xfrm>
          <a:prstGeom prst="rect">
            <a:avLst/>
          </a:prstGeom>
        </p:spPr>
      </p:pic>
    </p:spTree>
    <p:extLst>
      <p:ext uri="{BB962C8B-B14F-4D97-AF65-F5344CB8AC3E}">
        <p14:creationId xmlns:p14="http://schemas.microsoft.com/office/powerpoint/2010/main" val="178162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FINDING 2</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The out-of-distribution prediction does not hold</a:t>
            </a:r>
            <a:endParaRPr lang="en-US" sz="2800" dirty="0"/>
          </a:p>
        </p:txBody>
      </p:sp>
      <p:sp>
        <p:nvSpPr>
          <p:cNvPr id="5" name="Text 2"/>
          <p:cNvSpPr/>
          <p:nvPr/>
        </p:nvSpPr>
        <p:spPr>
          <a:xfrm>
            <a:off x="5897880" y="1783080"/>
            <a:ext cx="27432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TAKEAWAY</a:t>
            </a:r>
            <a:endParaRPr lang="en-US" sz="1200" dirty="0"/>
          </a:p>
        </p:txBody>
      </p:sp>
      <p:sp>
        <p:nvSpPr>
          <p:cNvPr id="6" name="Text 3"/>
          <p:cNvSpPr/>
          <p:nvPr/>
        </p:nvSpPr>
        <p:spPr>
          <a:xfrm>
            <a:off x="5897880" y="2148840"/>
            <a:ext cx="2788920" cy="2697480"/>
          </a:xfrm>
          <a:prstGeom prst="rect">
            <a:avLst/>
          </a:prstGeom>
          <a:noFill/>
          <a:ln/>
        </p:spPr>
        <p:txBody>
          <a:bodyPr wrap="square" rtlCol="0" anchor="t"/>
          <a:lstStyle/>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Prediction: the gap should widen under distribution shift.</a:t>
            </a:r>
            <a:endParaRPr lang="en-US" sz="1500" dirty="0"/>
          </a:p>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Across 6 datasets × 3 shifts (18 cells): only 3 significant, and 2 go the wrong way.</a:t>
            </a:r>
            <a:endParaRPr lang="en-US" sz="1500" dirty="0"/>
          </a:p>
          <a:p>
            <a:pPr marL="177800" indent="-177800">
              <a:spcAft>
                <a:spcPts val="1200"/>
              </a:spcAft>
              <a:buSzPct val="100000"/>
              <a:buChar char="•"/>
            </a:pPr>
            <a:r>
              <a:rPr lang="en-US" sz="1500" dirty="0">
                <a:solidFill>
                  <a:srgbClr val="1E293B"/>
                </a:solidFill>
                <a:latin typeface="Aktiv Grotesk" pitchFamily="34" charset="0"/>
                <a:ea typeface="Aktiv Grotesk" pitchFamily="34" charset="-122"/>
                <a:cs typeface="Aktiv Grotesk" pitchFamily="34" charset="-120"/>
              </a:rPr>
              <a:t>Gaussian noise hits the early layers, not the last — the opposite of the prediction.</a:t>
            </a:r>
            <a:endParaRPr lang="en-US" sz="1500" dirty="0"/>
          </a:p>
        </p:txBody>
      </p:sp>
      <p:pic>
        <p:nvPicPr>
          <p:cNvPr id="7" name="Picture 6" descr="fig_grid_idood_gauss.png"/>
          <p:cNvPicPr>
            <a:picLocks noChangeAspect="1"/>
          </p:cNvPicPr>
          <p:nvPr/>
        </p:nvPicPr>
        <p:blipFill>
          <a:blip r:embed="rId3"/>
          <a:stretch>
            <a:fillRect/>
          </a:stretch>
        </p:blipFill>
        <p:spPr>
          <a:xfrm>
            <a:off x="457200" y="1947113"/>
            <a:ext cx="5166360" cy="2369413"/>
          </a:xfrm>
          <a:prstGeom prst="rect">
            <a:avLst/>
          </a:prstGeom>
        </p:spPr>
      </p:pic>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E0C21341-7A30-E5F3-D6F4-AF29368BFE2E}"/>
                  </a:ext>
                </a:extLst>
              </p14:cNvPr>
              <p14:cNvContentPartPr/>
              <p14:nvPr/>
            </p14:nvContentPartPr>
            <p14:xfrm>
              <a:off x="3256200" y="2065843"/>
              <a:ext cx="923400" cy="151200"/>
            </p14:xfrm>
          </p:contentPart>
        </mc:Choice>
        <mc:Fallback>
          <p:pic>
            <p:nvPicPr>
              <p:cNvPr id="10" name="Ink 9">
                <a:extLst>
                  <a:ext uri="{FF2B5EF4-FFF2-40B4-BE49-F238E27FC236}">
                    <a16:creationId xmlns:a16="http://schemas.microsoft.com/office/drawing/2014/main" id="{E0C21341-7A30-E5F3-D6F4-AF29368BFE2E}"/>
                  </a:ext>
                </a:extLst>
              </p:cNvPr>
              <p:cNvPicPr/>
              <p:nvPr/>
            </p:nvPicPr>
            <p:blipFill>
              <a:blip r:embed="rId5"/>
              <a:stretch>
                <a:fillRect/>
              </a:stretch>
            </p:blipFill>
            <p:spPr>
              <a:xfrm>
                <a:off x="3250080" y="2059723"/>
                <a:ext cx="935640" cy="16344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74B9DC-D347-E885-FB3E-40C12EF36EBB}"/>
              </a:ext>
            </a:extLst>
          </p:cNvPr>
          <p:cNvPicPr>
            <a:picLocks noChangeAspect="1"/>
          </p:cNvPicPr>
          <p:nvPr/>
        </p:nvPicPr>
        <p:blipFill>
          <a:blip r:embed="rId2"/>
          <a:stretch>
            <a:fillRect/>
          </a:stretch>
        </p:blipFill>
        <p:spPr>
          <a:xfrm>
            <a:off x="685800" y="767443"/>
            <a:ext cx="7772400" cy="3608614"/>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25BBF6B-A9CD-80BF-0368-39ACC2DF0AD8}"/>
                  </a:ext>
                </a:extLst>
              </p14:cNvPr>
              <p14:cNvContentPartPr/>
              <p14:nvPr/>
            </p14:nvContentPartPr>
            <p14:xfrm>
              <a:off x="7132436" y="1032143"/>
              <a:ext cx="710640" cy="167760"/>
            </p14:xfrm>
          </p:contentPart>
        </mc:Choice>
        <mc:Fallback>
          <p:pic>
            <p:nvPicPr>
              <p:cNvPr id="4" name="Ink 3">
                <a:extLst>
                  <a:ext uri="{FF2B5EF4-FFF2-40B4-BE49-F238E27FC236}">
                    <a16:creationId xmlns:a16="http://schemas.microsoft.com/office/drawing/2014/main" id="{F25BBF6B-A9CD-80BF-0368-39ACC2DF0AD8}"/>
                  </a:ext>
                </a:extLst>
              </p:cNvPr>
              <p:cNvPicPr/>
              <p:nvPr/>
            </p:nvPicPr>
            <p:blipFill>
              <a:blip r:embed="rId4"/>
              <a:stretch>
                <a:fillRect/>
              </a:stretch>
            </p:blipFill>
            <p:spPr>
              <a:xfrm>
                <a:off x="7126316" y="1026023"/>
                <a:ext cx="722880" cy="180000"/>
              </a:xfrm>
              <a:prstGeom prst="rect">
                <a:avLst/>
              </a:prstGeom>
            </p:spPr>
          </p:pic>
        </mc:Fallback>
      </mc:AlternateContent>
    </p:spTree>
    <p:extLst>
      <p:ext uri="{BB962C8B-B14F-4D97-AF65-F5344CB8AC3E}">
        <p14:creationId xmlns:p14="http://schemas.microsoft.com/office/powerpoint/2010/main" val="3705588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6D2188-B3C5-2915-FA97-160C04F91DCC}"/>
              </a:ext>
            </a:extLst>
          </p:cNvPr>
          <p:cNvPicPr>
            <a:picLocks noChangeAspect="1"/>
          </p:cNvPicPr>
          <p:nvPr/>
        </p:nvPicPr>
        <p:blipFill>
          <a:blip r:embed="rId3"/>
          <a:stretch>
            <a:fillRect/>
          </a:stretch>
        </p:blipFill>
        <p:spPr>
          <a:xfrm>
            <a:off x="685800" y="317383"/>
            <a:ext cx="7772400" cy="4508733"/>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F12F9241-E9BD-6CE2-F004-820E4C47BB18}"/>
                  </a:ext>
                </a:extLst>
              </p14:cNvPr>
              <p14:cNvContentPartPr/>
              <p14:nvPr/>
            </p14:nvContentPartPr>
            <p14:xfrm>
              <a:off x="1309018" y="795623"/>
              <a:ext cx="804600" cy="149400"/>
            </p14:xfrm>
          </p:contentPart>
        </mc:Choice>
        <mc:Fallback>
          <p:pic>
            <p:nvPicPr>
              <p:cNvPr id="4" name="Ink 3">
                <a:extLst>
                  <a:ext uri="{FF2B5EF4-FFF2-40B4-BE49-F238E27FC236}">
                    <a16:creationId xmlns:a16="http://schemas.microsoft.com/office/drawing/2014/main" id="{F12F9241-E9BD-6CE2-F004-820E4C47BB18}"/>
                  </a:ext>
                </a:extLst>
              </p:cNvPr>
              <p:cNvPicPr/>
              <p:nvPr/>
            </p:nvPicPr>
            <p:blipFill>
              <a:blip r:embed="rId5"/>
              <a:stretch>
                <a:fillRect/>
              </a:stretch>
            </p:blipFill>
            <p:spPr>
              <a:xfrm>
                <a:off x="1302898" y="789503"/>
                <a:ext cx="816840" cy="161640"/>
              </a:xfrm>
              <a:prstGeom prst="rect">
                <a:avLst/>
              </a:prstGeom>
            </p:spPr>
          </p:pic>
        </mc:Fallback>
      </mc:AlternateContent>
    </p:spTree>
    <p:extLst>
      <p:ext uri="{BB962C8B-B14F-4D97-AF65-F5344CB8AC3E}">
        <p14:creationId xmlns:p14="http://schemas.microsoft.com/office/powerpoint/2010/main" val="3358851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8229600" cy="256032"/>
          </a:xfrm>
          <a:prstGeom prst="rect">
            <a:avLst/>
          </a:prstGeom>
          <a:noFill/>
        </p:spPr>
        <p:txBody>
          <a:bodyPr wrap="square" lIns="0" tIns="0" rIns="0" bIns="0">
            <a:spAutoFit/>
          </a:bodyPr>
          <a:lstStyle/>
          <a:p>
            <a:pPr algn="l"/>
            <a:r>
              <a:rPr sz="1300" b="1" i="0" spc="180">
                <a:solidFill>
                  <a:srgbClr val="1E32FA"/>
                </a:solidFill>
                <a:latin typeface="Aktiv Grotesk"/>
              </a:rPr>
              <a:t>BACKUP</a:t>
            </a:r>
          </a:p>
        </p:txBody>
      </p:sp>
      <p:sp>
        <p:nvSpPr>
          <p:cNvPr id="3" name="TextBox 2"/>
          <p:cNvSpPr txBox="1"/>
          <p:nvPr/>
        </p:nvSpPr>
        <p:spPr>
          <a:xfrm>
            <a:off x="502920" y="603504"/>
            <a:ext cx="8229600" cy="475488"/>
          </a:xfrm>
          <a:prstGeom prst="rect">
            <a:avLst/>
          </a:prstGeom>
          <a:noFill/>
        </p:spPr>
        <p:txBody>
          <a:bodyPr wrap="square" lIns="0" tIns="0" rIns="0" bIns="0">
            <a:spAutoFit/>
          </a:bodyPr>
          <a:lstStyle/>
          <a:p>
            <a:pPr algn="l"/>
            <a:r>
              <a:rPr sz="2600" b="1" i="0" dirty="0">
                <a:solidFill>
                  <a:srgbClr val="1E293B"/>
                </a:solidFill>
                <a:latin typeface="Aktiv Grotesk"/>
              </a:rPr>
              <a:t>Per-shift amplification — all 18 cells</a:t>
            </a:r>
          </a:p>
        </p:txBody>
      </p:sp>
      <p:sp>
        <p:nvSpPr>
          <p:cNvPr id="4" name="TextBox 3"/>
          <p:cNvSpPr txBox="1"/>
          <p:nvPr/>
        </p:nvSpPr>
        <p:spPr>
          <a:xfrm>
            <a:off x="502920" y="1097280"/>
            <a:ext cx="8229600" cy="237744"/>
          </a:xfrm>
          <a:prstGeom prst="rect">
            <a:avLst/>
          </a:prstGeom>
          <a:noFill/>
        </p:spPr>
        <p:txBody>
          <a:bodyPr wrap="square" lIns="0" tIns="0" rIns="0" bIns="0">
            <a:spAutoFit/>
          </a:bodyPr>
          <a:lstStyle/>
          <a:p>
            <a:pPr algn="l"/>
            <a:r>
              <a:rPr sz="1100" b="0" i="1">
                <a:solidFill>
                  <a:srgbClr val="64748B"/>
                </a:solidFill>
                <a:latin typeface="Aktiv Grotesk"/>
              </a:rPr>
              <a:t>A = Δ_OOD − Δ_ID,  where Δ = mean(layers 3–8) − layer 11</a:t>
            </a:r>
          </a:p>
        </p:txBody>
      </p:sp>
      <p:graphicFrame>
        <p:nvGraphicFramePr>
          <p:cNvPr id="5" name="Table 4"/>
          <p:cNvGraphicFramePr>
            <a:graphicFrameLocks noGrp="1"/>
          </p:cNvGraphicFramePr>
          <p:nvPr/>
        </p:nvGraphicFramePr>
        <p:xfrm>
          <a:off x="457200" y="1426464"/>
          <a:ext cx="8229600" cy="3026664"/>
        </p:xfrm>
        <a:graphic>
          <a:graphicData uri="http://schemas.openxmlformats.org/drawingml/2006/table">
            <a:tbl>
              <a:tblPr>
                <a:tableStyleId>{5C22544A-7EE6-4342-B048-85BDC9FD1C3A}</a:tableStyleId>
              </a:tblPr>
              <a:tblGrid>
                <a:gridCol w="196596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tblGrid>
              <a:tr h="228600">
                <a:tc>
                  <a:txBody>
                    <a:bodyPr/>
                    <a:lstStyle/>
                    <a:p>
                      <a:pPr algn="l"/>
                      <a:r>
                        <a:rPr sz="950" b="1">
                          <a:solidFill>
                            <a:srgbClr val="FFFFFF"/>
                          </a:solidFill>
                          <a:latin typeface="Aktiv Grotesk"/>
                        </a:rPr>
                        <a:t>Dataset</a:t>
                      </a:r>
                    </a:p>
                  </a:txBody>
                  <a:tcPr marL="45720" marR="36576" marT="0" marB="0" anchor="ctr">
                    <a:solidFill>
                      <a:srgbClr val="1E32FA"/>
                    </a:solidFill>
                  </a:tcPr>
                </a:tc>
                <a:tc>
                  <a:txBody>
                    <a:bodyPr/>
                    <a:lstStyle/>
                    <a:p>
                      <a:pPr algn="l"/>
                      <a:r>
                        <a:rPr sz="950" b="1">
                          <a:solidFill>
                            <a:srgbClr val="FFFFFF"/>
                          </a:solidFill>
                          <a:latin typeface="Aktiv Grotesk"/>
                        </a:rPr>
                        <a:t>Shift</a:t>
                      </a:r>
                    </a:p>
                  </a:txBody>
                  <a:tcPr marL="45720" marR="36576" marT="0" marB="0" anchor="ctr">
                    <a:solidFill>
                      <a:srgbClr val="1E32FA"/>
                    </a:solidFill>
                  </a:tcPr>
                </a:tc>
                <a:tc>
                  <a:txBody>
                    <a:bodyPr/>
                    <a:lstStyle/>
                    <a:p>
                      <a:pPr algn="ctr"/>
                      <a:r>
                        <a:rPr sz="950" b="1">
                          <a:solidFill>
                            <a:srgbClr val="FFFFFF"/>
                          </a:solidFill>
                          <a:latin typeface="Aktiv Grotesk"/>
                        </a:rPr>
                        <a:t>Δ_ID</a:t>
                      </a:r>
                    </a:p>
                  </a:txBody>
                  <a:tcPr marL="45720" marR="36576" marT="0" marB="0" anchor="ctr">
                    <a:solidFill>
                      <a:srgbClr val="1E32FA"/>
                    </a:solidFill>
                  </a:tcPr>
                </a:tc>
                <a:tc>
                  <a:txBody>
                    <a:bodyPr/>
                    <a:lstStyle/>
                    <a:p>
                      <a:pPr algn="ctr"/>
                      <a:r>
                        <a:rPr sz="950" b="1">
                          <a:solidFill>
                            <a:srgbClr val="FFFFFF"/>
                          </a:solidFill>
                          <a:latin typeface="Aktiv Grotesk"/>
                        </a:rPr>
                        <a:t>Δ_OOD</a:t>
                      </a:r>
                    </a:p>
                  </a:txBody>
                  <a:tcPr marL="45720" marR="36576" marT="0" marB="0" anchor="ctr">
                    <a:solidFill>
                      <a:srgbClr val="1E32FA"/>
                    </a:solidFill>
                  </a:tcPr>
                </a:tc>
                <a:tc>
                  <a:txBody>
                    <a:bodyPr/>
                    <a:lstStyle/>
                    <a:p>
                      <a:pPr algn="ctr"/>
                      <a:r>
                        <a:rPr sz="950" b="1">
                          <a:solidFill>
                            <a:srgbClr val="FFFFFF"/>
                          </a:solidFill>
                          <a:latin typeface="Aktiv Grotesk"/>
                        </a:rPr>
                        <a:t>A</a:t>
                      </a:r>
                    </a:p>
                  </a:txBody>
                  <a:tcPr marL="45720" marR="36576" marT="0" marB="0" anchor="ctr">
                    <a:solidFill>
                      <a:srgbClr val="1E32FA"/>
                    </a:solidFill>
                  </a:tcPr>
                </a:tc>
                <a:tc>
                  <a:txBody>
                    <a:bodyPr/>
                    <a:lstStyle/>
                    <a:p>
                      <a:pPr algn="ctr"/>
                      <a:r>
                        <a:rPr sz="950" b="1">
                          <a:solidFill>
                            <a:srgbClr val="FFFFFF"/>
                          </a:solidFill>
                          <a:latin typeface="Aktiv Grotesk"/>
                        </a:rPr>
                        <a:t>95% CI</a:t>
                      </a:r>
                    </a:p>
                  </a:txBody>
                  <a:tcPr marL="45720" marR="36576" marT="0" marB="0" anchor="ctr">
                    <a:solidFill>
                      <a:srgbClr val="1E32FA"/>
                    </a:solidFill>
                  </a:tcPr>
                </a:tc>
                <a:extLst>
                  <a:ext uri="{0D108BD9-81ED-4DB2-BD59-A6C34878D82A}">
                    <a16:rowId xmlns:a16="http://schemas.microsoft.com/office/drawing/2014/main" val="10000"/>
                  </a:ext>
                </a:extLst>
              </a:tr>
              <a:tr h="155448">
                <a:tc>
                  <a:txBody>
                    <a:bodyPr/>
                    <a:lstStyle/>
                    <a:p>
                      <a:pPr algn="l"/>
                      <a:r>
                        <a:rPr sz="900" b="0">
                          <a:solidFill>
                            <a:srgbClr val="B23A48"/>
                          </a:solidFill>
                          <a:latin typeface="Aktiv Grotesk"/>
                        </a:rPr>
                        <a:t>EthanolConcentration</a:t>
                      </a:r>
                    </a:p>
                  </a:txBody>
                  <a:tcPr marL="45720" marR="36576" marT="0" marB="0" anchor="ctr">
                    <a:solidFill>
                      <a:srgbClr val="FBEAEC"/>
                    </a:solidFill>
                  </a:tcPr>
                </a:tc>
                <a:tc>
                  <a:txBody>
                    <a:bodyPr/>
                    <a:lstStyle/>
                    <a:p>
                      <a:pPr algn="l"/>
                      <a:r>
                        <a:rPr sz="900" b="0">
                          <a:solidFill>
                            <a:srgbClr val="B23A48"/>
                          </a:solidFill>
                          <a:latin typeface="Aktiv Grotesk"/>
                        </a:rPr>
                        <a:t>drift</a:t>
                      </a:r>
                    </a:p>
                  </a:txBody>
                  <a:tcPr marL="45720" marR="36576" marT="0" marB="0" anchor="ctr">
                    <a:solidFill>
                      <a:srgbClr val="FBEAEC"/>
                    </a:solidFill>
                  </a:tcPr>
                </a:tc>
                <a:tc>
                  <a:txBody>
                    <a:bodyPr/>
                    <a:lstStyle/>
                    <a:p>
                      <a:pPr algn="ctr"/>
                      <a:r>
                        <a:rPr sz="900" b="0">
                          <a:solidFill>
                            <a:srgbClr val="B23A48"/>
                          </a:solidFill>
                          <a:latin typeface="Aktiv Grotesk"/>
                        </a:rPr>
                        <a:t>+0.070</a:t>
                      </a:r>
                    </a:p>
                  </a:txBody>
                  <a:tcPr marL="45720" marR="36576" marT="0" marB="0" anchor="ctr">
                    <a:solidFill>
                      <a:srgbClr val="FBEAEC"/>
                    </a:solidFill>
                  </a:tcPr>
                </a:tc>
                <a:tc>
                  <a:txBody>
                    <a:bodyPr/>
                    <a:lstStyle/>
                    <a:p>
                      <a:pPr algn="ctr"/>
                      <a:r>
                        <a:rPr sz="900" b="0">
                          <a:solidFill>
                            <a:srgbClr val="B23A48"/>
                          </a:solidFill>
                          <a:latin typeface="Aktiv Grotesk"/>
                        </a:rPr>
                        <a:t>−0.016</a:t>
                      </a:r>
                    </a:p>
                  </a:txBody>
                  <a:tcPr marL="45720" marR="36576" marT="0" marB="0" anchor="ctr">
                    <a:solidFill>
                      <a:srgbClr val="FBEAEC"/>
                    </a:solidFill>
                  </a:tcPr>
                </a:tc>
                <a:tc>
                  <a:txBody>
                    <a:bodyPr/>
                    <a:lstStyle/>
                    <a:p>
                      <a:pPr algn="ctr"/>
                      <a:r>
                        <a:rPr sz="900" b="1">
                          <a:solidFill>
                            <a:srgbClr val="B23A48"/>
                          </a:solidFill>
                          <a:latin typeface="Aktiv Grotesk"/>
                        </a:rPr>
                        <a:t>−0.086</a:t>
                      </a:r>
                    </a:p>
                  </a:txBody>
                  <a:tcPr marL="45720" marR="36576" marT="0" marB="0" anchor="ctr">
                    <a:solidFill>
                      <a:srgbClr val="FBEAEC"/>
                    </a:solidFill>
                  </a:tcPr>
                </a:tc>
                <a:tc>
                  <a:txBody>
                    <a:bodyPr/>
                    <a:lstStyle/>
                    <a:p>
                      <a:pPr algn="ctr"/>
                      <a:r>
                        <a:rPr sz="900" b="1">
                          <a:solidFill>
                            <a:srgbClr val="B23A48"/>
                          </a:solidFill>
                          <a:latin typeface="Aktiv Grotesk"/>
                        </a:rPr>
                        <a:t>[−0.157, −0.026]</a:t>
                      </a:r>
                    </a:p>
                  </a:txBody>
                  <a:tcPr marL="45720" marR="36576" marT="0" marB="0" anchor="ctr">
                    <a:solidFill>
                      <a:srgbClr val="FBEAEC"/>
                    </a:solidFill>
                  </a:tcPr>
                </a:tc>
                <a:extLst>
                  <a:ext uri="{0D108BD9-81ED-4DB2-BD59-A6C34878D82A}">
                    <a16:rowId xmlns:a16="http://schemas.microsoft.com/office/drawing/2014/main" val="10001"/>
                  </a:ext>
                </a:extLst>
              </a:tr>
              <a:tr h="155448">
                <a:tc>
                  <a:txBody>
                    <a:bodyPr/>
                    <a:lstStyle/>
                    <a:p>
                      <a:pPr algn="l"/>
                      <a:r>
                        <a:rPr sz="900" b="0">
                          <a:solidFill>
                            <a:srgbClr val="1E32FA"/>
                          </a:solidFill>
                          <a:latin typeface="Aktiv Grotesk"/>
                        </a:rPr>
                        <a:t>SelfRegulationSCP1</a:t>
                      </a:r>
                    </a:p>
                  </a:txBody>
                  <a:tcPr marL="45720" marR="36576" marT="0" marB="0" anchor="ctr">
                    <a:solidFill>
                      <a:srgbClr val="EAF0FF"/>
                    </a:solidFill>
                  </a:tcPr>
                </a:tc>
                <a:tc>
                  <a:txBody>
                    <a:bodyPr/>
                    <a:lstStyle/>
                    <a:p>
                      <a:pPr algn="l"/>
                      <a:r>
                        <a:rPr sz="900" b="0">
                          <a:solidFill>
                            <a:srgbClr val="1E32FA"/>
                          </a:solidFill>
                          <a:latin typeface="Aktiv Grotesk"/>
                        </a:rPr>
                        <a:t>gauss</a:t>
                      </a:r>
                    </a:p>
                  </a:txBody>
                  <a:tcPr marL="45720" marR="36576" marT="0" marB="0" anchor="ctr">
                    <a:solidFill>
                      <a:srgbClr val="EAF0FF"/>
                    </a:solidFill>
                  </a:tcPr>
                </a:tc>
                <a:tc>
                  <a:txBody>
                    <a:bodyPr/>
                    <a:lstStyle/>
                    <a:p>
                      <a:pPr algn="ctr"/>
                      <a:r>
                        <a:rPr sz="900" b="0">
                          <a:solidFill>
                            <a:srgbClr val="1E32FA"/>
                          </a:solidFill>
                          <a:latin typeface="Aktiv Grotesk"/>
                        </a:rPr>
                        <a:t>+0.063</a:t>
                      </a:r>
                    </a:p>
                  </a:txBody>
                  <a:tcPr marL="45720" marR="36576" marT="0" marB="0" anchor="ctr">
                    <a:solidFill>
                      <a:srgbClr val="EAF0FF"/>
                    </a:solidFill>
                  </a:tcPr>
                </a:tc>
                <a:tc>
                  <a:txBody>
                    <a:bodyPr/>
                    <a:lstStyle/>
                    <a:p>
                      <a:pPr algn="ctr"/>
                      <a:r>
                        <a:rPr sz="900" b="0">
                          <a:solidFill>
                            <a:srgbClr val="1E32FA"/>
                          </a:solidFill>
                          <a:latin typeface="Aktiv Grotesk"/>
                        </a:rPr>
                        <a:t>+0.146</a:t>
                      </a:r>
                    </a:p>
                  </a:txBody>
                  <a:tcPr marL="45720" marR="36576" marT="0" marB="0" anchor="ctr">
                    <a:solidFill>
                      <a:srgbClr val="EAF0FF"/>
                    </a:solidFill>
                  </a:tcPr>
                </a:tc>
                <a:tc>
                  <a:txBody>
                    <a:bodyPr/>
                    <a:lstStyle/>
                    <a:p>
                      <a:pPr algn="ctr"/>
                      <a:r>
                        <a:rPr sz="900" b="1">
                          <a:solidFill>
                            <a:srgbClr val="1E32FA"/>
                          </a:solidFill>
                          <a:latin typeface="Aktiv Grotesk"/>
                        </a:rPr>
                        <a:t>+0.083</a:t>
                      </a:r>
                    </a:p>
                  </a:txBody>
                  <a:tcPr marL="45720" marR="36576" marT="0" marB="0" anchor="ctr">
                    <a:solidFill>
                      <a:srgbClr val="EAF0FF"/>
                    </a:solidFill>
                  </a:tcPr>
                </a:tc>
                <a:tc>
                  <a:txBody>
                    <a:bodyPr/>
                    <a:lstStyle/>
                    <a:p>
                      <a:pPr algn="ctr"/>
                      <a:r>
                        <a:rPr sz="900" b="1">
                          <a:solidFill>
                            <a:srgbClr val="1E32FA"/>
                          </a:solidFill>
                          <a:latin typeface="Aktiv Grotesk"/>
                        </a:rPr>
                        <a:t>[+0.019, +0.146]</a:t>
                      </a:r>
                    </a:p>
                  </a:txBody>
                  <a:tcPr marL="45720" marR="36576" marT="0" marB="0" anchor="ctr">
                    <a:solidFill>
                      <a:srgbClr val="EAF0FF"/>
                    </a:solidFill>
                  </a:tcPr>
                </a:tc>
                <a:extLst>
                  <a:ext uri="{0D108BD9-81ED-4DB2-BD59-A6C34878D82A}">
                    <a16:rowId xmlns:a16="http://schemas.microsoft.com/office/drawing/2014/main" val="10002"/>
                  </a:ext>
                </a:extLst>
              </a:tr>
              <a:tr h="155448">
                <a:tc>
                  <a:txBody>
                    <a:bodyPr/>
                    <a:lstStyle/>
                    <a:p>
                      <a:pPr algn="l"/>
                      <a:r>
                        <a:rPr sz="900" b="0">
                          <a:solidFill>
                            <a:srgbClr val="B23A48"/>
                          </a:solidFill>
                          <a:latin typeface="Aktiv Grotesk"/>
                        </a:rPr>
                        <a:t>UWaveGestureLibrary</a:t>
                      </a:r>
                    </a:p>
                  </a:txBody>
                  <a:tcPr marL="45720" marR="36576" marT="0" marB="0" anchor="ctr">
                    <a:solidFill>
                      <a:srgbClr val="FBEAEC"/>
                    </a:solidFill>
                  </a:tcPr>
                </a:tc>
                <a:tc>
                  <a:txBody>
                    <a:bodyPr/>
                    <a:lstStyle/>
                    <a:p>
                      <a:pPr algn="l"/>
                      <a:r>
                        <a:rPr sz="900" b="0">
                          <a:solidFill>
                            <a:srgbClr val="B23A48"/>
                          </a:solidFill>
                          <a:latin typeface="Aktiv Grotesk"/>
                        </a:rPr>
                        <a:t>gauss</a:t>
                      </a:r>
                    </a:p>
                  </a:txBody>
                  <a:tcPr marL="45720" marR="36576" marT="0" marB="0" anchor="ctr">
                    <a:solidFill>
                      <a:srgbClr val="FBEAEC"/>
                    </a:solidFill>
                  </a:tcPr>
                </a:tc>
                <a:tc>
                  <a:txBody>
                    <a:bodyPr/>
                    <a:lstStyle/>
                    <a:p>
                      <a:pPr algn="ctr"/>
                      <a:r>
                        <a:rPr sz="900" b="0">
                          <a:solidFill>
                            <a:srgbClr val="B23A48"/>
                          </a:solidFill>
                          <a:latin typeface="Aktiv Grotesk"/>
                        </a:rPr>
                        <a:t>+0.085</a:t>
                      </a:r>
                    </a:p>
                  </a:txBody>
                  <a:tcPr marL="45720" marR="36576" marT="0" marB="0" anchor="ctr">
                    <a:solidFill>
                      <a:srgbClr val="FBEAEC"/>
                    </a:solidFill>
                  </a:tcPr>
                </a:tc>
                <a:tc>
                  <a:txBody>
                    <a:bodyPr/>
                    <a:lstStyle/>
                    <a:p>
                      <a:pPr algn="ctr"/>
                      <a:r>
                        <a:rPr sz="900" b="0">
                          <a:solidFill>
                            <a:srgbClr val="B23A48"/>
                          </a:solidFill>
                          <a:latin typeface="Aktiv Grotesk"/>
                        </a:rPr>
                        <a:t>+0.003</a:t>
                      </a:r>
                    </a:p>
                  </a:txBody>
                  <a:tcPr marL="45720" marR="36576" marT="0" marB="0" anchor="ctr">
                    <a:solidFill>
                      <a:srgbClr val="FBEAEC"/>
                    </a:solidFill>
                  </a:tcPr>
                </a:tc>
                <a:tc>
                  <a:txBody>
                    <a:bodyPr/>
                    <a:lstStyle/>
                    <a:p>
                      <a:pPr algn="ctr"/>
                      <a:r>
                        <a:rPr sz="900" b="1">
                          <a:solidFill>
                            <a:srgbClr val="B23A48"/>
                          </a:solidFill>
                          <a:latin typeface="Aktiv Grotesk"/>
                        </a:rPr>
                        <a:t>−0.082</a:t>
                      </a:r>
                    </a:p>
                  </a:txBody>
                  <a:tcPr marL="45720" marR="36576" marT="0" marB="0" anchor="ctr">
                    <a:solidFill>
                      <a:srgbClr val="FBEAEC"/>
                    </a:solidFill>
                  </a:tcPr>
                </a:tc>
                <a:tc>
                  <a:txBody>
                    <a:bodyPr/>
                    <a:lstStyle/>
                    <a:p>
                      <a:pPr algn="ctr"/>
                      <a:r>
                        <a:rPr sz="900" b="1">
                          <a:solidFill>
                            <a:srgbClr val="B23A48"/>
                          </a:solidFill>
                          <a:latin typeface="Aktiv Grotesk"/>
                        </a:rPr>
                        <a:t>[−0.138, −0.027]</a:t>
                      </a:r>
                    </a:p>
                  </a:txBody>
                  <a:tcPr marL="45720" marR="36576" marT="0" marB="0" anchor="ctr">
                    <a:solidFill>
                      <a:srgbClr val="FBEAEC"/>
                    </a:solidFill>
                  </a:tcPr>
                </a:tc>
                <a:extLst>
                  <a:ext uri="{0D108BD9-81ED-4DB2-BD59-A6C34878D82A}">
                    <a16:rowId xmlns:a16="http://schemas.microsoft.com/office/drawing/2014/main" val="10003"/>
                  </a:ext>
                </a:extLst>
              </a:tr>
              <a:tr h="155448">
                <a:tc>
                  <a:txBody>
                    <a:bodyPr/>
                    <a:lstStyle/>
                    <a:p>
                      <a:pPr algn="l"/>
                      <a:r>
                        <a:rPr sz="900" b="0">
                          <a:solidFill>
                            <a:srgbClr val="1E293B"/>
                          </a:solidFill>
                          <a:latin typeface="Aktiv Grotesk"/>
                        </a:rPr>
                        <a:t>EthanolConcentration</a:t>
                      </a:r>
                    </a:p>
                  </a:txBody>
                  <a:tcPr marL="45720" marR="36576" marT="0" marB="0" anchor="ctr">
                    <a:solidFill>
                      <a:srgbClr val="F6F8FA"/>
                    </a:solidFill>
                  </a:tcPr>
                </a:tc>
                <a:tc>
                  <a:txBody>
                    <a:bodyPr/>
                    <a:lstStyle/>
                    <a:p>
                      <a:pPr algn="l"/>
                      <a:r>
                        <a:rPr sz="900" b="0">
                          <a:solidFill>
                            <a:srgbClr val="1E293B"/>
                          </a:solidFill>
                          <a:latin typeface="Aktiv Grotesk"/>
                        </a:rPr>
                        <a:t>gauss</a:t>
                      </a:r>
                    </a:p>
                  </a:txBody>
                  <a:tcPr marL="45720" marR="36576" marT="0" marB="0" anchor="ctr">
                    <a:solidFill>
                      <a:srgbClr val="F6F8FA"/>
                    </a:solidFill>
                  </a:tcPr>
                </a:tc>
                <a:tc>
                  <a:txBody>
                    <a:bodyPr/>
                    <a:lstStyle/>
                    <a:p>
                      <a:pPr algn="ctr"/>
                      <a:r>
                        <a:rPr sz="900" b="0">
                          <a:solidFill>
                            <a:srgbClr val="1E293B"/>
                          </a:solidFill>
                          <a:latin typeface="Aktiv Grotesk"/>
                        </a:rPr>
                        <a:t>+0.070</a:t>
                      </a:r>
                    </a:p>
                  </a:txBody>
                  <a:tcPr marL="45720" marR="36576" marT="0" marB="0" anchor="ctr">
                    <a:solidFill>
                      <a:srgbClr val="F6F8FA"/>
                    </a:solidFill>
                  </a:tcPr>
                </a:tc>
                <a:tc>
                  <a:txBody>
                    <a:bodyPr/>
                    <a:lstStyle/>
                    <a:p>
                      <a:pPr algn="ctr"/>
                      <a:r>
                        <a:rPr sz="900" b="0">
                          <a:solidFill>
                            <a:srgbClr val="1E293B"/>
                          </a:solidFill>
                          <a:latin typeface="Aktiv Grotesk"/>
                        </a:rPr>
                        <a:t>−0.007</a:t>
                      </a:r>
                    </a:p>
                  </a:txBody>
                  <a:tcPr marL="45720" marR="36576" marT="0" marB="0" anchor="ctr">
                    <a:solidFill>
                      <a:srgbClr val="F6F8FA"/>
                    </a:solidFill>
                  </a:tcPr>
                </a:tc>
                <a:tc>
                  <a:txBody>
                    <a:bodyPr/>
                    <a:lstStyle/>
                    <a:p>
                      <a:pPr algn="ctr"/>
                      <a:r>
                        <a:rPr sz="900" b="0">
                          <a:solidFill>
                            <a:srgbClr val="1E293B"/>
                          </a:solidFill>
                          <a:latin typeface="Aktiv Grotesk"/>
                        </a:rPr>
                        <a:t>−0.077</a:t>
                      </a:r>
                    </a:p>
                  </a:txBody>
                  <a:tcPr marL="45720" marR="36576" marT="0" marB="0" anchor="ctr">
                    <a:solidFill>
                      <a:srgbClr val="F6F8FA"/>
                    </a:solidFill>
                  </a:tcPr>
                </a:tc>
                <a:tc>
                  <a:txBody>
                    <a:bodyPr/>
                    <a:lstStyle/>
                    <a:p>
                      <a:pPr algn="ctr"/>
                      <a:r>
                        <a:rPr sz="900" b="0">
                          <a:solidFill>
                            <a:srgbClr val="64748B"/>
                          </a:solidFill>
                          <a:latin typeface="Aktiv Grotesk"/>
                        </a:rPr>
                        <a:t>[−0.171, +0.018]</a:t>
                      </a:r>
                    </a:p>
                  </a:txBody>
                  <a:tcPr marL="45720" marR="36576" marT="0" marB="0" anchor="ctr">
                    <a:solidFill>
                      <a:srgbClr val="F6F8FA"/>
                    </a:solidFill>
                  </a:tcPr>
                </a:tc>
                <a:extLst>
                  <a:ext uri="{0D108BD9-81ED-4DB2-BD59-A6C34878D82A}">
                    <a16:rowId xmlns:a16="http://schemas.microsoft.com/office/drawing/2014/main" val="10004"/>
                  </a:ext>
                </a:extLst>
              </a:tr>
              <a:tr h="155448">
                <a:tc>
                  <a:txBody>
                    <a:bodyPr/>
                    <a:lstStyle/>
                    <a:p>
                      <a:pPr algn="l"/>
                      <a:r>
                        <a:rPr sz="900" b="0">
                          <a:solidFill>
                            <a:srgbClr val="1E32FA"/>
                          </a:solidFill>
                          <a:latin typeface="Aktiv Grotesk"/>
                        </a:rPr>
                        <a:t>UWaveGestureLibrary</a:t>
                      </a:r>
                    </a:p>
                  </a:txBody>
                  <a:tcPr marL="45720" marR="36576" marT="0" marB="0" anchor="ctr">
                    <a:solidFill>
                      <a:srgbClr val="EAF0FF"/>
                    </a:solidFill>
                  </a:tcPr>
                </a:tc>
                <a:tc>
                  <a:txBody>
                    <a:bodyPr/>
                    <a:lstStyle/>
                    <a:p>
                      <a:pPr algn="l"/>
                      <a:r>
                        <a:rPr sz="900" b="0">
                          <a:solidFill>
                            <a:srgbClr val="1E32FA"/>
                          </a:solidFill>
                          <a:latin typeface="Aktiv Grotesk"/>
                        </a:rPr>
                        <a:t>timewarp</a:t>
                      </a:r>
                    </a:p>
                  </a:txBody>
                  <a:tcPr marL="45720" marR="36576" marT="0" marB="0" anchor="ctr">
                    <a:solidFill>
                      <a:srgbClr val="EAF0FF"/>
                    </a:solidFill>
                  </a:tcPr>
                </a:tc>
                <a:tc>
                  <a:txBody>
                    <a:bodyPr/>
                    <a:lstStyle/>
                    <a:p>
                      <a:pPr algn="ctr"/>
                      <a:r>
                        <a:rPr sz="900" b="0">
                          <a:solidFill>
                            <a:srgbClr val="1E32FA"/>
                          </a:solidFill>
                          <a:latin typeface="Aktiv Grotesk"/>
                        </a:rPr>
                        <a:t>+0.085</a:t>
                      </a:r>
                    </a:p>
                  </a:txBody>
                  <a:tcPr marL="45720" marR="36576" marT="0" marB="0" anchor="ctr">
                    <a:solidFill>
                      <a:srgbClr val="EAF0FF"/>
                    </a:solidFill>
                  </a:tcPr>
                </a:tc>
                <a:tc>
                  <a:txBody>
                    <a:bodyPr/>
                    <a:lstStyle/>
                    <a:p>
                      <a:pPr algn="ctr"/>
                      <a:r>
                        <a:rPr sz="900" b="0">
                          <a:solidFill>
                            <a:srgbClr val="1E32FA"/>
                          </a:solidFill>
                          <a:latin typeface="Aktiv Grotesk"/>
                        </a:rPr>
                        <a:t>+0.134</a:t>
                      </a:r>
                    </a:p>
                  </a:txBody>
                  <a:tcPr marL="45720" marR="36576" marT="0" marB="0" anchor="ctr">
                    <a:solidFill>
                      <a:srgbClr val="EAF0FF"/>
                    </a:solidFill>
                  </a:tcPr>
                </a:tc>
                <a:tc>
                  <a:txBody>
                    <a:bodyPr/>
                    <a:lstStyle/>
                    <a:p>
                      <a:pPr algn="ctr"/>
                      <a:r>
                        <a:rPr sz="900" b="1">
                          <a:solidFill>
                            <a:srgbClr val="1E32FA"/>
                          </a:solidFill>
                          <a:latin typeface="Aktiv Grotesk"/>
                        </a:rPr>
                        <a:t>+0.048</a:t>
                      </a:r>
                    </a:p>
                  </a:txBody>
                  <a:tcPr marL="45720" marR="36576" marT="0" marB="0" anchor="ctr">
                    <a:solidFill>
                      <a:srgbClr val="EAF0FF"/>
                    </a:solidFill>
                  </a:tcPr>
                </a:tc>
                <a:tc>
                  <a:txBody>
                    <a:bodyPr/>
                    <a:lstStyle/>
                    <a:p>
                      <a:pPr algn="ctr"/>
                      <a:r>
                        <a:rPr sz="900" b="1">
                          <a:solidFill>
                            <a:srgbClr val="1E32FA"/>
                          </a:solidFill>
                          <a:latin typeface="Aktiv Grotesk"/>
                        </a:rPr>
                        <a:t>[+0.006, +0.091]</a:t>
                      </a:r>
                    </a:p>
                  </a:txBody>
                  <a:tcPr marL="45720" marR="36576" marT="0" marB="0" anchor="ctr">
                    <a:solidFill>
                      <a:srgbClr val="EAF0FF"/>
                    </a:solidFill>
                  </a:tcPr>
                </a:tc>
                <a:extLst>
                  <a:ext uri="{0D108BD9-81ED-4DB2-BD59-A6C34878D82A}">
                    <a16:rowId xmlns:a16="http://schemas.microsoft.com/office/drawing/2014/main" val="10005"/>
                  </a:ext>
                </a:extLst>
              </a:tr>
              <a:tr h="155448">
                <a:tc>
                  <a:txBody>
                    <a:bodyPr/>
                    <a:lstStyle/>
                    <a:p>
                      <a:pPr algn="l"/>
                      <a:r>
                        <a:rPr sz="900" b="0">
                          <a:solidFill>
                            <a:srgbClr val="1E293B"/>
                          </a:solidFill>
                          <a:latin typeface="Aktiv Grotesk"/>
                        </a:rPr>
                        <a:t>EthanolConcentration</a:t>
                      </a:r>
                    </a:p>
                  </a:txBody>
                  <a:tcPr marL="45720" marR="36576" marT="0" marB="0" anchor="ctr">
                    <a:solidFill>
                      <a:srgbClr val="F6F8FA"/>
                    </a:solidFill>
                  </a:tcPr>
                </a:tc>
                <a:tc>
                  <a:txBody>
                    <a:bodyPr/>
                    <a:lstStyle/>
                    <a:p>
                      <a:pPr algn="l"/>
                      <a:r>
                        <a:rPr sz="900" b="0">
                          <a:solidFill>
                            <a:srgbClr val="1E293B"/>
                          </a:solidFill>
                          <a:latin typeface="Aktiv Grotesk"/>
                        </a:rPr>
                        <a:t>timewarp</a:t>
                      </a:r>
                    </a:p>
                  </a:txBody>
                  <a:tcPr marL="45720" marR="36576" marT="0" marB="0" anchor="ctr">
                    <a:solidFill>
                      <a:srgbClr val="F6F8FA"/>
                    </a:solidFill>
                  </a:tcPr>
                </a:tc>
                <a:tc>
                  <a:txBody>
                    <a:bodyPr/>
                    <a:lstStyle/>
                    <a:p>
                      <a:pPr algn="ctr"/>
                      <a:r>
                        <a:rPr sz="900" b="0">
                          <a:solidFill>
                            <a:srgbClr val="1E293B"/>
                          </a:solidFill>
                          <a:latin typeface="Aktiv Grotesk"/>
                        </a:rPr>
                        <a:t>+0.070</a:t>
                      </a:r>
                    </a:p>
                  </a:txBody>
                  <a:tcPr marL="45720" marR="36576" marT="0" marB="0" anchor="ctr">
                    <a:solidFill>
                      <a:srgbClr val="F6F8FA"/>
                    </a:solidFill>
                  </a:tcPr>
                </a:tc>
                <a:tc>
                  <a:txBody>
                    <a:bodyPr/>
                    <a:lstStyle/>
                    <a:p>
                      <a:pPr algn="ctr"/>
                      <a:r>
                        <a:rPr sz="900" b="0">
                          <a:solidFill>
                            <a:srgbClr val="1E293B"/>
                          </a:solidFill>
                          <a:latin typeface="Aktiv Grotesk"/>
                        </a:rPr>
                        <a:t>+0.022</a:t>
                      </a:r>
                    </a:p>
                  </a:txBody>
                  <a:tcPr marL="45720" marR="36576" marT="0" marB="0" anchor="ctr">
                    <a:solidFill>
                      <a:srgbClr val="F6F8FA"/>
                    </a:solidFill>
                  </a:tcPr>
                </a:tc>
                <a:tc>
                  <a:txBody>
                    <a:bodyPr/>
                    <a:lstStyle/>
                    <a:p>
                      <a:pPr algn="ctr"/>
                      <a:r>
                        <a:rPr sz="900" b="0">
                          <a:solidFill>
                            <a:srgbClr val="1E293B"/>
                          </a:solidFill>
                          <a:latin typeface="Aktiv Grotesk"/>
                        </a:rPr>
                        <a:t>−0.048</a:t>
                      </a:r>
                    </a:p>
                  </a:txBody>
                  <a:tcPr marL="45720" marR="36576" marT="0" marB="0" anchor="ctr">
                    <a:solidFill>
                      <a:srgbClr val="F6F8FA"/>
                    </a:solidFill>
                  </a:tcPr>
                </a:tc>
                <a:tc>
                  <a:txBody>
                    <a:bodyPr/>
                    <a:lstStyle/>
                    <a:p>
                      <a:pPr algn="ctr"/>
                      <a:r>
                        <a:rPr sz="900" b="0">
                          <a:solidFill>
                            <a:srgbClr val="64748B"/>
                          </a:solidFill>
                          <a:latin typeface="Aktiv Grotesk"/>
                        </a:rPr>
                        <a:t>[−0.110, +0.009]</a:t>
                      </a:r>
                    </a:p>
                  </a:txBody>
                  <a:tcPr marL="45720" marR="36576" marT="0" marB="0" anchor="ctr">
                    <a:solidFill>
                      <a:srgbClr val="F6F8FA"/>
                    </a:solidFill>
                  </a:tcPr>
                </a:tc>
                <a:extLst>
                  <a:ext uri="{0D108BD9-81ED-4DB2-BD59-A6C34878D82A}">
                    <a16:rowId xmlns:a16="http://schemas.microsoft.com/office/drawing/2014/main" val="10006"/>
                  </a:ext>
                </a:extLst>
              </a:tr>
              <a:tr h="155448">
                <a:tc>
                  <a:txBody>
                    <a:bodyPr/>
                    <a:lstStyle/>
                    <a:p>
                      <a:pPr algn="l"/>
                      <a:r>
                        <a:rPr sz="900" b="0">
                          <a:solidFill>
                            <a:srgbClr val="1E32FA"/>
                          </a:solidFill>
                          <a:latin typeface="Aktiv Grotesk"/>
                        </a:rPr>
                        <a:t>Handwriting</a:t>
                      </a:r>
                    </a:p>
                  </a:txBody>
                  <a:tcPr marL="45720" marR="36576" marT="0" marB="0" anchor="ctr">
                    <a:solidFill>
                      <a:srgbClr val="EAF0FF"/>
                    </a:solidFill>
                  </a:tcPr>
                </a:tc>
                <a:tc>
                  <a:txBody>
                    <a:bodyPr/>
                    <a:lstStyle/>
                    <a:p>
                      <a:pPr algn="l"/>
                      <a:r>
                        <a:rPr sz="900" b="0">
                          <a:solidFill>
                            <a:srgbClr val="1E32FA"/>
                          </a:solidFill>
                          <a:latin typeface="Aktiv Grotesk"/>
                        </a:rPr>
                        <a:t>drift</a:t>
                      </a:r>
                    </a:p>
                  </a:txBody>
                  <a:tcPr marL="45720" marR="36576" marT="0" marB="0" anchor="ctr">
                    <a:solidFill>
                      <a:srgbClr val="EAF0FF"/>
                    </a:solidFill>
                  </a:tcPr>
                </a:tc>
                <a:tc>
                  <a:txBody>
                    <a:bodyPr/>
                    <a:lstStyle/>
                    <a:p>
                      <a:pPr algn="ctr"/>
                      <a:r>
                        <a:rPr sz="900" b="0">
                          <a:solidFill>
                            <a:srgbClr val="1E32FA"/>
                          </a:solidFill>
                          <a:latin typeface="Aktiv Grotesk"/>
                        </a:rPr>
                        <a:t>+0.050</a:t>
                      </a:r>
                    </a:p>
                  </a:txBody>
                  <a:tcPr marL="45720" marR="36576" marT="0" marB="0" anchor="ctr">
                    <a:solidFill>
                      <a:srgbClr val="EAF0FF"/>
                    </a:solidFill>
                  </a:tcPr>
                </a:tc>
                <a:tc>
                  <a:txBody>
                    <a:bodyPr/>
                    <a:lstStyle/>
                    <a:p>
                      <a:pPr algn="ctr"/>
                      <a:r>
                        <a:rPr sz="900" b="0">
                          <a:solidFill>
                            <a:srgbClr val="1E32FA"/>
                          </a:solidFill>
                          <a:latin typeface="Aktiv Grotesk"/>
                        </a:rPr>
                        <a:t>+0.091</a:t>
                      </a:r>
                    </a:p>
                  </a:txBody>
                  <a:tcPr marL="45720" marR="36576" marT="0" marB="0" anchor="ctr">
                    <a:solidFill>
                      <a:srgbClr val="EAF0FF"/>
                    </a:solidFill>
                  </a:tcPr>
                </a:tc>
                <a:tc>
                  <a:txBody>
                    <a:bodyPr/>
                    <a:lstStyle/>
                    <a:p>
                      <a:pPr algn="ctr"/>
                      <a:r>
                        <a:rPr sz="900" b="1">
                          <a:solidFill>
                            <a:srgbClr val="1E32FA"/>
                          </a:solidFill>
                          <a:latin typeface="Aktiv Grotesk"/>
                        </a:rPr>
                        <a:t>+0.040</a:t>
                      </a:r>
                    </a:p>
                  </a:txBody>
                  <a:tcPr marL="45720" marR="36576" marT="0" marB="0" anchor="ctr">
                    <a:solidFill>
                      <a:srgbClr val="EAF0FF"/>
                    </a:solidFill>
                  </a:tcPr>
                </a:tc>
                <a:tc>
                  <a:txBody>
                    <a:bodyPr/>
                    <a:lstStyle/>
                    <a:p>
                      <a:pPr algn="ctr"/>
                      <a:r>
                        <a:rPr sz="900" b="1">
                          <a:solidFill>
                            <a:srgbClr val="1E32FA"/>
                          </a:solidFill>
                          <a:latin typeface="Aktiv Grotesk"/>
                        </a:rPr>
                        <a:t>[+0.011, +0.071]</a:t>
                      </a:r>
                    </a:p>
                  </a:txBody>
                  <a:tcPr marL="45720" marR="36576" marT="0" marB="0" anchor="ctr">
                    <a:solidFill>
                      <a:srgbClr val="EAF0FF"/>
                    </a:solidFill>
                  </a:tcPr>
                </a:tc>
                <a:extLst>
                  <a:ext uri="{0D108BD9-81ED-4DB2-BD59-A6C34878D82A}">
                    <a16:rowId xmlns:a16="http://schemas.microsoft.com/office/drawing/2014/main" val="10007"/>
                  </a:ext>
                </a:extLst>
              </a:tr>
              <a:tr h="155448">
                <a:tc>
                  <a:txBody>
                    <a:bodyPr/>
                    <a:lstStyle/>
                    <a:p>
                      <a:pPr algn="l"/>
                      <a:r>
                        <a:rPr sz="900" b="0">
                          <a:solidFill>
                            <a:srgbClr val="1E293B"/>
                          </a:solidFill>
                          <a:latin typeface="Aktiv Grotesk"/>
                        </a:rPr>
                        <a:t>SelfRegulationSCP2</a:t>
                      </a:r>
                    </a:p>
                  </a:txBody>
                  <a:tcPr marL="45720" marR="36576" marT="0" marB="0" anchor="ctr">
                    <a:solidFill>
                      <a:srgbClr val="F6F8FA"/>
                    </a:solidFill>
                  </a:tcPr>
                </a:tc>
                <a:tc>
                  <a:txBody>
                    <a:bodyPr/>
                    <a:lstStyle/>
                    <a:p>
                      <a:pPr algn="l"/>
                      <a:r>
                        <a:rPr sz="900" b="0">
                          <a:solidFill>
                            <a:srgbClr val="1E293B"/>
                          </a:solidFill>
                          <a:latin typeface="Aktiv Grotesk"/>
                        </a:rPr>
                        <a:t>timewarp</a:t>
                      </a:r>
                    </a:p>
                  </a:txBody>
                  <a:tcPr marL="45720" marR="36576" marT="0" marB="0" anchor="ctr">
                    <a:solidFill>
                      <a:srgbClr val="F6F8FA"/>
                    </a:solidFill>
                  </a:tcPr>
                </a:tc>
                <a:tc>
                  <a:txBody>
                    <a:bodyPr/>
                    <a:lstStyle/>
                    <a:p>
                      <a:pPr algn="ctr"/>
                      <a:r>
                        <a:rPr sz="900" b="0">
                          <a:solidFill>
                            <a:srgbClr val="1E293B"/>
                          </a:solidFill>
                          <a:latin typeface="Aktiv Grotesk"/>
                        </a:rPr>
                        <a:t>−0.018</a:t>
                      </a:r>
                    </a:p>
                  </a:txBody>
                  <a:tcPr marL="45720" marR="36576" marT="0" marB="0" anchor="ctr">
                    <a:solidFill>
                      <a:srgbClr val="F6F8FA"/>
                    </a:solidFill>
                  </a:tcPr>
                </a:tc>
                <a:tc>
                  <a:txBody>
                    <a:bodyPr/>
                    <a:lstStyle/>
                    <a:p>
                      <a:pPr algn="ctr"/>
                      <a:r>
                        <a:rPr sz="900" b="0">
                          <a:solidFill>
                            <a:srgbClr val="1E293B"/>
                          </a:solidFill>
                          <a:latin typeface="Aktiv Grotesk"/>
                        </a:rPr>
                        <a:t>+0.019</a:t>
                      </a:r>
                    </a:p>
                  </a:txBody>
                  <a:tcPr marL="45720" marR="36576" marT="0" marB="0" anchor="ctr">
                    <a:solidFill>
                      <a:srgbClr val="F6F8FA"/>
                    </a:solidFill>
                  </a:tcPr>
                </a:tc>
                <a:tc>
                  <a:txBody>
                    <a:bodyPr/>
                    <a:lstStyle/>
                    <a:p>
                      <a:pPr algn="ctr"/>
                      <a:r>
                        <a:rPr sz="900" b="0">
                          <a:solidFill>
                            <a:srgbClr val="1E293B"/>
                          </a:solidFill>
                          <a:latin typeface="Aktiv Grotesk"/>
                        </a:rPr>
                        <a:t>+0.037</a:t>
                      </a:r>
                    </a:p>
                  </a:txBody>
                  <a:tcPr marL="45720" marR="36576" marT="0" marB="0" anchor="ctr">
                    <a:solidFill>
                      <a:srgbClr val="F6F8FA"/>
                    </a:solidFill>
                  </a:tcPr>
                </a:tc>
                <a:tc>
                  <a:txBody>
                    <a:bodyPr/>
                    <a:lstStyle/>
                    <a:p>
                      <a:pPr algn="ctr"/>
                      <a:r>
                        <a:rPr sz="900" b="0">
                          <a:solidFill>
                            <a:srgbClr val="64748B"/>
                          </a:solidFill>
                          <a:latin typeface="Aktiv Grotesk"/>
                        </a:rPr>
                        <a:t>[−0.062, +0.136]</a:t>
                      </a:r>
                    </a:p>
                  </a:txBody>
                  <a:tcPr marL="45720" marR="36576" marT="0" marB="0" anchor="ctr">
                    <a:solidFill>
                      <a:srgbClr val="F6F8FA"/>
                    </a:solidFill>
                  </a:tcPr>
                </a:tc>
                <a:extLst>
                  <a:ext uri="{0D108BD9-81ED-4DB2-BD59-A6C34878D82A}">
                    <a16:rowId xmlns:a16="http://schemas.microsoft.com/office/drawing/2014/main" val="10008"/>
                  </a:ext>
                </a:extLst>
              </a:tr>
              <a:tr h="155448">
                <a:tc>
                  <a:txBody>
                    <a:bodyPr/>
                    <a:lstStyle/>
                    <a:p>
                      <a:pPr algn="l"/>
                      <a:r>
                        <a:rPr sz="900" b="0">
                          <a:solidFill>
                            <a:srgbClr val="1E293B"/>
                          </a:solidFill>
                          <a:latin typeface="Aktiv Grotesk"/>
                        </a:rPr>
                        <a:t>Handwriting</a:t>
                      </a:r>
                    </a:p>
                  </a:txBody>
                  <a:tcPr marL="45720" marR="36576" marT="0" marB="0" anchor="ctr">
                    <a:solidFill>
                      <a:srgbClr val="FFFFFF"/>
                    </a:solidFill>
                  </a:tcPr>
                </a:tc>
                <a:tc>
                  <a:txBody>
                    <a:bodyPr/>
                    <a:lstStyle/>
                    <a:p>
                      <a:pPr algn="l"/>
                      <a:r>
                        <a:rPr sz="900" b="0">
                          <a:solidFill>
                            <a:srgbClr val="1E293B"/>
                          </a:solidFill>
                          <a:latin typeface="Aktiv Grotesk"/>
                        </a:rPr>
                        <a:t>gauss</a:t>
                      </a:r>
                    </a:p>
                  </a:txBody>
                  <a:tcPr marL="45720" marR="36576" marT="0" marB="0" anchor="ctr">
                    <a:solidFill>
                      <a:srgbClr val="FFFFFF"/>
                    </a:solidFill>
                  </a:tcPr>
                </a:tc>
                <a:tc>
                  <a:txBody>
                    <a:bodyPr/>
                    <a:lstStyle/>
                    <a:p>
                      <a:pPr algn="ctr"/>
                      <a:r>
                        <a:rPr sz="900" b="0">
                          <a:solidFill>
                            <a:srgbClr val="1E293B"/>
                          </a:solidFill>
                          <a:latin typeface="Aktiv Grotesk"/>
                        </a:rPr>
                        <a:t>+0.050</a:t>
                      </a:r>
                    </a:p>
                  </a:txBody>
                  <a:tcPr marL="45720" marR="36576" marT="0" marB="0" anchor="ctr">
                    <a:solidFill>
                      <a:srgbClr val="FFFFFF"/>
                    </a:solidFill>
                  </a:tcPr>
                </a:tc>
                <a:tc>
                  <a:txBody>
                    <a:bodyPr/>
                    <a:lstStyle/>
                    <a:p>
                      <a:pPr algn="ctr"/>
                      <a:r>
                        <a:rPr sz="900" b="0">
                          <a:solidFill>
                            <a:srgbClr val="1E293B"/>
                          </a:solidFill>
                          <a:latin typeface="Aktiv Grotesk"/>
                        </a:rPr>
                        <a:t>+0.024</a:t>
                      </a:r>
                    </a:p>
                  </a:txBody>
                  <a:tcPr marL="45720" marR="36576" marT="0" marB="0" anchor="ctr">
                    <a:solidFill>
                      <a:srgbClr val="FFFFFF"/>
                    </a:solidFill>
                  </a:tcPr>
                </a:tc>
                <a:tc>
                  <a:txBody>
                    <a:bodyPr/>
                    <a:lstStyle/>
                    <a:p>
                      <a:pPr algn="ctr"/>
                      <a:r>
                        <a:rPr sz="900" b="0">
                          <a:solidFill>
                            <a:srgbClr val="1E293B"/>
                          </a:solidFill>
                          <a:latin typeface="Aktiv Grotesk"/>
                        </a:rPr>
                        <a:t>−0.027</a:t>
                      </a:r>
                    </a:p>
                  </a:txBody>
                  <a:tcPr marL="45720" marR="36576" marT="0" marB="0" anchor="ctr">
                    <a:solidFill>
                      <a:srgbClr val="FFFFFF"/>
                    </a:solidFill>
                  </a:tcPr>
                </a:tc>
                <a:tc>
                  <a:txBody>
                    <a:bodyPr/>
                    <a:lstStyle/>
                    <a:p>
                      <a:pPr algn="ctr"/>
                      <a:r>
                        <a:rPr sz="900" b="0">
                          <a:solidFill>
                            <a:srgbClr val="64748B"/>
                          </a:solidFill>
                          <a:latin typeface="Aktiv Grotesk"/>
                        </a:rPr>
                        <a:t>[−0.057, +0.003]</a:t>
                      </a:r>
                    </a:p>
                  </a:txBody>
                  <a:tcPr marL="45720" marR="36576" marT="0" marB="0" anchor="ctr">
                    <a:solidFill>
                      <a:srgbClr val="FFFFFF"/>
                    </a:solidFill>
                  </a:tcPr>
                </a:tc>
                <a:extLst>
                  <a:ext uri="{0D108BD9-81ED-4DB2-BD59-A6C34878D82A}">
                    <a16:rowId xmlns:a16="http://schemas.microsoft.com/office/drawing/2014/main" val="10009"/>
                  </a:ext>
                </a:extLst>
              </a:tr>
              <a:tr h="155448">
                <a:tc>
                  <a:txBody>
                    <a:bodyPr/>
                    <a:lstStyle/>
                    <a:p>
                      <a:pPr algn="l"/>
                      <a:r>
                        <a:rPr sz="900" b="0">
                          <a:solidFill>
                            <a:srgbClr val="1E293B"/>
                          </a:solidFill>
                          <a:latin typeface="Aktiv Grotesk"/>
                        </a:rPr>
                        <a:t>Handwriting</a:t>
                      </a:r>
                    </a:p>
                  </a:txBody>
                  <a:tcPr marL="45720" marR="36576" marT="0" marB="0" anchor="ctr">
                    <a:solidFill>
                      <a:srgbClr val="F6F8FA"/>
                    </a:solidFill>
                  </a:tcPr>
                </a:tc>
                <a:tc>
                  <a:txBody>
                    <a:bodyPr/>
                    <a:lstStyle/>
                    <a:p>
                      <a:pPr algn="l"/>
                      <a:r>
                        <a:rPr sz="900" b="0">
                          <a:solidFill>
                            <a:srgbClr val="1E293B"/>
                          </a:solidFill>
                          <a:latin typeface="Aktiv Grotesk"/>
                        </a:rPr>
                        <a:t>timewarp</a:t>
                      </a:r>
                    </a:p>
                  </a:txBody>
                  <a:tcPr marL="45720" marR="36576" marT="0" marB="0" anchor="ctr">
                    <a:solidFill>
                      <a:srgbClr val="F6F8FA"/>
                    </a:solidFill>
                  </a:tcPr>
                </a:tc>
                <a:tc>
                  <a:txBody>
                    <a:bodyPr/>
                    <a:lstStyle/>
                    <a:p>
                      <a:pPr algn="ctr"/>
                      <a:r>
                        <a:rPr sz="900" b="0">
                          <a:solidFill>
                            <a:srgbClr val="1E293B"/>
                          </a:solidFill>
                          <a:latin typeface="Aktiv Grotesk"/>
                        </a:rPr>
                        <a:t>+0.050</a:t>
                      </a:r>
                    </a:p>
                  </a:txBody>
                  <a:tcPr marL="45720" marR="36576" marT="0" marB="0" anchor="ctr">
                    <a:solidFill>
                      <a:srgbClr val="F6F8FA"/>
                    </a:solidFill>
                  </a:tcPr>
                </a:tc>
                <a:tc>
                  <a:txBody>
                    <a:bodyPr/>
                    <a:lstStyle/>
                    <a:p>
                      <a:pPr algn="ctr"/>
                      <a:r>
                        <a:rPr sz="900" b="0">
                          <a:solidFill>
                            <a:srgbClr val="1E293B"/>
                          </a:solidFill>
                          <a:latin typeface="Aktiv Grotesk"/>
                        </a:rPr>
                        <a:t>+0.029</a:t>
                      </a:r>
                    </a:p>
                  </a:txBody>
                  <a:tcPr marL="45720" marR="36576" marT="0" marB="0" anchor="ctr">
                    <a:solidFill>
                      <a:srgbClr val="F6F8FA"/>
                    </a:solidFill>
                  </a:tcPr>
                </a:tc>
                <a:tc>
                  <a:txBody>
                    <a:bodyPr/>
                    <a:lstStyle/>
                    <a:p>
                      <a:pPr algn="ctr"/>
                      <a:r>
                        <a:rPr sz="900" b="0">
                          <a:solidFill>
                            <a:srgbClr val="1E293B"/>
                          </a:solidFill>
                          <a:latin typeface="Aktiv Grotesk"/>
                        </a:rPr>
                        <a:t>−0.022</a:t>
                      </a:r>
                    </a:p>
                  </a:txBody>
                  <a:tcPr marL="45720" marR="36576" marT="0" marB="0" anchor="ctr">
                    <a:solidFill>
                      <a:srgbClr val="F6F8FA"/>
                    </a:solidFill>
                  </a:tcPr>
                </a:tc>
                <a:tc>
                  <a:txBody>
                    <a:bodyPr/>
                    <a:lstStyle/>
                    <a:p>
                      <a:pPr algn="ctr"/>
                      <a:r>
                        <a:rPr sz="900" b="0">
                          <a:solidFill>
                            <a:srgbClr val="64748B"/>
                          </a:solidFill>
                          <a:latin typeface="Aktiv Grotesk"/>
                        </a:rPr>
                        <a:t>[−0.055, +0.013]</a:t>
                      </a:r>
                    </a:p>
                  </a:txBody>
                  <a:tcPr marL="45720" marR="36576" marT="0" marB="0" anchor="ctr">
                    <a:solidFill>
                      <a:srgbClr val="F6F8FA"/>
                    </a:solidFill>
                  </a:tcPr>
                </a:tc>
                <a:extLst>
                  <a:ext uri="{0D108BD9-81ED-4DB2-BD59-A6C34878D82A}">
                    <a16:rowId xmlns:a16="http://schemas.microsoft.com/office/drawing/2014/main" val="10010"/>
                  </a:ext>
                </a:extLst>
              </a:tr>
              <a:tr h="155448">
                <a:tc>
                  <a:txBody>
                    <a:bodyPr/>
                    <a:lstStyle/>
                    <a:p>
                      <a:pPr algn="l"/>
                      <a:r>
                        <a:rPr sz="900" b="0">
                          <a:solidFill>
                            <a:srgbClr val="1E293B"/>
                          </a:solidFill>
                          <a:latin typeface="Aktiv Grotesk"/>
                        </a:rPr>
                        <a:t>SelfRegulationSCP1</a:t>
                      </a:r>
                    </a:p>
                  </a:txBody>
                  <a:tcPr marL="45720" marR="36576" marT="0" marB="0" anchor="ctr">
                    <a:solidFill>
                      <a:srgbClr val="FFFFFF"/>
                    </a:solidFill>
                  </a:tcPr>
                </a:tc>
                <a:tc>
                  <a:txBody>
                    <a:bodyPr/>
                    <a:lstStyle/>
                    <a:p>
                      <a:pPr algn="l"/>
                      <a:r>
                        <a:rPr sz="900" b="0">
                          <a:solidFill>
                            <a:srgbClr val="1E293B"/>
                          </a:solidFill>
                          <a:latin typeface="Aktiv Grotesk"/>
                        </a:rPr>
                        <a:t>timewarp</a:t>
                      </a:r>
                    </a:p>
                  </a:txBody>
                  <a:tcPr marL="45720" marR="36576" marT="0" marB="0" anchor="ctr">
                    <a:solidFill>
                      <a:srgbClr val="FFFFFF"/>
                    </a:solidFill>
                  </a:tcPr>
                </a:tc>
                <a:tc>
                  <a:txBody>
                    <a:bodyPr/>
                    <a:lstStyle/>
                    <a:p>
                      <a:pPr algn="ctr"/>
                      <a:r>
                        <a:rPr sz="900" b="0">
                          <a:solidFill>
                            <a:srgbClr val="1E293B"/>
                          </a:solidFill>
                          <a:latin typeface="Aktiv Grotesk"/>
                        </a:rPr>
                        <a:t>+0.063</a:t>
                      </a:r>
                    </a:p>
                  </a:txBody>
                  <a:tcPr marL="45720" marR="36576" marT="0" marB="0" anchor="ctr">
                    <a:solidFill>
                      <a:srgbClr val="FFFFFF"/>
                    </a:solidFill>
                  </a:tcPr>
                </a:tc>
                <a:tc>
                  <a:txBody>
                    <a:bodyPr/>
                    <a:lstStyle/>
                    <a:p>
                      <a:pPr algn="ctr"/>
                      <a:r>
                        <a:rPr sz="900" b="0">
                          <a:solidFill>
                            <a:srgbClr val="1E293B"/>
                          </a:solidFill>
                          <a:latin typeface="Aktiv Grotesk"/>
                        </a:rPr>
                        <a:t>+0.042</a:t>
                      </a:r>
                    </a:p>
                  </a:txBody>
                  <a:tcPr marL="45720" marR="36576" marT="0" marB="0" anchor="ctr">
                    <a:solidFill>
                      <a:srgbClr val="FFFFFF"/>
                    </a:solidFill>
                  </a:tcPr>
                </a:tc>
                <a:tc>
                  <a:txBody>
                    <a:bodyPr/>
                    <a:lstStyle/>
                    <a:p>
                      <a:pPr algn="ctr"/>
                      <a:r>
                        <a:rPr sz="900" b="0">
                          <a:solidFill>
                            <a:srgbClr val="1E293B"/>
                          </a:solidFill>
                          <a:latin typeface="Aktiv Grotesk"/>
                        </a:rPr>
                        <a:t>−0.021</a:t>
                      </a:r>
                    </a:p>
                  </a:txBody>
                  <a:tcPr marL="45720" marR="36576" marT="0" marB="0" anchor="ctr">
                    <a:solidFill>
                      <a:srgbClr val="FFFFFF"/>
                    </a:solidFill>
                  </a:tcPr>
                </a:tc>
                <a:tc>
                  <a:txBody>
                    <a:bodyPr/>
                    <a:lstStyle/>
                    <a:p>
                      <a:pPr algn="ctr"/>
                      <a:r>
                        <a:rPr sz="900" b="0">
                          <a:solidFill>
                            <a:srgbClr val="64748B"/>
                          </a:solidFill>
                          <a:latin typeface="Aktiv Grotesk"/>
                        </a:rPr>
                        <a:t>[−0.077, +0.030]</a:t>
                      </a:r>
                    </a:p>
                  </a:txBody>
                  <a:tcPr marL="45720" marR="36576" marT="0" marB="0" anchor="ctr">
                    <a:solidFill>
                      <a:srgbClr val="FFFFFF"/>
                    </a:solidFill>
                  </a:tcPr>
                </a:tc>
                <a:extLst>
                  <a:ext uri="{0D108BD9-81ED-4DB2-BD59-A6C34878D82A}">
                    <a16:rowId xmlns:a16="http://schemas.microsoft.com/office/drawing/2014/main" val="10011"/>
                  </a:ext>
                </a:extLst>
              </a:tr>
              <a:tr h="155448">
                <a:tc>
                  <a:txBody>
                    <a:bodyPr/>
                    <a:lstStyle/>
                    <a:p>
                      <a:pPr algn="l"/>
                      <a:r>
                        <a:rPr sz="900" b="0">
                          <a:solidFill>
                            <a:srgbClr val="1E293B"/>
                          </a:solidFill>
                          <a:latin typeface="Aktiv Grotesk"/>
                        </a:rPr>
                        <a:t>LSST</a:t>
                      </a:r>
                    </a:p>
                  </a:txBody>
                  <a:tcPr marL="45720" marR="36576" marT="0" marB="0" anchor="ctr">
                    <a:solidFill>
                      <a:srgbClr val="F6F8FA"/>
                    </a:solidFill>
                  </a:tcPr>
                </a:tc>
                <a:tc>
                  <a:txBody>
                    <a:bodyPr/>
                    <a:lstStyle/>
                    <a:p>
                      <a:pPr algn="l"/>
                      <a:r>
                        <a:rPr sz="900" b="0">
                          <a:solidFill>
                            <a:srgbClr val="1E293B"/>
                          </a:solidFill>
                          <a:latin typeface="Aktiv Grotesk"/>
                        </a:rPr>
                        <a:t>timewarp</a:t>
                      </a:r>
                    </a:p>
                  </a:txBody>
                  <a:tcPr marL="45720" marR="36576" marT="0" marB="0" anchor="ctr">
                    <a:solidFill>
                      <a:srgbClr val="F6F8FA"/>
                    </a:solidFill>
                  </a:tcPr>
                </a:tc>
                <a:tc>
                  <a:txBody>
                    <a:bodyPr/>
                    <a:lstStyle/>
                    <a:p>
                      <a:pPr algn="ctr"/>
                      <a:r>
                        <a:rPr sz="900" b="0">
                          <a:solidFill>
                            <a:srgbClr val="1E293B"/>
                          </a:solidFill>
                          <a:latin typeface="Aktiv Grotesk"/>
                        </a:rPr>
                        <a:t>+0.015</a:t>
                      </a:r>
                    </a:p>
                  </a:txBody>
                  <a:tcPr marL="45720" marR="36576" marT="0" marB="0" anchor="ctr">
                    <a:solidFill>
                      <a:srgbClr val="F6F8FA"/>
                    </a:solidFill>
                  </a:tcPr>
                </a:tc>
                <a:tc>
                  <a:txBody>
                    <a:bodyPr/>
                    <a:lstStyle/>
                    <a:p>
                      <a:pPr algn="ctr"/>
                      <a:r>
                        <a:rPr sz="900" b="0">
                          <a:solidFill>
                            <a:srgbClr val="1E293B"/>
                          </a:solidFill>
                          <a:latin typeface="Aktiv Grotesk"/>
                        </a:rPr>
                        <a:t>+0.036</a:t>
                      </a:r>
                    </a:p>
                  </a:txBody>
                  <a:tcPr marL="45720" marR="36576" marT="0" marB="0" anchor="ctr">
                    <a:solidFill>
                      <a:srgbClr val="F6F8FA"/>
                    </a:solidFill>
                  </a:tcPr>
                </a:tc>
                <a:tc>
                  <a:txBody>
                    <a:bodyPr/>
                    <a:lstStyle/>
                    <a:p>
                      <a:pPr algn="ctr"/>
                      <a:r>
                        <a:rPr sz="900" b="0">
                          <a:solidFill>
                            <a:srgbClr val="1E293B"/>
                          </a:solidFill>
                          <a:latin typeface="Aktiv Grotesk"/>
                        </a:rPr>
                        <a:t>+0.020</a:t>
                      </a:r>
                    </a:p>
                  </a:txBody>
                  <a:tcPr marL="45720" marR="36576" marT="0" marB="0" anchor="ctr">
                    <a:solidFill>
                      <a:srgbClr val="F6F8FA"/>
                    </a:solidFill>
                  </a:tcPr>
                </a:tc>
                <a:tc>
                  <a:txBody>
                    <a:bodyPr/>
                    <a:lstStyle/>
                    <a:p>
                      <a:pPr algn="ctr"/>
                      <a:r>
                        <a:rPr sz="900" b="0">
                          <a:solidFill>
                            <a:srgbClr val="64748B"/>
                          </a:solidFill>
                          <a:latin typeface="Aktiv Grotesk"/>
                        </a:rPr>
                        <a:t>[−0.001, +0.040]</a:t>
                      </a:r>
                    </a:p>
                  </a:txBody>
                  <a:tcPr marL="45720" marR="36576" marT="0" marB="0" anchor="ctr">
                    <a:solidFill>
                      <a:srgbClr val="F6F8FA"/>
                    </a:solidFill>
                  </a:tcPr>
                </a:tc>
                <a:extLst>
                  <a:ext uri="{0D108BD9-81ED-4DB2-BD59-A6C34878D82A}">
                    <a16:rowId xmlns:a16="http://schemas.microsoft.com/office/drawing/2014/main" val="10012"/>
                  </a:ext>
                </a:extLst>
              </a:tr>
              <a:tr h="155448">
                <a:tc>
                  <a:txBody>
                    <a:bodyPr/>
                    <a:lstStyle/>
                    <a:p>
                      <a:pPr algn="l"/>
                      <a:r>
                        <a:rPr sz="900" b="0">
                          <a:solidFill>
                            <a:srgbClr val="1E293B"/>
                          </a:solidFill>
                          <a:latin typeface="Aktiv Grotesk"/>
                        </a:rPr>
                        <a:t>SelfRegulationSCP2</a:t>
                      </a:r>
                    </a:p>
                  </a:txBody>
                  <a:tcPr marL="45720" marR="36576" marT="0" marB="0" anchor="ctr">
                    <a:solidFill>
                      <a:srgbClr val="FFFFFF"/>
                    </a:solidFill>
                  </a:tcPr>
                </a:tc>
                <a:tc>
                  <a:txBody>
                    <a:bodyPr/>
                    <a:lstStyle/>
                    <a:p>
                      <a:pPr algn="l"/>
                      <a:r>
                        <a:rPr sz="900" b="0">
                          <a:solidFill>
                            <a:srgbClr val="1E293B"/>
                          </a:solidFill>
                          <a:latin typeface="Aktiv Grotesk"/>
                        </a:rPr>
                        <a:t>drift</a:t>
                      </a:r>
                    </a:p>
                  </a:txBody>
                  <a:tcPr marL="45720" marR="36576" marT="0" marB="0" anchor="ctr">
                    <a:solidFill>
                      <a:srgbClr val="FFFFFF"/>
                    </a:solidFill>
                  </a:tcPr>
                </a:tc>
                <a:tc>
                  <a:txBody>
                    <a:bodyPr/>
                    <a:lstStyle/>
                    <a:p>
                      <a:pPr algn="ctr"/>
                      <a:r>
                        <a:rPr sz="900" b="0">
                          <a:solidFill>
                            <a:srgbClr val="1E293B"/>
                          </a:solidFill>
                          <a:latin typeface="Aktiv Grotesk"/>
                        </a:rPr>
                        <a:t>−0.018</a:t>
                      </a:r>
                    </a:p>
                  </a:txBody>
                  <a:tcPr marL="45720" marR="36576" marT="0" marB="0" anchor="ctr">
                    <a:solidFill>
                      <a:srgbClr val="FFFFFF"/>
                    </a:solidFill>
                  </a:tcPr>
                </a:tc>
                <a:tc>
                  <a:txBody>
                    <a:bodyPr/>
                    <a:lstStyle/>
                    <a:p>
                      <a:pPr algn="ctr"/>
                      <a:r>
                        <a:rPr sz="900" b="0">
                          <a:solidFill>
                            <a:srgbClr val="1E293B"/>
                          </a:solidFill>
                          <a:latin typeface="Aktiv Grotesk"/>
                        </a:rPr>
                        <a:t>−0.003</a:t>
                      </a:r>
                    </a:p>
                  </a:txBody>
                  <a:tcPr marL="45720" marR="36576" marT="0" marB="0" anchor="ctr">
                    <a:solidFill>
                      <a:srgbClr val="FFFFFF"/>
                    </a:solidFill>
                  </a:tcPr>
                </a:tc>
                <a:tc>
                  <a:txBody>
                    <a:bodyPr/>
                    <a:lstStyle/>
                    <a:p>
                      <a:pPr algn="ctr"/>
                      <a:r>
                        <a:rPr sz="900" b="0">
                          <a:solidFill>
                            <a:srgbClr val="1E293B"/>
                          </a:solidFill>
                          <a:latin typeface="Aktiv Grotesk"/>
                        </a:rPr>
                        <a:t>+0.015</a:t>
                      </a:r>
                    </a:p>
                  </a:txBody>
                  <a:tcPr marL="45720" marR="36576" marT="0" marB="0" anchor="ctr">
                    <a:solidFill>
                      <a:srgbClr val="FFFFFF"/>
                    </a:solidFill>
                  </a:tcPr>
                </a:tc>
                <a:tc>
                  <a:txBody>
                    <a:bodyPr/>
                    <a:lstStyle/>
                    <a:p>
                      <a:pPr algn="ctr"/>
                      <a:r>
                        <a:rPr sz="900" b="0">
                          <a:solidFill>
                            <a:srgbClr val="64748B"/>
                          </a:solidFill>
                          <a:latin typeface="Aktiv Grotesk"/>
                        </a:rPr>
                        <a:t>[−0.023, +0.054]</a:t>
                      </a:r>
                    </a:p>
                  </a:txBody>
                  <a:tcPr marL="45720" marR="36576" marT="0" marB="0" anchor="ctr">
                    <a:solidFill>
                      <a:srgbClr val="FFFFFF"/>
                    </a:solidFill>
                  </a:tcPr>
                </a:tc>
                <a:extLst>
                  <a:ext uri="{0D108BD9-81ED-4DB2-BD59-A6C34878D82A}">
                    <a16:rowId xmlns:a16="http://schemas.microsoft.com/office/drawing/2014/main" val="10013"/>
                  </a:ext>
                </a:extLst>
              </a:tr>
              <a:tr h="155448">
                <a:tc>
                  <a:txBody>
                    <a:bodyPr/>
                    <a:lstStyle/>
                    <a:p>
                      <a:pPr algn="l"/>
                      <a:r>
                        <a:rPr sz="900" b="0">
                          <a:solidFill>
                            <a:srgbClr val="1E293B"/>
                          </a:solidFill>
                          <a:latin typeface="Aktiv Grotesk"/>
                        </a:rPr>
                        <a:t>LSST</a:t>
                      </a:r>
                    </a:p>
                  </a:txBody>
                  <a:tcPr marL="45720" marR="36576" marT="0" marB="0" anchor="ctr">
                    <a:solidFill>
                      <a:srgbClr val="F6F8FA"/>
                    </a:solidFill>
                  </a:tcPr>
                </a:tc>
                <a:tc>
                  <a:txBody>
                    <a:bodyPr/>
                    <a:lstStyle/>
                    <a:p>
                      <a:pPr algn="l"/>
                      <a:r>
                        <a:rPr sz="900" b="0">
                          <a:solidFill>
                            <a:srgbClr val="1E293B"/>
                          </a:solidFill>
                          <a:latin typeface="Aktiv Grotesk"/>
                        </a:rPr>
                        <a:t>gauss</a:t>
                      </a:r>
                    </a:p>
                  </a:txBody>
                  <a:tcPr marL="45720" marR="36576" marT="0" marB="0" anchor="ctr">
                    <a:solidFill>
                      <a:srgbClr val="F6F8FA"/>
                    </a:solidFill>
                  </a:tcPr>
                </a:tc>
                <a:tc>
                  <a:txBody>
                    <a:bodyPr/>
                    <a:lstStyle/>
                    <a:p>
                      <a:pPr algn="ctr"/>
                      <a:r>
                        <a:rPr sz="900" b="0">
                          <a:solidFill>
                            <a:srgbClr val="1E293B"/>
                          </a:solidFill>
                          <a:latin typeface="Aktiv Grotesk"/>
                        </a:rPr>
                        <a:t>+0.015</a:t>
                      </a:r>
                    </a:p>
                  </a:txBody>
                  <a:tcPr marL="45720" marR="36576" marT="0" marB="0" anchor="ctr">
                    <a:solidFill>
                      <a:srgbClr val="F6F8FA"/>
                    </a:solidFill>
                  </a:tcPr>
                </a:tc>
                <a:tc>
                  <a:txBody>
                    <a:bodyPr/>
                    <a:lstStyle/>
                    <a:p>
                      <a:pPr algn="ctr"/>
                      <a:r>
                        <a:rPr sz="900" b="0">
                          <a:solidFill>
                            <a:srgbClr val="1E293B"/>
                          </a:solidFill>
                          <a:latin typeface="Aktiv Grotesk"/>
                        </a:rPr>
                        <a:t>+0.027</a:t>
                      </a:r>
                    </a:p>
                  </a:txBody>
                  <a:tcPr marL="45720" marR="36576" marT="0" marB="0" anchor="ctr">
                    <a:solidFill>
                      <a:srgbClr val="F6F8FA"/>
                    </a:solidFill>
                  </a:tcPr>
                </a:tc>
                <a:tc>
                  <a:txBody>
                    <a:bodyPr/>
                    <a:lstStyle/>
                    <a:p>
                      <a:pPr algn="ctr"/>
                      <a:r>
                        <a:rPr sz="900" b="0">
                          <a:solidFill>
                            <a:srgbClr val="1E293B"/>
                          </a:solidFill>
                          <a:latin typeface="Aktiv Grotesk"/>
                        </a:rPr>
                        <a:t>+0.012</a:t>
                      </a:r>
                    </a:p>
                  </a:txBody>
                  <a:tcPr marL="45720" marR="36576" marT="0" marB="0" anchor="ctr">
                    <a:solidFill>
                      <a:srgbClr val="F6F8FA"/>
                    </a:solidFill>
                  </a:tcPr>
                </a:tc>
                <a:tc>
                  <a:txBody>
                    <a:bodyPr/>
                    <a:lstStyle/>
                    <a:p>
                      <a:pPr algn="ctr"/>
                      <a:r>
                        <a:rPr sz="900" b="0">
                          <a:solidFill>
                            <a:srgbClr val="64748B"/>
                          </a:solidFill>
                          <a:latin typeface="Aktiv Grotesk"/>
                        </a:rPr>
                        <a:t>[−0.006, +0.029]</a:t>
                      </a:r>
                    </a:p>
                  </a:txBody>
                  <a:tcPr marL="45720" marR="36576" marT="0" marB="0" anchor="ctr">
                    <a:solidFill>
                      <a:srgbClr val="F6F8FA"/>
                    </a:solidFill>
                  </a:tcPr>
                </a:tc>
                <a:extLst>
                  <a:ext uri="{0D108BD9-81ED-4DB2-BD59-A6C34878D82A}">
                    <a16:rowId xmlns:a16="http://schemas.microsoft.com/office/drawing/2014/main" val="10014"/>
                  </a:ext>
                </a:extLst>
              </a:tr>
              <a:tr h="155448">
                <a:tc>
                  <a:txBody>
                    <a:bodyPr/>
                    <a:lstStyle/>
                    <a:p>
                      <a:pPr algn="l"/>
                      <a:r>
                        <a:rPr sz="900" b="0">
                          <a:solidFill>
                            <a:srgbClr val="1E293B"/>
                          </a:solidFill>
                          <a:latin typeface="Aktiv Grotesk"/>
                        </a:rPr>
                        <a:t>SelfRegulationSCP2</a:t>
                      </a:r>
                    </a:p>
                  </a:txBody>
                  <a:tcPr marL="45720" marR="36576" marT="0" marB="0" anchor="ctr">
                    <a:solidFill>
                      <a:srgbClr val="FFFFFF"/>
                    </a:solidFill>
                  </a:tcPr>
                </a:tc>
                <a:tc>
                  <a:txBody>
                    <a:bodyPr/>
                    <a:lstStyle/>
                    <a:p>
                      <a:pPr algn="l"/>
                      <a:r>
                        <a:rPr sz="900" b="0">
                          <a:solidFill>
                            <a:srgbClr val="1E293B"/>
                          </a:solidFill>
                          <a:latin typeface="Aktiv Grotesk"/>
                        </a:rPr>
                        <a:t>gauss</a:t>
                      </a:r>
                    </a:p>
                  </a:txBody>
                  <a:tcPr marL="45720" marR="36576" marT="0" marB="0" anchor="ctr">
                    <a:solidFill>
                      <a:srgbClr val="FFFFFF"/>
                    </a:solidFill>
                  </a:tcPr>
                </a:tc>
                <a:tc>
                  <a:txBody>
                    <a:bodyPr/>
                    <a:lstStyle/>
                    <a:p>
                      <a:pPr algn="ctr"/>
                      <a:r>
                        <a:rPr sz="900" b="0">
                          <a:solidFill>
                            <a:srgbClr val="1E293B"/>
                          </a:solidFill>
                          <a:latin typeface="Aktiv Grotesk"/>
                        </a:rPr>
                        <a:t>−0.018</a:t>
                      </a:r>
                    </a:p>
                  </a:txBody>
                  <a:tcPr marL="45720" marR="36576" marT="0" marB="0" anchor="ctr">
                    <a:solidFill>
                      <a:srgbClr val="FFFFFF"/>
                    </a:solidFill>
                  </a:tcPr>
                </a:tc>
                <a:tc>
                  <a:txBody>
                    <a:bodyPr/>
                    <a:lstStyle/>
                    <a:p>
                      <a:pPr algn="ctr"/>
                      <a:r>
                        <a:rPr sz="900" b="0">
                          <a:solidFill>
                            <a:srgbClr val="1E293B"/>
                          </a:solidFill>
                          <a:latin typeface="Aktiv Grotesk"/>
                        </a:rPr>
                        <a:t>−0.007</a:t>
                      </a:r>
                    </a:p>
                  </a:txBody>
                  <a:tcPr marL="45720" marR="36576" marT="0" marB="0" anchor="ctr">
                    <a:solidFill>
                      <a:srgbClr val="FFFFFF"/>
                    </a:solidFill>
                  </a:tcPr>
                </a:tc>
                <a:tc>
                  <a:txBody>
                    <a:bodyPr/>
                    <a:lstStyle/>
                    <a:p>
                      <a:pPr algn="ctr"/>
                      <a:r>
                        <a:rPr sz="900" b="0">
                          <a:solidFill>
                            <a:srgbClr val="1E293B"/>
                          </a:solidFill>
                          <a:latin typeface="Aktiv Grotesk"/>
                        </a:rPr>
                        <a:t>+0.011</a:t>
                      </a:r>
                    </a:p>
                  </a:txBody>
                  <a:tcPr marL="45720" marR="36576" marT="0" marB="0" anchor="ctr">
                    <a:solidFill>
                      <a:srgbClr val="FFFFFF"/>
                    </a:solidFill>
                  </a:tcPr>
                </a:tc>
                <a:tc>
                  <a:txBody>
                    <a:bodyPr/>
                    <a:lstStyle/>
                    <a:p>
                      <a:pPr algn="ctr"/>
                      <a:r>
                        <a:rPr sz="900" b="0">
                          <a:solidFill>
                            <a:srgbClr val="64748B"/>
                          </a:solidFill>
                          <a:latin typeface="Aktiv Grotesk"/>
                        </a:rPr>
                        <a:t>[−0.083, +0.097]</a:t>
                      </a:r>
                    </a:p>
                  </a:txBody>
                  <a:tcPr marL="45720" marR="36576" marT="0" marB="0" anchor="ctr">
                    <a:solidFill>
                      <a:srgbClr val="FFFFFF"/>
                    </a:solidFill>
                  </a:tcPr>
                </a:tc>
                <a:extLst>
                  <a:ext uri="{0D108BD9-81ED-4DB2-BD59-A6C34878D82A}">
                    <a16:rowId xmlns:a16="http://schemas.microsoft.com/office/drawing/2014/main" val="10015"/>
                  </a:ext>
                </a:extLst>
              </a:tr>
              <a:tr h="155448">
                <a:tc>
                  <a:txBody>
                    <a:bodyPr/>
                    <a:lstStyle/>
                    <a:p>
                      <a:pPr algn="l"/>
                      <a:r>
                        <a:rPr sz="900" b="0">
                          <a:solidFill>
                            <a:srgbClr val="1E293B"/>
                          </a:solidFill>
                          <a:latin typeface="Aktiv Grotesk"/>
                        </a:rPr>
                        <a:t>SelfRegulationSCP1</a:t>
                      </a:r>
                    </a:p>
                  </a:txBody>
                  <a:tcPr marL="45720" marR="36576" marT="0" marB="0" anchor="ctr">
                    <a:solidFill>
                      <a:srgbClr val="F6F8FA"/>
                    </a:solidFill>
                  </a:tcPr>
                </a:tc>
                <a:tc>
                  <a:txBody>
                    <a:bodyPr/>
                    <a:lstStyle/>
                    <a:p>
                      <a:pPr algn="l"/>
                      <a:r>
                        <a:rPr sz="900" b="0">
                          <a:solidFill>
                            <a:srgbClr val="1E293B"/>
                          </a:solidFill>
                          <a:latin typeface="Aktiv Grotesk"/>
                        </a:rPr>
                        <a:t>drift</a:t>
                      </a:r>
                    </a:p>
                  </a:txBody>
                  <a:tcPr marL="45720" marR="36576" marT="0" marB="0" anchor="ctr">
                    <a:solidFill>
                      <a:srgbClr val="F6F8FA"/>
                    </a:solidFill>
                  </a:tcPr>
                </a:tc>
                <a:tc>
                  <a:txBody>
                    <a:bodyPr/>
                    <a:lstStyle/>
                    <a:p>
                      <a:pPr algn="ctr"/>
                      <a:r>
                        <a:rPr sz="900" b="0">
                          <a:solidFill>
                            <a:srgbClr val="1E293B"/>
                          </a:solidFill>
                          <a:latin typeface="Aktiv Grotesk"/>
                        </a:rPr>
                        <a:t>+0.063</a:t>
                      </a:r>
                    </a:p>
                  </a:txBody>
                  <a:tcPr marL="45720" marR="36576" marT="0" marB="0" anchor="ctr">
                    <a:solidFill>
                      <a:srgbClr val="F6F8FA"/>
                    </a:solidFill>
                  </a:tcPr>
                </a:tc>
                <a:tc>
                  <a:txBody>
                    <a:bodyPr/>
                    <a:lstStyle/>
                    <a:p>
                      <a:pPr algn="ctr"/>
                      <a:r>
                        <a:rPr sz="900" b="0">
                          <a:solidFill>
                            <a:srgbClr val="1E293B"/>
                          </a:solidFill>
                          <a:latin typeface="Aktiv Grotesk"/>
                        </a:rPr>
                        <a:t>+0.054</a:t>
                      </a:r>
                    </a:p>
                  </a:txBody>
                  <a:tcPr marL="45720" marR="36576" marT="0" marB="0" anchor="ctr">
                    <a:solidFill>
                      <a:srgbClr val="F6F8FA"/>
                    </a:solidFill>
                  </a:tcPr>
                </a:tc>
                <a:tc>
                  <a:txBody>
                    <a:bodyPr/>
                    <a:lstStyle/>
                    <a:p>
                      <a:pPr algn="ctr"/>
                      <a:r>
                        <a:rPr sz="900" b="0">
                          <a:solidFill>
                            <a:srgbClr val="1E293B"/>
                          </a:solidFill>
                          <a:latin typeface="Aktiv Grotesk"/>
                        </a:rPr>
                        <a:t>−0.010</a:t>
                      </a:r>
                    </a:p>
                  </a:txBody>
                  <a:tcPr marL="45720" marR="36576" marT="0" marB="0" anchor="ctr">
                    <a:solidFill>
                      <a:srgbClr val="F6F8FA"/>
                    </a:solidFill>
                  </a:tcPr>
                </a:tc>
                <a:tc>
                  <a:txBody>
                    <a:bodyPr/>
                    <a:lstStyle/>
                    <a:p>
                      <a:pPr algn="ctr"/>
                      <a:r>
                        <a:rPr sz="900" b="0">
                          <a:solidFill>
                            <a:srgbClr val="64748B"/>
                          </a:solidFill>
                          <a:latin typeface="Aktiv Grotesk"/>
                        </a:rPr>
                        <a:t>[−0.035, +0.017]</a:t>
                      </a:r>
                    </a:p>
                  </a:txBody>
                  <a:tcPr marL="45720" marR="36576" marT="0" marB="0" anchor="ctr">
                    <a:solidFill>
                      <a:srgbClr val="F6F8FA"/>
                    </a:solidFill>
                  </a:tcPr>
                </a:tc>
                <a:extLst>
                  <a:ext uri="{0D108BD9-81ED-4DB2-BD59-A6C34878D82A}">
                    <a16:rowId xmlns:a16="http://schemas.microsoft.com/office/drawing/2014/main" val="10016"/>
                  </a:ext>
                </a:extLst>
              </a:tr>
              <a:tr h="155448">
                <a:tc>
                  <a:txBody>
                    <a:bodyPr/>
                    <a:lstStyle/>
                    <a:p>
                      <a:pPr algn="l"/>
                      <a:r>
                        <a:rPr sz="900" b="0">
                          <a:solidFill>
                            <a:srgbClr val="1E293B"/>
                          </a:solidFill>
                          <a:latin typeface="Aktiv Grotesk"/>
                        </a:rPr>
                        <a:t>UWaveGestureLibrary</a:t>
                      </a:r>
                    </a:p>
                  </a:txBody>
                  <a:tcPr marL="45720" marR="36576" marT="0" marB="0" anchor="ctr">
                    <a:solidFill>
                      <a:srgbClr val="FFFFFF"/>
                    </a:solidFill>
                  </a:tcPr>
                </a:tc>
                <a:tc>
                  <a:txBody>
                    <a:bodyPr/>
                    <a:lstStyle/>
                    <a:p>
                      <a:pPr algn="l"/>
                      <a:r>
                        <a:rPr sz="900" b="0">
                          <a:solidFill>
                            <a:srgbClr val="1E293B"/>
                          </a:solidFill>
                          <a:latin typeface="Aktiv Grotesk"/>
                        </a:rPr>
                        <a:t>drift</a:t>
                      </a:r>
                    </a:p>
                  </a:txBody>
                  <a:tcPr marL="45720" marR="36576" marT="0" marB="0" anchor="ctr">
                    <a:solidFill>
                      <a:srgbClr val="FFFFFF"/>
                    </a:solidFill>
                  </a:tcPr>
                </a:tc>
                <a:tc>
                  <a:txBody>
                    <a:bodyPr/>
                    <a:lstStyle/>
                    <a:p>
                      <a:pPr algn="ctr"/>
                      <a:r>
                        <a:rPr sz="900" b="0">
                          <a:solidFill>
                            <a:srgbClr val="1E293B"/>
                          </a:solidFill>
                          <a:latin typeface="Aktiv Grotesk"/>
                        </a:rPr>
                        <a:t>+0.085</a:t>
                      </a:r>
                    </a:p>
                  </a:txBody>
                  <a:tcPr marL="45720" marR="36576" marT="0" marB="0" anchor="ctr">
                    <a:solidFill>
                      <a:srgbClr val="FFFFFF"/>
                    </a:solidFill>
                  </a:tcPr>
                </a:tc>
                <a:tc>
                  <a:txBody>
                    <a:bodyPr/>
                    <a:lstStyle/>
                    <a:p>
                      <a:pPr algn="ctr"/>
                      <a:r>
                        <a:rPr sz="900" b="0">
                          <a:solidFill>
                            <a:srgbClr val="1E293B"/>
                          </a:solidFill>
                          <a:latin typeface="Aktiv Grotesk"/>
                        </a:rPr>
                        <a:t>+0.087</a:t>
                      </a:r>
                    </a:p>
                  </a:txBody>
                  <a:tcPr marL="45720" marR="36576" marT="0" marB="0" anchor="ctr">
                    <a:solidFill>
                      <a:srgbClr val="FFFFFF"/>
                    </a:solidFill>
                  </a:tcPr>
                </a:tc>
                <a:tc>
                  <a:txBody>
                    <a:bodyPr/>
                    <a:lstStyle/>
                    <a:p>
                      <a:pPr algn="ctr"/>
                      <a:r>
                        <a:rPr sz="900" b="0">
                          <a:solidFill>
                            <a:srgbClr val="1E293B"/>
                          </a:solidFill>
                          <a:latin typeface="Aktiv Grotesk"/>
                        </a:rPr>
                        <a:t>+0.002</a:t>
                      </a:r>
                    </a:p>
                  </a:txBody>
                  <a:tcPr marL="45720" marR="36576" marT="0" marB="0" anchor="ctr">
                    <a:solidFill>
                      <a:srgbClr val="FFFFFF"/>
                    </a:solidFill>
                  </a:tcPr>
                </a:tc>
                <a:tc>
                  <a:txBody>
                    <a:bodyPr/>
                    <a:lstStyle/>
                    <a:p>
                      <a:pPr algn="ctr"/>
                      <a:r>
                        <a:rPr sz="900" b="0">
                          <a:solidFill>
                            <a:srgbClr val="64748B"/>
                          </a:solidFill>
                          <a:latin typeface="Aktiv Grotesk"/>
                        </a:rPr>
                        <a:t>[−0.023, +0.028]</a:t>
                      </a:r>
                    </a:p>
                  </a:txBody>
                  <a:tcPr marL="45720" marR="36576" marT="0" marB="0" anchor="ctr">
                    <a:solidFill>
                      <a:srgbClr val="FFFFFF"/>
                    </a:solidFill>
                  </a:tcPr>
                </a:tc>
                <a:extLst>
                  <a:ext uri="{0D108BD9-81ED-4DB2-BD59-A6C34878D82A}">
                    <a16:rowId xmlns:a16="http://schemas.microsoft.com/office/drawing/2014/main" val="10017"/>
                  </a:ext>
                </a:extLst>
              </a:tr>
              <a:tr h="155448">
                <a:tc>
                  <a:txBody>
                    <a:bodyPr/>
                    <a:lstStyle/>
                    <a:p>
                      <a:pPr algn="l"/>
                      <a:r>
                        <a:rPr sz="900" b="0">
                          <a:solidFill>
                            <a:srgbClr val="1E293B"/>
                          </a:solidFill>
                          <a:latin typeface="Aktiv Grotesk"/>
                        </a:rPr>
                        <a:t>LSST</a:t>
                      </a:r>
                    </a:p>
                  </a:txBody>
                  <a:tcPr marL="45720" marR="36576" marT="0" marB="0" anchor="ctr">
                    <a:solidFill>
                      <a:srgbClr val="F6F8FA"/>
                    </a:solidFill>
                  </a:tcPr>
                </a:tc>
                <a:tc>
                  <a:txBody>
                    <a:bodyPr/>
                    <a:lstStyle/>
                    <a:p>
                      <a:pPr algn="l"/>
                      <a:r>
                        <a:rPr sz="900" b="0">
                          <a:solidFill>
                            <a:srgbClr val="1E293B"/>
                          </a:solidFill>
                          <a:latin typeface="Aktiv Grotesk"/>
                        </a:rPr>
                        <a:t>drift</a:t>
                      </a:r>
                    </a:p>
                  </a:txBody>
                  <a:tcPr marL="45720" marR="36576" marT="0" marB="0" anchor="ctr">
                    <a:solidFill>
                      <a:srgbClr val="F6F8FA"/>
                    </a:solidFill>
                  </a:tcPr>
                </a:tc>
                <a:tc>
                  <a:txBody>
                    <a:bodyPr/>
                    <a:lstStyle/>
                    <a:p>
                      <a:pPr algn="ctr"/>
                      <a:r>
                        <a:rPr sz="900" b="0">
                          <a:solidFill>
                            <a:srgbClr val="1E293B"/>
                          </a:solidFill>
                          <a:latin typeface="Aktiv Grotesk"/>
                        </a:rPr>
                        <a:t>+0.015</a:t>
                      </a:r>
                    </a:p>
                  </a:txBody>
                  <a:tcPr marL="45720" marR="36576" marT="0" marB="0" anchor="ctr">
                    <a:solidFill>
                      <a:srgbClr val="F6F8FA"/>
                    </a:solidFill>
                  </a:tcPr>
                </a:tc>
                <a:tc>
                  <a:txBody>
                    <a:bodyPr/>
                    <a:lstStyle/>
                    <a:p>
                      <a:pPr algn="ctr"/>
                      <a:r>
                        <a:rPr sz="900" b="0">
                          <a:solidFill>
                            <a:srgbClr val="1E293B"/>
                          </a:solidFill>
                          <a:latin typeface="Aktiv Grotesk"/>
                        </a:rPr>
                        <a:t>+0.015</a:t>
                      </a:r>
                    </a:p>
                  </a:txBody>
                  <a:tcPr marL="45720" marR="36576" marT="0" marB="0" anchor="ctr">
                    <a:solidFill>
                      <a:srgbClr val="F6F8FA"/>
                    </a:solidFill>
                  </a:tcPr>
                </a:tc>
                <a:tc>
                  <a:txBody>
                    <a:bodyPr/>
                    <a:lstStyle/>
                    <a:p>
                      <a:pPr algn="ctr"/>
                      <a:r>
                        <a:rPr sz="900" b="0">
                          <a:solidFill>
                            <a:srgbClr val="1E293B"/>
                          </a:solidFill>
                          <a:latin typeface="Aktiv Grotesk"/>
                        </a:rPr>
                        <a:t>+0.000</a:t>
                      </a:r>
                    </a:p>
                  </a:txBody>
                  <a:tcPr marL="45720" marR="36576" marT="0" marB="0" anchor="ctr">
                    <a:solidFill>
                      <a:srgbClr val="F6F8FA"/>
                    </a:solidFill>
                  </a:tcPr>
                </a:tc>
                <a:tc>
                  <a:txBody>
                    <a:bodyPr/>
                    <a:lstStyle/>
                    <a:p>
                      <a:pPr algn="ctr"/>
                      <a:r>
                        <a:rPr sz="900" b="0">
                          <a:solidFill>
                            <a:srgbClr val="64748B"/>
                          </a:solidFill>
                          <a:latin typeface="Aktiv Grotesk"/>
                        </a:rPr>
                        <a:t>[−0.014, +0.014]</a:t>
                      </a:r>
                    </a:p>
                  </a:txBody>
                  <a:tcPr marL="45720" marR="36576" marT="0" marB="0" anchor="ctr">
                    <a:solidFill>
                      <a:srgbClr val="F6F8FA"/>
                    </a:solidFill>
                  </a:tcPr>
                </a:tc>
                <a:extLst>
                  <a:ext uri="{0D108BD9-81ED-4DB2-BD59-A6C34878D82A}">
                    <a16:rowId xmlns:a16="http://schemas.microsoft.com/office/drawing/2014/main" val="10018"/>
                  </a:ext>
                </a:extLst>
              </a:tr>
            </a:tbl>
          </a:graphicData>
        </a:graphic>
      </p:graphicFrame>
      <p:sp>
        <p:nvSpPr>
          <p:cNvPr id="6" name="TextBox 5"/>
          <p:cNvSpPr txBox="1"/>
          <p:nvPr/>
        </p:nvSpPr>
        <p:spPr>
          <a:xfrm>
            <a:off x="457200" y="4553712"/>
            <a:ext cx="8229600" cy="219456"/>
          </a:xfrm>
          <a:prstGeom prst="rect">
            <a:avLst/>
          </a:prstGeom>
          <a:noFill/>
        </p:spPr>
        <p:txBody>
          <a:bodyPr wrap="square" lIns="0" tIns="0" rIns="0" bIns="0">
            <a:spAutoFit/>
          </a:bodyPr>
          <a:lstStyle/>
          <a:p>
            <a:pPr algn="l"/>
            <a:r>
              <a:rPr sz="950" b="0" i="1">
                <a:solidFill>
                  <a:srgbClr val="64748B"/>
                </a:solidFill>
                <a:latin typeface="Aktiv Grotesk"/>
              </a:rPr>
              <a:t>blue = amplifies (CI &gt; 0)   ·   red = reverses (CI &lt; 0)   ·   plain = includes 0</a:t>
            </a:r>
          </a:p>
        </p:txBody>
      </p:sp>
      <p:sp>
        <p:nvSpPr>
          <p:cNvPr id="7" name="TextBox 6"/>
          <p:cNvSpPr txBox="1"/>
          <p:nvPr/>
        </p:nvSpPr>
        <p:spPr>
          <a:xfrm>
            <a:off x="457200" y="4809744"/>
            <a:ext cx="8229600" cy="274320"/>
          </a:xfrm>
          <a:prstGeom prst="rect">
            <a:avLst/>
          </a:prstGeom>
          <a:noFill/>
        </p:spPr>
        <p:txBody>
          <a:bodyPr wrap="square" lIns="0" tIns="0" rIns="0" bIns="0">
            <a:spAutoFit/>
          </a:bodyPr>
          <a:lstStyle/>
          <a:p>
            <a:pPr algn="l"/>
            <a:r>
              <a:rPr sz="1050" b="1" i="0">
                <a:solidFill>
                  <a:srgbClr val="1E293B"/>
                </a:solidFill>
                <a:latin typeface="Aktiv Grotesk"/>
              </a:rPr>
              <a:t>3 positive  ·  2 negative  ·  13 include zero  →  scattered both directions = null (≈0.9 false positives expected by chance, α = 0.05).</a:t>
            </a:r>
          </a:p>
        </p:txBody>
      </p:sp>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D684B2BA-1893-4FF3-978A-7C351A0FB0D8}"/>
                  </a:ext>
                </a:extLst>
              </p14:cNvPr>
              <p14:cNvContentPartPr/>
              <p14:nvPr/>
            </p14:nvContentPartPr>
            <p14:xfrm>
              <a:off x="2564698" y="824052"/>
              <a:ext cx="360" cy="360"/>
            </p14:xfrm>
          </p:contentPart>
        </mc:Choice>
        <mc:Fallback>
          <p:pic>
            <p:nvPicPr>
              <p:cNvPr id="8" name="Ink 7">
                <a:extLst>
                  <a:ext uri="{FF2B5EF4-FFF2-40B4-BE49-F238E27FC236}">
                    <a16:creationId xmlns:a16="http://schemas.microsoft.com/office/drawing/2014/main" id="{D684B2BA-1893-4FF3-978A-7C351A0FB0D8}"/>
                  </a:ext>
                </a:extLst>
              </p:cNvPr>
              <p:cNvPicPr/>
              <p:nvPr/>
            </p:nvPicPr>
            <p:blipFill>
              <a:blip r:embed="rId4"/>
              <a:stretch>
                <a:fillRect/>
              </a:stretch>
            </p:blipFill>
            <p:spPr>
              <a:xfrm>
                <a:off x="2558578" y="817932"/>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58D7FDCD-7F94-1784-826A-8AF9AAB3276D}"/>
                  </a:ext>
                </a:extLst>
              </p14:cNvPr>
              <p14:cNvContentPartPr/>
              <p14:nvPr/>
            </p14:nvContentPartPr>
            <p14:xfrm>
              <a:off x="3079138" y="768252"/>
              <a:ext cx="360" cy="360"/>
            </p14:xfrm>
          </p:contentPart>
        </mc:Choice>
        <mc:Fallback>
          <p:pic>
            <p:nvPicPr>
              <p:cNvPr id="9" name="Ink 8">
                <a:extLst>
                  <a:ext uri="{FF2B5EF4-FFF2-40B4-BE49-F238E27FC236}">
                    <a16:creationId xmlns:a16="http://schemas.microsoft.com/office/drawing/2014/main" id="{58D7FDCD-7F94-1784-826A-8AF9AAB3276D}"/>
                  </a:ext>
                </a:extLst>
              </p:cNvPr>
              <p:cNvPicPr/>
              <p:nvPr/>
            </p:nvPicPr>
            <p:blipFill>
              <a:blip r:embed="rId4"/>
              <a:stretch>
                <a:fillRect/>
              </a:stretch>
            </p:blipFill>
            <p:spPr>
              <a:xfrm>
                <a:off x="3073018" y="762132"/>
                <a:ext cx="12600" cy="1260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Conclusions</a:t>
            </a:r>
            <a:endParaRPr lang="en-US" sz="2800" dirty="0"/>
          </a:p>
        </p:txBody>
      </p:sp>
      <p:sp>
        <p:nvSpPr>
          <p:cNvPr id="3" name="Text 1"/>
          <p:cNvSpPr/>
          <p:nvPr/>
        </p:nvSpPr>
        <p:spPr>
          <a:xfrm>
            <a:off x="502920" y="1600200"/>
            <a:ext cx="548640" cy="548640"/>
          </a:xfrm>
          <a:prstGeom prst="rect">
            <a:avLst/>
          </a:prstGeom>
          <a:noFill/>
          <a:ln/>
        </p:spPr>
        <p:txBody>
          <a:bodyPr wrap="square" lIns="0" tIns="0" rIns="0" bIns="0" rtlCol="0" anchor="t"/>
          <a:lstStyle/>
          <a:p>
            <a:pPr marL="0" indent="0" algn="l">
              <a:buNone/>
            </a:pPr>
            <a:r>
              <a:rPr lang="en-US" sz="3000" b="1" dirty="0">
                <a:solidFill>
                  <a:srgbClr val="1E32FA"/>
                </a:solidFill>
                <a:latin typeface="Aktiv Grotesk" pitchFamily="34" charset="0"/>
                <a:ea typeface="Aktiv Grotesk" pitchFamily="34" charset="-122"/>
                <a:cs typeface="Aktiv Grotesk" pitchFamily="34" charset="-120"/>
              </a:rPr>
              <a:t>✓</a:t>
            </a:r>
            <a:endParaRPr lang="en-US" sz="3000" dirty="0"/>
          </a:p>
        </p:txBody>
      </p:sp>
      <p:sp>
        <p:nvSpPr>
          <p:cNvPr id="4" name="Text 2"/>
          <p:cNvSpPr/>
          <p:nvPr/>
        </p:nvSpPr>
        <p:spPr>
          <a:xfrm>
            <a:off x="1143000" y="1581912"/>
            <a:ext cx="7498080" cy="411480"/>
          </a:xfrm>
          <a:prstGeom prst="rect">
            <a:avLst/>
          </a:prstGeom>
          <a:noFill/>
          <a:ln/>
        </p:spPr>
        <p:txBody>
          <a:bodyPr wrap="square" lIns="0" tIns="0" rIns="0" bIns="0" rtlCol="0" anchor="ctr"/>
          <a:lstStyle/>
          <a:p>
            <a:pPr marL="0" indent="0">
              <a:buNone/>
            </a:pPr>
            <a:r>
              <a:rPr lang="en-US" sz="2000" b="1" dirty="0">
                <a:solidFill>
                  <a:srgbClr val="1E293B"/>
                </a:solidFill>
                <a:latin typeface="Aktiv Grotesk" pitchFamily="34" charset="0"/>
                <a:ea typeface="Aktiv Grotesk" pitchFamily="34" charset="-122"/>
                <a:cs typeface="Aktiv Grotesk" pitchFamily="34" charset="-120"/>
              </a:rPr>
              <a:t>Part 1 — supported &amp; robust</a:t>
            </a:r>
            <a:endParaRPr lang="en-US" sz="2000" dirty="0"/>
          </a:p>
        </p:txBody>
      </p:sp>
      <p:sp>
        <p:nvSpPr>
          <p:cNvPr id="5" name="Text 3"/>
          <p:cNvSpPr/>
          <p:nvPr/>
        </p:nvSpPr>
        <p:spPr>
          <a:xfrm>
            <a:off x="1143000" y="1984248"/>
            <a:ext cx="7498080" cy="640080"/>
          </a:xfrm>
          <a:prstGeom prst="rect">
            <a:avLst/>
          </a:prstGeom>
          <a:noFill/>
          <a:ln/>
        </p:spPr>
        <p:txBody>
          <a:bodyPr wrap="square" lIns="0" tIns="0" rIns="0" bIns="0" rtlCol="0" anchor="ctr"/>
          <a:lstStyle/>
          <a:p>
            <a:pPr marL="0" indent="0">
              <a:buNone/>
            </a:pPr>
            <a:r>
              <a:rPr lang="en-US" sz="1450" dirty="0">
                <a:solidFill>
                  <a:srgbClr val="64748B"/>
                </a:solidFill>
                <a:latin typeface="Aktiv Grotesk" pitchFamily="34" charset="0"/>
                <a:ea typeface="Aktiv Grotesk" pitchFamily="34" charset="-122"/>
                <a:cs typeface="Aktiv Grotesk" pitchFamily="34" charset="-120"/>
              </a:rPr>
              <a:t>Middle layers carry more task information than the final layer — significant across diverse domains, and it survives every robustness check.</a:t>
            </a:r>
            <a:endParaRPr lang="en-US" sz="1450" dirty="0"/>
          </a:p>
        </p:txBody>
      </p:sp>
      <p:sp>
        <p:nvSpPr>
          <p:cNvPr id="6" name="Text 4"/>
          <p:cNvSpPr/>
          <p:nvPr/>
        </p:nvSpPr>
        <p:spPr>
          <a:xfrm>
            <a:off x="502920" y="3063240"/>
            <a:ext cx="548640" cy="548640"/>
          </a:xfrm>
          <a:prstGeom prst="rect">
            <a:avLst/>
          </a:prstGeom>
          <a:noFill/>
          <a:ln/>
        </p:spPr>
        <p:txBody>
          <a:bodyPr wrap="square" lIns="0" tIns="0" rIns="0" bIns="0" rtlCol="0" anchor="t"/>
          <a:lstStyle/>
          <a:p>
            <a:pPr marL="0" indent="0" algn="l">
              <a:buNone/>
            </a:pPr>
            <a:r>
              <a:rPr lang="en-US" sz="3000" b="1" dirty="0">
                <a:solidFill>
                  <a:srgbClr val="B23A48"/>
                </a:solidFill>
                <a:latin typeface="Aktiv Grotesk" pitchFamily="34" charset="0"/>
                <a:ea typeface="Aktiv Grotesk" pitchFamily="34" charset="-122"/>
                <a:cs typeface="Aktiv Grotesk" pitchFamily="34" charset="-120"/>
              </a:rPr>
              <a:t>✕</a:t>
            </a:r>
            <a:endParaRPr lang="en-US" sz="3000" dirty="0"/>
          </a:p>
        </p:txBody>
      </p:sp>
      <p:sp>
        <p:nvSpPr>
          <p:cNvPr id="7" name="Text 5"/>
          <p:cNvSpPr/>
          <p:nvPr/>
        </p:nvSpPr>
        <p:spPr>
          <a:xfrm>
            <a:off x="1143000" y="3044952"/>
            <a:ext cx="7498080" cy="411480"/>
          </a:xfrm>
          <a:prstGeom prst="rect">
            <a:avLst/>
          </a:prstGeom>
          <a:noFill/>
          <a:ln/>
        </p:spPr>
        <p:txBody>
          <a:bodyPr wrap="square" lIns="0" tIns="0" rIns="0" bIns="0" rtlCol="0" anchor="ctr"/>
          <a:lstStyle/>
          <a:p>
            <a:pPr marL="0" indent="0">
              <a:buNone/>
            </a:pPr>
            <a:r>
              <a:rPr lang="en-US" sz="2000" b="1" dirty="0">
                <a:solidFill>
                  <a:srgbClr val="1E293B"/>
                </a:solidFill>
                <a:latin typeface="Aktiv Grotesk" pitchFamily="34" charset="0"/>
                <a:ea typeface="Aktiv Grotesk" pitchFamily="34" charset="-122"/>
                <a:cs typeface="Aktiv Grotesk" pitchFamily="34" charset="-120"/>
              </a:rPr>
              <a:t>Part 2 — not established</a:t>
            </a:r>
            <a:endParaRPr lang="en-US" sz="2000" dirty="0"/>
          </a:p>
        </p:txBody>
      </p:sp>
      <p:sp>
        <p:nvSpPr>
          <p:cNvPr id="8" name="Text 6"/>
          <p:cNvSpPr/>
          <p:nvPr/>
        </p:nvSpPr>
        <p:spPr>
          <a:xfrm>
            <a:off x="1143000" y="3447288"/>
            <a:ext cx="7498080" cy="640080"/>
          </a:xfrm>
          <a:prstGeom prst="rect">
            <a:avLst/>
          </a:prstGeom>
          <a:noFill/>
          <a:ln/>
        </p:spPr>
        <p:txBody>
          <a:bodyPr wrap="square" lIns="0" tIns="0" rIns="0" bIns="0" rtlCol="0" anchor="ctr"/>
          <a:lstStyle/>
          <a:p>
            <a:pPr marL="0" indent="0">
              <a:buNone/>
            </a:pPr>
            <a:r>
              <a:rPr lang="en-US" sz="1450" dirty="0">
                <a:solidFill>
                  <a:srgbClr val="64748B"/>
                </a:solidFill>
                <a:latin typeface="Aktiv Grotesk" pitchFamily="34" charset="0"/>
                <a:ea typeface="Aktiv Grotesk" pitchFamily="34" charset="-122"/>
                <a:cs typeface="Aktiv Grotesk" pitchFamily="34" charset="-120"/>
              </a:rPr>
              <a:t>No general amplification under distribution shift — significant in just 3 of 18 conditions, and 2 of those reversed.</a:t>
            </a:r>
            <a:endParaRPr lang="en-US" sz="1450" dirty="0"/>
          </a:p>
        </p:txBody>
      </p:sp>
      <p:sp>
        <p:nvSpPr>
          <p:cNvPr id="9" name="Text 7"/>
          <p:cNvSpPr/>
          <p:nvPr/>
        </p:nvSpPr>
        <p:spPr>
          <a:xfrm>
            <a:off x="502920" y="4343400"/>
            <a:ext cx="8229600" cy="457200"/>
          </a:xfrm>
          <a:prstGeom prst="rect">
            <a:avLst/>
          </a:prstGeom>
          <a:noFill/>
          <a:ln/>
        </p:spPr>
        <p:txBody>
          <a:bodyPr wrap="square" lIns="0" tIns="0" rIns="0" bIns="0" rtlCol="0" anchor="ctr"/>
          <a:lstStyle/>
          <a:p>
            <a:pPr marL="0" indent="0">
              <a:buNone/>
            </a:pPr>
            <a:r>
              <a:rPr lang="en-US" sz="1600" b="1" i="1" dirty="0">
                <a:solidFill>
                  <a:srgbClr val="1E32FA"/>
                </a:solidFill>
                <a:latin typeface="Aktiv Grotesk" pitchFamily="34" charset="0"/>
                <a:ea typeface="Aktiv Grotesk" pitchFamily="34" charset="-122"/>
                <a:cs typeface="Aktiv Grotesk" pitchFamily="34" charset="-120"/>
              </a:rPr>
              <a:t>One clear positive and one honest null — both well-tested.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OPEN QUESTION &amp; NEXT STEP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Tunnel effect — or just unfamiliar data?</a:t>
            </a:r>
            <a:endParaRPr lang="en-US" sz="2800" dirty="0"/>
          </a:p>
        </p:txBody>
      </p:sp>
      <p:sp>
        <p:nvSpPr>
          <p:cNvPr id="4" name="Text 2"/>
          <p:cNvSpPr/>
          <p:nvPr/>
        </p:nvSpPr>
        <p:spPr>
          <a:xfrm>
            <a:off x="502920" y="1691640"/>
            <a:ext cx="8229600" cy="640080"/>
          </a:xfrm>
          <a:prstGeom prst="rect">
            <a:avLst/>
          </a:prstGeom>
          <a:noFill/>
          <a:ln/>
        </p:spPr>
        <p:txBody>
          <a:bodyPr wrap="square" lIns="0" tIns="0" rIns="0" bIns="0" rtlCol="0" anchor="ctr"/>
          <a:lstStyle/>
          <a:p>
            <a:pPr marL="0" indent="0">
              <a:buNone/>
            </a:pPr>
            <a:r>
              <a:rPr lang="en-US" sz="1500" b="1" dirty="0">
                <a:solidFill>
                  <a:srgbClr val="B23A48"/>
                </a:solidFill>
                <a:latin typeface="Aktiv Grotesk" pitchFamily="34" charset="0"/>
                <a:ea typeface="Aktiv Grotesk" pitchFamily="34" charset="-122"/>
                <a:cs typeface="Aktiv Grotesk" pitchFamily="34" charset="-120"/>
              </a:rPr>
              <a:t>The confound:  </a:t>
            </a:r>
            <a:r>
              <a:rPr lang="en-US" sz="1500" dirty="0">
                <a:solidFill>
                  <a:srgbClr val="1E293B"/>
                </a:solidFill>
                <a:latin typeface="Aktiv Grotesk" pitchFamily="34" charset="0"/>
                <a:ea typeface="Aktiv Grotesk" pitchFamily="34" charset="-122"/>
                <a:cs typeface="Aktiv Grotesk" pitchFamily="34" charset="-120"/>
              </a:rPr>
              <a:t>is the late-layer drop the tunnel effect, or just the model being out of its depth on unfamiliar data? My current tasks can’t yet tell these apart.</a:t>
            </a:r>
            <a:endParaRPr lang="en-US" sz="1500" dirty="0"/>
          </a:p>
        </p:txBody>
      </p:sp>
      <p:sp>
        <p:nvSpPr>
          <p:cNvPr id="5" name="Text 3"/>
          <p:cNvSpPr/>
          <p:nvPr/>
        </p:nvSpPr>
        <p:spPr>
          <a:xfrm>
            <a:off x="502920" y="251460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PROPOSED TEST</a:t>
            </a:r>
            <a:endParaRPr lang="en-US" sz="1200" dirty="0"/>
          </a:p>
        </p:txBody>
      </p:sp>
      <p:sp>
        <p:nvSpPr>
          <p:cNvPr id="6" name="Shape 4"/>
          <p:cNvSpPr/>
          <p:nvPr/>
        </p:nvSpPr>
        <p:spPr>
          <a:xfrm>
            <a:off x="502920" y="2852928"/>
            <a:ext cx="2286000" cy="731520"/>
          </a:xfrm>
          <a:prstGeom prst="rect">
            <a:avLst/>
          </a:prstGeom>
          <a:solidFill>
            <a:srgbClr val="FFFFFF"/>
          </a:solidFill>
          <a:ln w="15875">
            <a:solidFill>
              <a:srgbClr val="1E32FA"/>
            </a:solidFill>
            <a:prstDash val="solid"/>
          </a:ln>
        </p:spPr>
        <p:txBody>
          <a:bodyPr/>
          <a:lstStyle/>
          <a:p>
            <a:endParaRPr lang="en-US"/>
          </a:p>
        </p:txBody>
      </p:sp>
      <p:sp>
        <p:nvSpPr>
          <p:cNvPr id="7" name="Text 5"/>
          <p:cNvSpPr/>
          <p:nvPr/>
        </p:nvSpPr>
        <p:spPr>
          <a:xfrm>
            <a:off x="502920" y="2852928"/>
            <a:ext cx="2286000" cy="731520"/>
          </a:xfrm>
          <a:prstGeom prst="rect">
            <a:avLst/>
          </a:prstGeom>
          <a:noFill/>
          <a:ln/>
        </p:spPr>
        <p:txBody>
          <a:bodyPr wrap="square" lIns="0" tIns="0" rIns="0" bIns="0" rtlCol="0" anchor="ctr"/>
          <a:lstStyle/>
          <a:p>
            <a:pPr marL="0" indent="0" algn="ctr">
              <a:buNone/>
            </a:pPr>
            <a:r>
              <a:rPr lang="en-US" sz="1300" b="1" dirty="0">
                <a:solidFill>
                  <a:srgbClr val="1E293B"/>
                </a:solidFill>
                <a:latin typeface="Aktiv Grotesk" pitchFamily="34" charset="0"/>
                <a:ea typeface="Aktiv Grotesk" pitchFamily="34" charset="-122"/>
                <a:cs typeface="Aktiv Grotesk" pitchFamily="34" charset="-120"/>
              </a:rPr>
              <a:t>In-distribution</a:t>
            </a:r>
            <a:endParaRPr lang="en-US" sz="1300" dirty="0"/>
          </a:p>
          <a:p>
            <a:pPr marL="0" indent="0" algn="ctr">
              <a:buNone/>
            </a:pPr>
            <a:r>
              <a:rPr lang="en-US" sz="1300" b="1" dirty="0">
                <a:solidFill>
                  <a:srgbClr val="1E293B"/>
                </a:solidFill>
                <a:latin typeface="Aktiv Grotesk" pitchFamily="34" charset="0"/>
                <a:ea typeface="Aktiv Grotesk" pitchFamily="34" charset="-122"/>
                <a:cs typeface="Aktiv Grotesk" pitchFamily="34" charset="-120"/>
              </a:rPr>
              <a:t>task</a:t>
            </a:r>
            <a:endParaRPr lang="en-US" sz="1300" dirty="0"/>
          </a:p>
        </p:txBody>
      </p:sp>
      <p:sp>
        <p:nvSpPr>
          <p:cNvPr id="8" name="Shape 6"/>
          <p:cNvSpPr/>
          <p:nvPr/>
        </p:nvSpPr>
        <p:spPr>
          <a:xfrm>
            <a:off x="2880360" y="2852928"/>
            <a:ext cx="2286000" cy="731520"/>
          </a:xfrm>
          <a:prstGeom prst="rect">
            <a:avLst/>
          </a:prstGeom>
          <a:solidFill>
            <a:srgbClr val="FFFFFF"/>
          </a:solidFill>
          <a:ln w="15875">
            <a:solidFill>
              <a:srgbClr val="1E32FA"/>
            </a:solidFill>
            <a:prstDash val="solid"/>
          </a:ln>
        </p:spPr>
        <p:txBody>
          <a:bodyPr/>
          <a:lstStyle/>
          <a:p>
            <a:endParaRPr lang="en-US"/>
          </a:p>
        </p:txBody>
      </p:sp>
      <p:sp>
        <p:nvSpPr>
          <p:cNvPr id="9" name="Text 7"/>
          <p:cNvSpPr/>
          <p:nvPr/>
        </p:nvSpPr>
        <p:spPr>
          <a:xfrm>
            <a:off x="2880360" y="2852928"/>
            <a:ext cx="2286000" cy="731520"/>
          </a:xfrm>
          <a:prstGeom prst="rect">
            <a:avLst/>
          </a:prstGeom>
          <a:noFill/>
          <a:ln/>
        </p:spPr>
        <p:txBody>
          <a:bodyPr wrap="square" lIns="0" tIns="0" rIns="0" bIns="0" rtlCol="0" anchor="ctr"/>
          <a:lstStyle/>
          <a:p>
            <a:pPr marL="0" indent="0" algn="ctr">
              <a:buNone/>
            </a:pPr>
            <a:r>
              <a:rPr lang="en-US" sz="1300" b="1" dirty="0">
                <a:solidFill>
                  <a:srgbClr val="1E293B"/>
                </a:solidFill>
                <a:latin typeface="Aktiv Grotesk" pitchFamily="34" charset="0"/>
                <a:ea typeface="Aktiv Grotesk" pitchFamily="34" charset="-122"/>
                <a:cs typeface="Aktiv Grotesk" pitchFamily="34" charset="-120"/>
              </a:rPr>
              <a:t>Out-of-distribution</a:t>
            </a:r>
            <a:endParaRPr lang="en-US" sz="1300" dirty="0"/>
          </a:p>
          <a:p>
            <a:pPr marL="0" indent="0" algn="ctr">
              <a:buNone/>
            </a:pPr>
            <a:r>
              <a:rPr lang="en-US" sz="1300" b="1" dirty="0">
                <a:solidFill>
                  <a:srgbClr val="1E293B"/>
                </a:solidFill>
                <a:latin typeface="Aktiv Grotesk" pitchFamily="34" charset="0"/>
                <a:ea typeface="Aktiv Grotesk" pitchFamily="34" charset="-122"/>
                <a:cs typeface="Aktiv Grotesk" pitchFamily="34" charset="-120"/>
              </a:rPr>
              <a:t>task</a:t>
            </a:r>
            <a:endParaRPr lang="en-US" sz="1300" dirty="0"/>
          </a:p>
        </p:txBody>
      </p:sp>
      <p:sp>
        <p:nvSpPr>
          <p:cNvPr id="10" name="Shape 8"/>
          <p:cNvSpPr/>
          <p:nvPr/>
        </p:nvSpPr>
        <p:spPr>
          <a:xfrm>
            <a:off x="5257800" y="3218688"/>
            <a:ext cx="320040" cy="0"/>
          </a:xfrm>
          <a:prstGeom prst="line">
            <a:avLst/>
          </a:prstGeom>
          <a:noFill/>
          <a:ln w="22225">
            <a:solidFill>
              <a:srgbClr val="64748B"/>
            </a:solidFill>
            <a:prstDash val="solid"/>
            <a:tailEnd type="triangle"/>
          </a:ln>
        </p:spPr>
        <p:txBody>
          <a:bodyPr/>
          <a:lstStyle/>
          <a:p>
            <a:endParaRPr lang="en-US"/>
          </a:p>
        </p:txBody>
      </p:sp>
      <p:sp>
        <p:nvSpPr>
          <p:cNvPr id="11" name="Text 9"/>
          <p:cNvSpPr/>
          <p:nvPr/>
        </p:nvSpPr>
        <p:spPr>
          <a:xfrm>
            <a:off x="5669280" y="2852928"/>
            <a:ext cx="3017520" cy="731520"/>
          </a:xfrm>
          <a:prstGeom prst="rect">
            <a:avLst/>
          </a:prstGeom>
          <a:noFill/>
          <a:ln/>
        </p:spPr>
        <p:txBody>
          <a:bodyPr wrap="square" lIns="0" tIns="0" rIns="0" bIns="0" rtlCol="0" anchor="ctr"/>
          <a:lstStyle/>
          <a:p>
            <a:pPr marL="0" indent="0">
              <a:buNone/>
            </a:pPr>
            <a:r>
              <a:rPr lang="en-US" sz="1300" i="1" dirty="0">
                <a:solidFill>
                  <a:srgbClr val="64748B"/>
                </a:solidFill>
                <a:latin typeface="Aktiv Grotesk" pitchFamily="34" charset="0"/>
                <a:ea typeface="Aktiv Grotesk" pitchFamily="34" charset="-122"/>
                <a:cs typeface="Aktiv Grotesk" pitchFamily="34" charset="-120"/>
              </a:rPr>
              <a:t>same probe — compare the drop</a:t>
            </a:r>
            <a:endParaRPr lang="en-US" sz="1300" dirty="0"/>
          </a:p>
        </p:txBody>
      </p:sp>
      <p:sp>
        <p:nvSpPr>
          <p:cNvPr id="12" name="Text 10"/>
          <p:cNvSpPr/>
          <p:nvPr/>
        </p:nvSpPr>
        <p:spPr>
          <a:xfrm>
            <a:off x="502920" y="3977640"/>
            <a:ext cx="8229600" cy="384048"/>
          </a:xfrm>
          <a:prstGeom prst="rect">
            <a:avLst/>
          </a:prstGeom>
          <a:noFill/>
          <a:ln/>
        </p:spPr>
        <p:txBody>
          <a:bodyPr wrap="square" lIns="0" tIns="0" rIns="0" bIns="0" rtlCol="0" anchor="ctr"/>
          <a:lstStyle/>
          <a:p>
            <a:pPr marL="0" indent="0">
              <a:buNone/>
            </a:pPr>
            <a:r>
              <a:rPr lang="en-US" sz="1500" b="1" dirty="0">
                <a:solidFill>
                  <a:srgbClr val="1E32FA"/>
                </a:solidFill>
                <a:latin typeface="Aktiv Grotesk" pitchFamily="34" charset="0"/>
                <a:ea typeface="Aktiv Grotesk" pitchFamily="34" charset="-122"/>
                <a:cs typeface="Aktiv Grotesk" pitchFamily="34" charset="-120"/>
              </a:rPr>
              <a:t>Prediction:  </a:t>
            </a:r>
            <a:r>
              <a:rPr lang="en-US" sz="1500" dirty="0">
                <a:solidFill>
                  <a:srgbClr val="1E293B"/>
                </a:solidFill>
                <a:latin typeface="Aktiv Grotesk" pitchFamily="34" charset="0"/>
                <a:ea typeface="Aktiv Grotesk" pitchFamily="34" charset="-122"/>
                <a:cs typeface="Aktiv Grotesk" pitchFamily="34" charset="-120"/>
              </a:rPr>
              <a:t>if it’s really the tunnel effect, the drop should grow with distance from the training distribution.</a:t>
            </a:r>
            <a:endParaRPr lang="en-US" sz="1500" dirty="0"/>
          </a:p>
        </p:txBody>
      </p:sp>
      <p:sp>
        <p:nvSpPr>
          <p:cNvPr id="13" name="TextBox 12"/>
          <p:cNvSpPr txBox="1"/>
          <p:nvPr/>
        </p:nvSpPr>
        <p:spPr>
          <a:xfrm>
            <a:off x="502920" y="4462272"/>
            <a:ext cx="8229600" cy="566928"/>
          </a:xfrm>
          <a:prstGeom prst="rect">
            <a:avLst/>
          </a:prstGeom>
          <a:noFill/>
        </p:spPr>
        <p:txBody>
          <a:bodyPr wrap="square" lIns="0" tIns="0" rIns="0" bIns="0">
            <a:spAutoFit/>
          </a:bodyPr>
          <a:lstStyle/>
          <a:p>
            <a:pPr algn="l"/>
            <a:r>
              <a:rPr sz="1500" b="1">
                <a:solidFill>
                  <a:srgbClr val="1E32FA"/>
                </a:solidFill>
                <a:latin typeface="Aktiv Grotesk"/>
              </a:rPr>
              <a:t>Also planned:  </a:t>
            </a:r>
            <a:r>
              <a:rPr sz="1500" b="0">
                <a:solidFill>
                  <a:srgbClr val="1E293B"/>
                </a:solidFill>
                <a:latin typeface="Aktiv Grotesk"/>
              </a:rPr>
              <a:t>test the same late-layer drop on the model’s native forecasting objective — not just classification probes.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BACKUP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Robustness checks</a:t>
            </a:r>
            <a:endParaRPr lang="en-US" sz="2800" dirty="0"/>
          </a:p>
        </p:txBody>
      </p:sp>
      <p:pic>
        <p:nvPicPr>
          <p:cNvPr id="4" name="Image 0" descr="/mnt/user-data/uploads/fig_pooling_ablation.png"/>
          <p:cNvPicPr>
            <a:picLocks noChangeAspect="1"/>
          </p:cNvPicPr>
          <p:nvPr/>
        </p:nvPicPr>
        <p:blipFill>
          <a:blip r:embed="rId3"/>
          <a:stretch>
            <a:fillRect/>
          </a:stretch>
        </p:blipFill>
        <p:spPr>
          <a:xfrm>
            <a:off x="457200" y="1691640"/>
            <a:ext cx="4023360" cy="2414016"/>
          </a:xfrm>
          <a:prstGeom prst="rect">
            <a:avLst/>
          </a:prstGeom>
        </p:spPr>
      </p:pic>
      <p:pic>
        <p:nvPicPr>
          <p:cNvPr id="5" name="Image 1" descr="/mnt/user-data/uploads/fig_multisplit_stability.png"/>
          <p:cNvPicPr>
            <a:picLocks noChangeAspect="1"/>
          </p:cNvPicPr>
          <p:nvPr/>
        </p:nvPicPr>
        <p:blipFill>
          <a:blip r:embed="rId4"/>
          <a:stretch>
            <a:fillRect/>
          </a:stretch>
        </p:blipFill>
        <p:spPr>
          <a:xfrm>
            <a:off x="4709160" y="1691640"/>
            <a:ext cx="4023360" cy="2414016"/>
          </a:xfrm>
          <a:prstGeom prst="rect">
            <a:avLst/>
          </a:prstGeom>
        </p:spPr>
      </p:pic>
      <p:sp>
        <p:nvSpPr>
          <p:cNvPr id="6" name="Text 2"/>
          <p:cNvSpPr/>
          <p:nvPr/>
        </p:nvSpPr>
        <p:spPr>
          <a:xfrm>
            <a:off x="457200" y="4197096"/>
            <a:ext cx="4023360" cy="548640"/>
          </a:xfrm>
          <a:prstGeom prst="rect">
            <a:avLst/>
          </a:prstGeom>
          <a:noFill/>
          <a:ln/>
        </p:spPr>
        <p:txBody>
          <a:bodyPr wrap="square" lIns="0" tIns="0" rIns="0" bIns="0" rtlCol="0" anchor="ctr"/>
          <a:lstStyle/>
          <a:p>
            <a:pPr marL="0" indent="0">
              <a:buNone/>
            </a:pPr>
            <a:r>
              <a:rPr lang="en-US" sz="1150" dirty="0">
                <a:solidFill>
                  <a:srgbClr val="64748B"/>
                </a:solidFill>
                <a:latin typeface="Aktiv Grotesk" pitchFamily="34" charset="0"/>
                <a:ea typeface="Aktiv Grotesk" pitchFamily="34" charset="-122"/>
                <a:cs typeface="Aktiv Grotesk" pitchFamily="34" charset="-120"/>
              </a:rPr>
              <a:t>Holds across feature choices (one variant on one dataset flips — a nuance, not a reversal).</a:t>
            </a:r>
            <a:endParaRPr lang="en-US" sz="1150" dirty="0"/>
          </a:p>
        </p:txBody>
      </p:sp>
      <p:sp>
        <p:nvSpPr>
          <p:cNvPr id="7" name="Text 3"/>
          <p:cNvSpPr/>
          <p:nvPr/>
        </p:nvSpPr>
        <p:spPr>
          <a:xfrm>
            <a:off x="4709160" y="4197096"/>
            <a:ext cx="4023360" cy="548640"/>
          </a:xfrm>
          <a:prstGeom prst="rect">
            <a:avLst/>
          </a:prstGeom>
          <a:noFill/>
          <a:ln/>
        </p:spPr>
        <p:txBody>
          <a:bodyPr wrap="square" lIns="0" tIns="0" rIns="0" bIns="0" rtlCol="0" anchor="ctr"/>
          <a:lstStyle/>
          <a:p>
            <a:pPr marL="0" indent="0">
              <a:buNone/>
            </a:pPr>
            <a:r>
              <a:rPr lang="en-US" sz="1150" dirty="0">
                <a:solidFill>
                  <a:srgbClr val="64748B"/>
                </a:solidFill>
                <a:latin typeface="Aktiv Grotesk" pitchFamily="34" charset="0"/>
                <a:ea typeface="Aktiv Grotesk" pitchFamily="34" charset="-122"/>
                <a:cs typeface="Aktiv Grotesk" pitchFamily="34" charset="-120"/>
              </a:rPr>
              <a:t>Holds across 20 re-shuffles of the data split — not an artifact of one split.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E32FA"/>
                </a:solidFill>
                <a:latin typeface="Aktiv Grotesk" pitchFamily="34" charset="0"/>
                <a:ea typeface="Aktiv Grotesk" pitchFamily="34" charset="-122"/>
                <a:cs typeface="Aktiv Grotesk" pitchFamily="34" charset="-120"/>
              </a:rPr>
              <a:t>BACKUP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Aktiv Grotesk" pitchFamily="34" charset="0"/>
                <a:ea typeface="Aktiv Grotesk" pitchFamily="34" charset="-122"/>
                <a:cs typeface="Aktiv Grotesk" pitchFamily="34" charset="-120"/>
              </a:rPr>
              <a:t>Why one shift type showed no amplification</a:t>
            </a:r>
            <a:endParaRPr lang="en-US" sz="2800" dirty="0"/>
          </a:p>
        </p:txBody>
      </p:sp>
      <p:pic>
        <p:nvPicPr>
          <p:cNvPr id="4" name="Image 0" descr="/mnt/user-data/uploads/fig_scp1_timewarp_idood.png"/>
          <p:cNvPicPr>
            <a:picLocks noChangeAspect="1"/>
          </p:cNvPicPr>
          <p:nvPr/>
        </p:nvPicPr>
        <p:blipFill>
          <a:blip r:embed="rId3"/>
          <a:stretch>
            <a:fillRect/>
          </a:stretch>
        </p:blipFill>
        <p:spPr>
          <a:xfrm>
            <a:off x="457200" y="1783080"/>
            <a:ext cx="4846320" cy="2907792"/>
          </a:xfrm>
          <a:prstGeom prst="rect">
            <a:avLst/>
          </a:prstGeom>
        </p:spPr>
      </p:pic>
      <p:sp>
        <p:nvSpPr>
          <p:cNvPr id="5" name="Text 2"/>
          <p:cNvSpPr/>
          <p:nvPr/>
        </p:nvSpPr>
        <p:spPr>
          <a:xfrm>
            <a:off x="5715000" y="2011680"/>
            <a:ext cx="2971800" cy="2194560"/>
          </a:xfrm>
          <a:prstGeom prst="rect">
            <a:avLst/>
          </a:prstGeom>
          <a:noFill/>
          <a:ln/>
        </p:spPr>
        <p:txBody>
          <a:bodyPr wrap="square" lIns="0" tIns="0" rIns="0" bIns="0" rtlCol="0" anchor="t"/>
          <a:lstStyle/>
          <a:p>
            <a:pPr marL="0" indent="0">
              <a:buNone/>
            </a:pPr>
            <a:r>
              <a:rPr lang="en-US" sz="1400" dirty="0">
                <a:solidFill>
                  <a:srgbClr val="1E293B"/>
                </a:solidFill>
                <a:latin typeface="Aktiv Grotesk" pitchFamily="34" charset="0"/>
                <a:ea typeface="Aktiv Grotesk" pitchFamily="34" charset="-122"/>
                <a:cs typeface="Aktiv Grotesk" pitchFamily="34" charset="-120"/>
              </a:rPr>
              <a:t>The two curves stay roughly parallel: this shift hurts every layer about equally, so there’s no extra penalty concentrated at the last layer — hence no amplification.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Medium"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489</TotalTime>
  <Words>5717</Words>
  <Application>Microsoft Macintosh PowerPoint</Application>
  <PresentationFormat>On-screen Show (16:9)</PresentationFormat>
  <Paragraphs>382</Paragraphs>
  <Slides>15</Slides>
  <Notes>13</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Aktiv Grotesk</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Chronos-2 Have a Tunnel Effect?</dc:title>
  <dc:subject>PptxGenJS Presentation</dc:subject>
  <dc:creator>Zibo</dc:creator>
  <cp:lastModifiedBy>Zibo Shang</cp:lastModifiedBy>
  <cp:revision>8</cp:revision>
  <dcterms:created xsi:type="dcterms:W3CDTF">2026-06-02T17:15:27Z</dcterms:created>
  <dcterms:modified xsi:type="dcterms:W3CDTF">2026-06-24T19:58:29Z</dcterms:modified>
</cp:coreProperties>
</file>